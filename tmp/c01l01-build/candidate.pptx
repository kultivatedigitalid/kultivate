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3cf0d419344262" /><Relationship Type="http://schemas.openxmlformats.org/officeDocument/2006/relationships/extended-properties" Target="/docProps/app.xml" Id="R5ffe837a83d34cdb" /><Relationship Type="http://schemas.openxmlformats.org/officeDocument/2006/relationships/officeDocument" Target="/ppt/presentation.xml" Id="Rf714f3e587bc4d5d" /></Relationships>
</file>

<file path=ppt/presentation.xml><?xml version="1.0" encoding="utf-8"?>
<p:presentation xmlns:p="http://schemas.openxmlformats.org/presentationml/2006/main">
  <p:sldMasterIdLst>
    <p:sldMasterId xmlns:r="http://schemas.openxmlformats.org/officeDocument/2006/relationships" id="2147483648" r:id="Rbb387ddc7fa84120"/>
  </p:sldMasterIdLst>
  <p:notesMasterIdLst>
    <p:notesMasterId xmlns:r="http://schemas.openxmlformats.org/officeDocument/2006/relationships" r:id="Ra0d15b5136414be9"/>
  </p:notesMasterIdLst>
  <p:sldIdLst>
    <p:sldId xmlns:r="http://schemas.openxmlformats.org/officeDocument/2006/relationships" id="256" r:id="Red67f654bbd34253"/>
    <p:sldId xmlns:r="http://schemas.openxmlformats.org/officeDocument/2006/relationships" id="257" r:id="R0668156667004737"/>
    <p:sldId xmlns:r="http://schemas.openxmlformats.org/officeDocument/2006/relationships" id="258" r:id="Rfd5a688e234e4bcf"/>
    <p:sldId xmlns:r="http://schemas.openxmlformats.org/officeDocument/2006/relationships" id="259" r:id="Re48ff2ccf18c4436"/>
    <p:sldId xmlns:r="http://schemas.openxmlformats.org/officeDocument/2006/relationships" id="260" r:id="R83acdd0006c645de"/>
    <p:sldId xmlns:r="http://schemas.openxmlformats.org/officeDocument/2006/relationships" id="261" r:id="R457622a2e60d4c02"/>
    <p:sldId xmlns:r="http://schemas.openxmlformats.org/officeDocument/2006/relationships" id="262" r:id="R8a82beb23dd94507"/>
    <p:sldId xmlns:r="http://schemas.openxmlformats.org/officeDocument/2006/relationships" id="263" r:id="Rd4698561e5834ce4"/>
    <p:sldId xmlns:r="http://schemas.openxmlformats.org/officeDocument/2006/relationships" id="264" r:id="R30fd08aea46c4893"/>
    <p:sldId xmlns:r="http://schemas.openxmlformats.org/officeDocument/2006/relationships" id="265" r:id="R5686e13e7e7f4640"/>
    <p:sldId xmlns:r="http://schemas.openxmlformats.org/officeDocument/2006/relationships" id="266" r:id="Rb127fc9ef00d4c07"/>
    <p:sldId xmlns:r="http://schemas.openxmlformats.org/officeDocument/2006/relationships" id="267" r:id="Rfaf7d26267104a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b694570ffe4563" /><Relationship Type="http://schemas.openxmlformats.org/officeDocument/2006/relationships/slideMaster" Target="/ppt/slideMasters/slideMaster1.xml" Id="Rbb387ddc7fa84120" /><Relationship Type="http://schemas.openxmlformats.org/officeDocument/2006/relationships/notesMaster" Target="/ppt/notesMasters/notesMaster1.xml" Id="Ra0d15b5136414be9" /><Relationship Type="http://schemas.openxmlformats.org/officeDocument/2006/relationships/presProps" Target="/ppt/presProps.xml" Id="R2133bf3efe1042a2" /><Relationship Type="http://schemas.openxmlformats.org/officeDocument/2006/relationships/tableStyles" Target="/ppt/tableStyles.xml" Id="R77c528ed201f4137" /><Relationship Type="http://schemas.openxmlformats.org/officeDocument/2006/relationships/slide" Target="/ppt/slides/slide1.xml" Id="Red67f654bbd34253" /><Relationship Type="http://schemas.openxmlformats.org/officeDocument/2006/relationships/slide" Target="/ppt/slides/slide2.xml" Id="R0668156667004737" /><Relationship Type="http://schemas.openxmlformats.org/officeDocument/2006/relationships/slide" Target="/ppt/slides/slide3.xml" Id="Rfd5a688e234e4bcf" /><Relationship Type="http://schemas.openxmlformats.org/officeDocument/2006/relationships/slide" Target="/ppt/slides/slide4.xml" Id="Re48ff2ccf18c4436" /><Relationship Type="http://schemas.openxmlformats.org/officeDocument/2006/relationships/slide" Target="/ppt/slides/slide5.xml" Id="R83acdd0006c645de" /><Relationship Type="http://schemas.openxmlformats.org/officeDocument/2006/relationships/slide" Target="/ppt/slides/slide6.xml" Id="R457622a2e60d4c02" /><Relationship Type="http://schemas.openxmlformats.org/officeDocument/2006/relationships/slide" Target="/ppt/slides/slide7.xml" Id="R8a82beb23dd94507" /><Relationship Type="http://schemas.openxmlformats.org/officeDocument/2006/relationships/slide" Target="/ppt/slides/slide8.xml" Id="Rd4698561e5834ce4" /><Relationship Type="http://schemas.openxmlformats.org/officeDocument/2006/relationships/slide" Target="/ppt/slides/slide9.xml" Id="R30fd08aea46c4893" /><Relationship Type="http://schemas.openxmlformats.org/officeDocument/2006/relationships/slide" Target="/ppt/slides/slide10.xml" Id="R5686e13e7e7f4640" /><Relationship Type="http://schemas.openxmlformats.org/officeDocument/2006/relationships/slide" Target="/ppt/slides/slide11.xml" Id="Rb127fc9ef00d4c07" /><Relationship Type="http://schemas.openxmlformats.org/officeDocument/2006/relationships/slide" Target="/ppt/slides/slide12.xml" Id="Rfaf7d26267104a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2aa11c7f5044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bfe2cba8d048cb" /><Relationship Type="http://schemas.openxmlformats.org/officeDocument/2006/relationships/notesMaster" Target="/ppt/notesMasters/notesMaster1.xml" Id="R4a4c218ba2724f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bbb1044c104ff0" /><Relationship Type="http://schemas.openxmlformats.org/officeDocument/2006/relationships/notesMaster" Target="/ppt/notesMasters/notesMaster1.xml" Id="R9a9e96d807f645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d88127e52a4dcf" /><Relationship Type="http://schemas.openxmlformats.org/officeDocument/2006/relationships/notesMaster" Target="/ppt/notesMasters/notesMaster1.xml" Id="R28dfeccd6de744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cb54a8f96247f4" /><Relationship Type="http://schemas.openxmlformats.org/officeDocument/2006/relationships/notesMaster" Target="/ppt/notesMasters/notesMaster1.xml" Id="R5530d48cb12648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9a6e5b4788486d" /><Relationship Type="http://schemas.openxmlformats.org/officeDocument/2006/relationships/notesMaster" Target="/ppt/notesMasters/notesMaster1.xml" Id="R8803fe92892945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e966d9fe7b4108" /><Relationship Type="http://schemas.openxmlformats.org/officeDocument/2006/relationships/notesMaster" Target="/ppt/notesMasters/notesMaster1.xml" Id="R8ea50cd6aaf340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fa2800d39d4dfe" /><Relationship Type="http://schemas.openxmlformats.org/officeDocument/2006/relationships/notesMaster" Target="/ppt/notesMasters/notesMaster1.xml" Id="R8eadad07420e41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bebb60226c4f88" /><Relationship Type="http://schemas.openxmlformats.org/officeDocument/2006/relationships/notesMaster" Target="/ppt/notesMasters/notesMaster1.xml" Id="R8970cfa5fa0c49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b2520bb7264911" /><Relationship Type="http://schemas.openxmlformats.org/officeDocument/2006/relationships/notesMaster" Target="/ppt/notesMasters/notesMaster1.xml" Id="Rb464e536740c46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34927b21d04800" /><Relationship Type="http://schemas.openxmlformats.org/officeDocument/2006/relationships/notesMaster" Target="/ppt/notesMasters/notesMaster1.xml" Id="R1bb89fc10e5f43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1f210a3be14a0f" /><Relationship Type="http://schemas.openxmlformats.org/officeDocument/2006/relationships/notesMaster" Target="/ppt/notesMasters/notesMaster1.xml" Id="Rcca4461a257d4a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883eee4b1a471d" /><Relationship Type="http://schemas.openxmlformats.org/officeDocument/2006/relationships/notesMaster" Target="/ppt/notesMasters/notesMaster1.xml" Id="R345f0b13e3da46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Konteks modul: Metadata dan Posisi kita di Kultivate Learn.</a:t>
            </a:r>
          </a:p>
          <a:p xmlns:a="http://schemas.openxmlformats.org/drawingml/2006/main">
            <a:r>
              <a:t>Kurikulum internal dan brief revisi. Logo berasal dari file asli pengguna.</a:t>
            </a:r>
          </a:p>
          <a:p xmlns:a="http://schemas.openxmlformats.org/drawingml/2006/main">
            <a:r>
              <a:t/>
            </a:r>
          </a:p>
          <a:p xmlns:a="http://schemas.openxmlformats.org/drawingml/2006/main">
            <a:r>
              <a:t/>
            </a:r>
          </a:p>
          <a:p xmlns:a="http://schemas.openxmlformats.org/drawingml/2006/main">
            <a:r>
              <a:t/>
            </a:r>
          </a:p>
          <a:p xmlns:a="http://schemas.openxmlformats.org/drawingml/2006/main">
            <a:r>
              <a:t>Sumber web diperiksa 14 September 2026. Catatan berisi referensi dan pemetaan modul, tanpa presenter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Konteks modul: Bab 1.</a:t>
            </a:r>
          </a:p>
          <a:p xmlns:a="http://schemas.openxmlformats.org/drawingml/2006/main">
            <a:r>
              <a:t>Kultivate framing; kondisi ilustratif, bukan laporan bisnis.</a:t>
            </a:r>
          </a:p>
          <a:p xmlns:a="http://schemas.openxmlformats.org/drawingml/2006/main">
            <a:r>
              <a:t/>
            </a:r>
          </a:p>
          <a:p xmlns:a="http://schemas.openxmlformats.org/drawingml/2006/main">
            <a:r>
              <a:t/>
            </a:r>
          </a:p>
          <a:p xmlns:a="http://schemas.openxmlformats.org/drawingml/2006/main">
            <a:r>
              <a:t/>
            </a:r>
          </a:p>
          <a:p xmlns:a="http://schemas.openxmlformats.org/drawingml/2006/main">
            <a:r>
              <a:t>Sumber web diperiksa 14 September 2026. Catatan berisi referensi dan pemetaan modul, tanpa presenter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Konteks modul: Bab 1.</a:t>
            </a:r>
          </a:p>
          <a:p xmlns:a="http://schemas.openxmlformats.org/drawingml/2006/main">
            <a:r>
              <a:t>Definisi kerja dalam modul dan reasoning Kultivate.</a:t>
            </a:r>
          </a:p>
          <a:p xmlns:a="http://schemas.openxmlformats.org/drawingml/2006/main">
            <a:r>
              <a:t/>
            </a:r>
          </a:p>
          <a:p xmlns:a="http://schemas.openxmlformats.org/drawingml/2006/main">
            <a:r>
              <a:t/>
            </a:r>
          </a:p>
          <a:p xmlns:a="http://schemas.openxmlformats.org/drawingml/2006/main">
            <a:r>
              <a:t/>
            </a:r>
          </a:p>
          <a:p xmlns:a="http://schemas.openxmlformats.org/drawingml/2006/main">
            <a:r>
              <a:t>Sumber web diperiksa 14 September 2026. Catatan berisi referensi dan pemetaan modul, tanpa presenter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Konteks modul: Bab 2.</a:t>
            </a:r>
          </a:p>
          <a:p xmlns:a="http://schemas.openxmlformats.org/drawingml/2006/main">
            <a:r>
              <a:t>Framework kurikulum internal. Batas perjalanan nonlinier merujuk S4, bukan validasi model empat tahap.</a:t>
            </a:r>
          </a:p>
          <a:p xmlns:a="http://schemas.openxmlformats.org/drawingml/2006/main">
            <a:r>
              <a:t/>
            </a:r>
          </a:p>
          <a:p xmlns:a="http://schemas.openxmlformats.org/drawingml/2006/main">
            <a:r>
              <a:t>S4 Think with Google — Decoding Decisions Making sense of the messy middle</a:t>
            </a:r>
          </a:p>
          <a:p xmlns:a="http://schemas.openxmlformats.org/drawingml/2006/main">
            <a:r>
              <a:t>https://www.thinkwithgoogle.com/_qs/documents/11071/DecodingDecisions_NL.pdf</a:t>
            </a:r>
          </a:p>
          <a:p xmlns:a="http://schemas.openxmlformats.org/drawingml/2006/main">
            <a:r>
              <a:t>Edisi Local Results Netherlands, halaman PDF 3, 5–6. Tanggal publikasi tidak tercantum. Menjelaskan eksplorasi dan evaluasi yang berulang. Penelitian konsumen ini bukan validasi langsung atas seluruh proses pembelian B2B Indonesia. Dipakai sebagai batas model di Bab 2.</a:t>
            </a:r>
          </a:p>
          <a:p xmlns:a="http://schemas.openxmlformats.org/drawingml/2006/main">
            <a:r>
              <a:t/>
            </a:r>
          </a:p>
          <a:p xmlns:a="http://schemas.openxmlformats.org/drawingml/2006/main">
            <a:r>
              <a:t>Sumber web diperiksa 14 September 2026. Catatan berisi referensi dan pemetaan modul, tanpa presenter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Konteks modul: Bab 2.</a:t>
            </a:r>
          </a:p>
          <a:p xmlns:a="http://schemas.openxmlformats.org/drawingml/2006/main">
            <a:r>
              <a:t>Kultivate framework.</a:t>
            </a:r>
          </a:p>
          <a:p xmlns:a="http://schemas.openxmlformats.org/drawingml/2006/main">
            <a:r>
              <a:t/>
            </a:r>
          </a:p>
          <a:p xmlns:a="http://schemas.openxmlformats.org/drawingml/2006/main">
            <a:r>
              <a:t/>
            </a:r>
          </a:p>
          <a:p xmlns:a="http://schemas.openxmlformats.org/drawingml/2006/main">
            <a:r>
              <a:t/>
            </a:r>
          </a:p>
          <a:p xmlns:a="http://schemas.openxmlformats.org/drawingml/2006/main">
            <a:r>
              <a:t>Sumber web diperiksa 14 September 2026. Catatan berisi referensi dan pemetaan modul, tanpa presenter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Konteks modul: Bab 3.</a:t>
            </a:r>
          </a:p>
          <a:p xmlns:a="http://schemas.openxmlformats.org/drawingml/2006/main">
            <a:r>
              <a:t>S2 untuk impressions/clicks; kualifikasi dan urutan bukti merupakan Kultivate framework.</a:t>
            </a:r>
          </a:p>
          <a:p xmlns:a="http://schemas.openxmlformats.org/drawingml/2006/main">
            <a:r>
              <a:t/>
            </a:r>
          </a:p>
          <a:p xmlns:a="http://schemas.openxmlformats.org/drawingml/2006/main">
            <a:r>
              <a:t>S2 Google Search Console Help — What are impressions position and clicks</a:t>
            </a:r>
          </a:p>
          <a:p xmlns:a="http://schemas.openxmlformats.org/drawingml/2006/main">
            <a:r>
              <a:t>https://support.google.com/webmasters/answer/7042828?hl=en</a:t>
            </a:r>
          </a:p>
          <a:p xmlns:a="http://schemas.openxmlformats.org/drawingml/2006/main">
            <a:r>
              <a:t>Tanggal pembaruan tidak ditampilkan. Definisi impressions dan clicks bergantung pada jenis hasil. Dipakai di Bab 3.</a:t>
            </a:r>
          </a:p>
          <a:p xmlns:a="http://schemas.openxmlformats.org/drawingml/2006/main">
            <a:r>
              <a:t/>
            </a:r>
          </a:p>
          <a:p xmlns:a="http://schemas.openxmlformats.org/drawingml/2006/main">
            <a:r>
              <a:t>Sumber web diperiksa 14 September 2026. Catatan berisi referensi dan pemetaan modul, tanpa presenter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Konteks modul: Bab 3.</a:t>
            </a:r>
          </a:p>
          <a:p xmlns:a="http://schemas.openxmlformats.org/drawingml/2006/main">
            <a:r>
              <a:t>S3 untuk definisi key event. Penerapan tombol kontak merupakan ilustrasi Kultivate.</a:t>
            </a:r>
          </a:p>
          <a:p xmlns:a="http://schemas.openxmlformats.org/drawingml/2006/main">
            <a:r>
              <a:t/>
            </a:r>
          </a:p>
          <a:p xmlns:a="http://schemas.openxmlformats.org/drawingml/2006/main">
            <a:r>
              <a:t>S3 Google Analytics Help — About key events</a:t>
            </a:r>
          </a:p>
          <a:p xmlns:a="http://schemas.openxmlformats.org/drawingml/2006/main">
            <a:r>
              <a:t>https://support.google.com/analytics/answer/9267568?hl=en</a:t>
            </a:r>
          </a:p>
          <a:p xmlns:a="http://schemas.openxmlformats.org/drawingml/2006/main">
            <a:r>
              <a:t>Tanggal pembaruan tidak ditampilkan. Key event merekam tindakan yang dianggap penting bagi bisnis. Label ini tidak otomatis menilai kelayakan calon pembeli. Dipakai di Bab 3.</a:t>
            </a:r>
          </a:p>
          <a:p xmlns:a="http://schemas.openxmlformats.org/drawingml/2006/main">
            <a:r>
              <a:t/>
            </a:r>
          </a:p>
          <a:p xmlns:a="http://schemas.openxmlformats.org/drawingml/2006/main">
            <a:r>
              <a:t>Sumber web diperiksa 14 September 2026. Catatan berisi referensi dan pemetaan modul, tanpa presenter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Konteks modul: Bab 4.</a:t>
            </a:r>
          </a:p>
          <a:p xmlns:a="http://schemas.openxmlformats.org/drawingml/2006/main">
            <a:r>
              <a:t>Contoh hipotetis Kultivate. Tidak memakai data atau nama klien.</a:t>
            </a:r>
          </a:p>
          <a:p xmlns:a="http://schemas.openxmlformats.org/drawingml/2006/main">
            <a:r>
              <a:t/>
            </a:r>
          </a:p>
          <a:p xmlns:a="http://schemas.openxmlformats.org/drawingml/2006/main">
            <a:r>
              <a:t/>
            </a:r>
          </a:p>
          <a:p xmlns:a="http://schemas.openxmlformats.org/drawingml/2006/main">
            <a:r>
              <a:t/>
            </a:r>
          </a:p>
          <a:p xmlns:a="http://schemas.openxmlformats.org/drawingml/2006/main">
            <a:r>
              <a:t>Sumber web diperiksa 14 September 2026. Catatan berisi referensi dan pemetaan modul, tanpa presenter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Konteks modul: Bab 4.</a:t>
            </a:r>
          </a:p>
          <a:p xmlns:a="http://schemas.openxmlformats.org/drawingml/2006/main">
            <a:r>
              <a:t>Contoh hipotetis Kultivate.</a:t>
            </a:r>
          </a:p>
          <a:p xmlns:a="http://schemas.openxmlformats.org/drawingml/2006/main">
            <a:r>
              <a:t/>
            </a:r>
          </a:p>
          <a:p xmlns:a="http://schemas.openxmlformats.org/drawingml/2006/main">
            <a:r>
              <a:t/>
            </a:r>
          </a:p>
          <a:p xmlns:a="http://schemas.openxmlformats.org/drawingml/2006/main">
            <a:r>
              <a:t/>
            </a:r>
          </a:p>
          <a:p xmlns:a="http://schemas.openxmlformats.org/drawingml/2006/main">
            <a:r>
              <a:t>Sumber web diperiksa 14 September 2026. Catatan berisi referensi dan pemetaan modul, tanpa presenter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Konteks modul: Bab 4.</a:t>
            </a:r>
          </a:p>
          <a:p xmlns:a="http://schemas.openxmlformats.org/drawingml/2006/main">
            <a:r>
              <a:t>Penerapan hypothetical worked example Kultivate.</a:t>
            </a:r>
          </a:p>
          <a:p xmlns:a="http://schemas.openxmlformats.org/drawingml/2006/main">
            <a:r>
              <a:t/>
            </a:r>
          </a:p>
          <a:p xmlns:a="http://schemas.openxmlformats.org/drawingml/2006/main">
            <a:r>
              <a:t/>
            </a:r>
          </a:p>
          <a:p xmlns:a="http://schemas.openxmlformats.org/drawingml/2006/main">
            <a:r>
              <a:t/>
            </a:r>
          </a:p>
          <a:p xmlns:a="http://schemas.openxmlformats.org/drawingml/2006/main">
            <a:r>
              <a:t>Sumber web diperiksa 14 September 2026. Catatan berisi referensi dan pemetaan modul, tanpa presenter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Konteks modul: Bab 4 dan Worksheet.</a:t>
            </a:r>
          </a:p>
          <a:p xmlns:a="http://schemas.openxmlformats.org/drawingml/2006/main">
            <a:r>
              <a:t>Search-to-Sales Mapping Worksheet bagian C01L01; Kultivate decision framework.</a:t>
            </a:r>
          </a:p>
          <a:p xmlns:a="http://schemas.openxmlformats.org/drawingml/2006/main">
            <a:r>
              <a:t/>
            </a:r>
          </a:p>
          <a:p xmlns:a="http://schemas.openxmlformats.org/drawingml/2006/main">
            <a:r>
              <a:t/>
            </a:r>
          </a:p>
          <a:p xmlns:a="http://schemas.openxmlformats.org/drawingml/2006/main">
            <a:r>
              <a:t/>
            </a:r>
          </a:p>
          <a:p xmlns:a="http://schemas.openxmlformats.org/drawingml/2006/main">
            <a:r>
              <a:t>Sumber web diperiksa 14 September 2026. Catatan berisi referensi dan pemetaan modul, tanpa presenter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Konteks modul: Bab 4 bagian penutup.</a:t>
            </a:r>
          </a:p>
          <a:p xmlns:a="http://schemas.openxmlformats.org/drawingml/2006/main">
            <a:r>
              <a:t>Sintesis Kultivate, sesuai CTA kurikulum untuk lesson awal.</a:t>
            </a:r>
          </a:p>
          <a:p xmlns:a="http://schemas.openxmlformats.org/drawingml/2006/main">
            <a:r>
              <a:t/>
            </a:r>
          </a:p>
          <a:p xmlns:a="http://schemas.openxmlformats.org/drawingml/2006/main">
            <a:r>
              <a:t/>
            </a:r>
          </a:p>
          <a:p xmlns:a="http://schemas.openxmlformats.org/drawingml/2006/main">
            <a:r>
              <a:t/>
            </a:r>
          </a:p>
          <a:p xmlns:a="http://schemas.openxmlformats.org/drawingml/2006/main">
            <a:r>
              <a:t>Sumber web diperiksa 14 September 2026. Catatan berisi referensi dan pemetaan modul, tanpa presenter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d992baec704e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56d0a44a984a04" /><Relationship Type="http://schemas.openxmlformats.org/officeDocument/2006/relationships/slideLayout" Target="/ppt/slideLayouts/slideLayout1.xml" Id="R24914d10356a48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914d10356a48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8874735f1645a1" /><Relationship Type="http://schemas.openxmlformats.org/officeDocument/2006/relationships/image" Target="/ppt/media/image.jpeg" Id="R5478e0967b434aee" /><Relationship Type="http://schemas.openxmlformats.org/officeDocument/2006/relationships/notesSlide" Target="/ppt/notesSlides/notesSlide1.xml" Id="R1e68f2d97ebc4b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d43e9a10254180" /><Relationship Type="http://schemas.openxmlformats.org/officeDocument/2006/relationships/notesSlide" Target="/ppt/notesSlides/notesSlide2.xml" Id="Red3b832c898843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ed746b9c2e14228" /><Relationship Type="http://schemas.openxmlformats.org/officeDocument/2006/relationships/notesSlide" Target="/ppt/notesSlides/notesSlide3.xml" Id="R52a838da7a8b45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04dc2622414828" /><Relationship Type="http://schemas.openxmlformats.org/officeDocument/2006/relationships/notesSlide" Target="/ppt/notesSlides/notesSlide4.xml" Id="R8d312cd737a747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94ec8baead45df" /><Relationship Type="http://schemas.openxmlformats.org/officeDocument/2006/relationships/notesSlide" Target="/ppt/notesSlides/notesSlide5.xml" Id="R6028d35c1d574d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d8ff041dba481c" /><Relationship Type="http://schemas.openxmlformats.org/officeDocument/2006/relationships/notesSlide" Target="/ppt/notesSlides/notesSlide6.xml" Id="R494438dd83ee42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3f4dacd79714680" /><Relationship Type="http://schemas.openxmlformats.org/officeDocument/2006/relationships/notesSlide" Target="/ppt/notesSlides/notesSlide7.xml" Id="Rc6068793e41e4c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0da1df687848e4" /><Relationship Type="http://schemas.openxmlformats.org/officeDocument/2006/relationships/notesSlide" Target="/ppt/notesSlides/notesSlide8.xml" Id="Ra8f3189afa9342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348cc847df44eba" /><Relationship Type="http://schemas.openxmlformats.org/officeDocument/2006/relationships/notesSlide" Target="/ppt/notesSlides/notesSlide9.xml" Id="R0a5e0b93fde646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62378b738a842c5" /><Relationship Type="http://schemas.openxmlformats.org/officeDocument/2006/relationships/notesSlide" Target="/ppt/notesSlides/notesSlide10.xml" Id="R3ca63d5b7a7d46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2a0543d263d4b62" /><Relationship Type="http://schemas.openxmlformats.org/officeDocument/2006/relationships/notesSlide" Target="/ppt/notesSlides/notesSlide11.xml" Id="R2e34bd44777e49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24690b67d544d0a" /><Relationship Type="http://schemas.openxmlformats.org/officeDocument/2006/relationships/notesSlide" Target="/ppt/notesSlides/notesSlide12.xml" Id="Rab2f5dcfc79d4818" /></Relationships>
</file>

<file path=ppt/slides/slide1.xml><?xml version="1.0" encoding="utf-8"?>
<p:sld xmlns:p="http://schemas.openxmlformats.org/presentationml/2006/main">
  <p:cSld>
    <p:bg>
      <p:bgPr>
        <a:solidFill xmlns:a="http://schemas.openxmlformats.org/drawingml/2006/main">
          <a:srgbClr val="070B12"/>
        </a:solidFill>
      </p:bgPr>
    </p:bg>
    <p:spTree>
      <p:nvGrpSpPr>
        <p:cNvPr id="1" name=""/>
        <p:cNvGrpSpPr/>
        <p:nvPr/>
      </p:nvGrpSpPr>
      <p:grpSpPr>
        <a:xfrm xmlns:a="http://schemas.openxmlformats.org/drawingml/2006/main"/>
      </p:grpSpPr>
      <p:sp>
        <p:nvSpPr>
          <p:cNvPr id="16" name="KULTIVATE LEARN">
            <a:extLst xmlns:a="http://schemas.openxmlformats.org/drawingml/2006/main">
              <a:ext uri="{FF2B5EF4-FFF2-40B4-BE49-F238E27FC236}">
                <a16:creationId xmlns:a16="http://schemas.microsoft.com/office/drawing/2014/main" id="{A59D1F68-B908-4B9B-BAF4-EF679B91C382}"/>
              </a:ext>
            </a:extLst>
          </p:cNvPr>
          <p:cNvSpPr>
            <a:spLocks xmlns:a="http://schemas.openxmlformats.org/drawingml/2006/main" noGrp="1"/>
          </p:cNvSpPr>
          <p:nvPr/>
        </p:nvSpPr>
        <p:spPr>
          <a:xfrm xmlns:a="http://schemas.openxmlformats.org/drawingml/2006/main">
            <a:off x="609600" y="304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C9D3DF"/>
                </a:solidFill>
                <a:latin typeface="Arial"/>
                <a:ea typeface="Arial"/>
                <a:cs typeface="Arial"/>
              </a:defRPr>
            </a:pPr>
            <a:r>
              <a:rPr sz="1350" b="1">
                <a:solidFill>
                  <a:srgbClr val="C9D3DF"/>
                </a:solidFill>
                <a:latin typeface="Arial"/>
                <a:ea typeface="Arial"/>
                <a:cs typeface="Arial"/>
              </a:rPr>
              <a:t>KULTIVATE LEARN</a:t>
            </a:r>
          </a:p>
        </p:txBody>
      </p:sp>
      <p:sp>
        <p:nvSpPr>
          <p:cNvPr id="2" name="COURSE 01  /  LESSON 01">
            <a:extLst xmlns:a="http://schemas.openxmlformats.org/drawingml/2006/main">
              <a:ext uri="{FF2B5EF4-FFF2-40B4-BE49-F238E27FC236}">
                <a16:creationId xmlns:a16="http://schemas.microsoft.com/office/drawing/2014/main" id="{2A9B9D48-A5CB-49D3-9DAE-406E5CA35B5A}"/>
              </a:ext>
            </a:extLst>
          </p:cNvPr>
          <p:cNvSpPr>
            <a:spLocks xmlns:a="http://schemas.openxmlformats.org/drawingml/2006/main" noGrp="1"/>
          </p:cNvSpPr>
          <p:nvPr/>
        </p:nvSpPr>
        <p:spPr>
          <a:xfrm xmlns:a="http://schemas.openxmlformats.org/drawingml/2006/main">
            <a:off x="7620000" y="304800"/>
            <a:ext cx="3962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9D3DF"/>
                </a:solidFill>
                <a:latin typeface="Arial"/>
                <a:ea typeface="Arial"/>
                <a:cs typeface="Arial"/>
              </a:defRPr>
            </a:pPr>
            <a:r>
              <a:rPr sz="1350" b="0">
                <a:solidFill>
                  <a:srgbClr val="C9D3DF"/>
                </a:solidFill>
                <a:latin typeface="Arial"/>
                <a:ea typeface="Arial"/>
                <a:cs typeface="Arial"/>
              </a:rPr>
              <a:t>COURSE 01  /  LESSON 01</a:t>
            </a:r>
          </a:p>
        </p:txBody>
      </p:sp>
      <p:sp>
        <p:nvSpPr>
          <p:cNvPr id="3" name="separator">
            <a:extLst xmlns:a="http://schemas.openxmlformats.org/drawingml/2006/main">
              <a:ext uri="{FF2B5EF4-FFF2-40B4-BE49-F238E27FC236}">
                <a16:creationId xmlns:a16="http://schemas.microsoft.com/office/drawing/2014/main" id="{F6DEB4CD-C902-48E1-A060-88CAA92553AA}"/>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273244"/>
            </a:solidFill>
          </a:ln>
        </p:spPr>
      </p:sp>
      <p:sp>
        <p:nvSpPr>
          <p:cNvPr id="4" name="SEO for Business Growth: From Searc">
            <a:extLst xmlns:a="http://schemas.openxmlformats.org/drawingml/2006/main">
              <a:ext uri="{FF2B5EF4-FFF2-40B4-BE49-F238E27FC236}">
                <a16:creationId xmlns:a16="http://schemas.microsoft.com/office/drawing/2014/main" id="{63365DF6-9354-4F35-978C-7B72E3EEEC24}"/>
              </a:ext>
            </a:extLst>
          </p:cNvPr>
          <p:cNvSpPr>
            <a:spLocks xmlns:a="http://schemas.openxmlformats.org/drawingml/2006/main" noGrp="1"/>
          </p:cNvSpPr>
          <p:nvPr/>
        </p:nvSpPr>
        <p:spPr>
          <a:xfrm xmlns:a="http://schemas.openxmlformats.org/drawingml/2006/main">
            <a:off x="609600" y="64674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9D3DF"/>
                </a:solidFill>
                <a:latin typeface="Arial"/>
                <a:ea typeface="Arial"/>
                <a:cs typeface="Arial"/>
              </a:defRPr>
            </a:pPr>
            <a:r>
              <a:rPr sz="1200" b="0">
                <a:solidFill>
                  <a:srgbClr val="C9D3DF"/>
                </a:solidFill>
                <a:latin typeface="Arial"/>
                <a:ea typeface="Arial"/>
                <a:cs typeface="Arial"/>
              </a:rPr>
              <a:t>SEO for Business Growth: From Search to Sales</a:t>
            </a:r>
          </a:p>
        </p:txBody>
      </p:sp>
      <p:sp>
        <p:nvSpPr>
          <p:cNvPr id="5" name="01">
            <a:extLst xmlns:a="http://schemas.openxmlformats.org/drawingml/2006/main">
              <a:ext uri="{FF2B5EF4-FFF2-40B4-BE49-F238E27FC236}">
                <a16:creationId xmlns:a16="http://schemas.microsoft.com/office/drawing/2014/main" id="{334D7564-23FF-4186-9320-75166C78145F}"/>
              </a:ext>
            </a:extLst>
          </p:cNvPr>
          <p:cNvSpPr>
            <a:spLocks xmlns:a="http://schemas.openxmlformats.org/drawingml/2006/main" noGrp="1"/>
          </p:cNvSpPr>
          <p:nvPr/>
        </p:nvSpPr>
        <p:spPr>
          <a:xfrm xmlns:a="http://schemas.openxmlformats.org/drawingml/2006/main">
            <a:off x="11049000" y="64293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C9D3DF"/>
                </a:solidFill>
                <a:latin typeface="Arial"/>
                <a:ea typeface="Arial"/>
                <a:cs typeface="Arial"/>
              </a:defRPr>
            </a:pPr>
            <a:r>
              <a:rPr sz="1500" b="0">
                <a:solidFill>
                  <a:srgbClr val="C9D3DF"/>
                </a:solidFill>
                <a:latin typeface="Arial"/>
                <a:ea typeface="Arial"/>
                <a:cs typeface="Arial"/>
              </a:rPr>
              <a:t>01</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478e0967b434aee"/>
          <a:stretch xmlns:a="http://schemas.openxmlformats.org/drawingml/2006/main"/>
        </p:blipFill>
        <p:spPr>
          <a:xfrm xmlns:a="http://schemas.openxmlformats.org/drawingml/2006/main">
            <a:off x="552450" y="867728"/>
            <a:ext cx="2809875" cy="674370"/>
          </a:xfrm>
          <a:prstGeom xmlns:a="http://schemas.openxmlformats.org/drawingml/2006/main" prst="rect">
            <a:avLst/>
          </a:prstGeom>
        </p:spPr>
      </p:pic>
      <p:sp>
        <p:nvSpPr>
          <p:cNvPr id="7" name="slide-title">
            <a:extLst xmlns:a="http://schemas.openxmlformats.org/drawingml/2006/main">
              <a:ext uri="{FF2B5EF4-FFF2-40B4-BE49-F238E27FC236}">
                <a16:creationId xmlns:a16="http://schemas.microsoft.com/office/drawing/2014/main" id="{6D961AF5-44B7-4CAE-A30F-7EA0B6C36381}"/>
              </a:ext>
            </a:extLst>
          </p:cNvPr>
          <p:cNvSpPr>
            <a:spLocks xmlns:a="http://schemas.openxmlformats.org/drawingml/2006/main" noGrp="1"/>
          </p:cNvSpPr>
          <p:nvPr/>
        </p:nvSpPr>
        <p:spPr>
          <a:xfrm xmlns:a="http://schemas.openxmlformats.org/drawingml/2006/main">
            <a:off x="609600" y="2009775"/>
            <a:ext cx="1095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75" b="1">
                <a:solidFill>
                  <a:srgbClr val="F4F7FB"/>
                </a:solidFill>
                <a:latin typeface="Arial"/>
                <a:ea typeface="Arial"/>
                <a:cs typeface="Arial"/>
              </a:defRPr>
            </a:pPr>
            <a:r>
              <a:rPr sz="4575" b="1">
                <a:solidFill>
                  <a:srgbClr val="F4F7FB"/>
                </a:solidFill>
                <a:latin typeface="Arial"/>
                <a:ea typeface="Arial"/>
                <a:cs typeface="Arial"/>
              </a:rPr>
              <a:t>Menghubungkan pencarian</a:t>
            </a:r>
          </a:p>
          <a:p xmlns:a="http://schemas.openxmlformats.org/drawingml/2006/main">
            <a:pPr algn="l">
              <a:defRPr sz="4575" b="1">
                <a:solidFill>
                  <a:srgbClr val="F4F7FB"/>
                </a:solidFill>
                <a:latin typeface="Arial"/>
                <a:ea typeface="Arial"/>
                <a:cs typeface="Arial"/>
              </a:defRPr>
            </a:pPr>
            <a:r>
              <a:rPr sz="4575" b="1">
                <a:solidFill>
                  <a:srgbClr val="F4F7FB"/>
                </a:solidFill>
                <a:latin typeface="Arial"/>
                <a:ea typeface="Arial"/>
                <a:cs typeface="Arial"/>
              </a:rPr>
              <a:t>dengan peluang bisnis</a:t>
            </a:r>
          </a:p>
        </p:txBody>
      </p:sp>
      <p:sp>
        <p:nvSpPr>
          <p:cNvPr id="8" name="Satu lesson, satu keputusan atau me">
            <a:extLst xmlns:a="http://schemas.openxmlformats.org/drawingml/2006/main">
              <a:ext uri="{FF2B5EF4-FFF2-40B4-BE49-F238E27FC236}">
                <a16:creationId xmlns:a16="http://schemas.microsoft.com/office/drawing/2014/main" id="{9D74FD9C-E467-4407-B15A-F775DE1F204B}"/>
              </a:ext>
            </a:extLst>
          </p:cNvPr>
          <p:cNvSpPr>
            <a:spLocks xmlns:a="http://schemas.openxmlformats.org/drawingml/2006/main" noGrp="1"/>
          </p:cNvSpPr>
          <p:nvPr/>
        </p:nvSpPr>
        <p:spPr>
          <a:xfrm xmlns:a="http://schemas.openxmlformats.org/drawingml/2006/main">
            <a:off x="628650" y="39243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C9D3DF"/>
                </a:solidFill>
                <a:latin typeface="Arial"/>
                <a:ea typeface="Arial"/>
                <a:cs typeface="Arial"/>
              </a:defRPr>
            </a:pPr>
            <a:r>
              <a:rPr sz="2175" b="0">
                <a:solidFill>
                  <a:srgbClr val="C9D3DF"/>
                </a:solidFill>
                <a:latin typeface="Arial"/>
                <a:ea typeface="Arial"/>
                <a:cs typeface="Arial"/>
              </a:rPr>
              <a:t>Satu lesson, satu keputusan atau mental model</a:t>
            </a:r>
          </a:p>
        </p:txBody>
      </p:sp>
      <p:sp>
        <p:nvSpPr>
          <p:cNvPr id="9" name="6">
            <a:extLst xmlns:a="http://schemas.openxmlformats.org/drawingml/2006/main">
              <a:ext uri="{FF2B5EF4-FFF2-40B4-BE49-F238E27FC236}">
                <a16:creationId xmlns:a16="http://schemas.microsoft.com/office/drawing/2014/main" id="{BCA765E3-6D8D-4712-9B27-486532992A8A}"/>
              </a:ext>
            </a:extLst>
          </p:cNvPr>
          <p:cNvSpPr>
            <a:spLocks xmlns:a="http://schemas.openxmlformats.org/drawingml/2006/main" noGrp="1"/>
          </p:cNvSpPr>
          <p:nvPr/>
        </p:nvSpPr>
        <p:spPr>
          <a:xfrm xmlns:a="http://schemas.openxmlformats.org/drawingml/2006/main">
            <a:off x="628650" y="4857750"/>
            <a:ext cx="1028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75" b="1">
                <a:solidFill>
                  <a:srgbClr val="67D9FF"/>
                </a:solidFill>
                <a:latin typeface="Arial"/>
                <a:ea typeface="Arial"/>
                <a:cs typeface="Arial"/>
              </a:defRPr>
            </a:pPr>
            <a:r>
              <a:rPr sz="5175" b="1">
                <a:solidFill>
                  <a:srgbClr val="67D9FF"/>
                </a:solidFill>
                <a:latin typeface="Arial"/>
                <a:ea typeface="Arial"/>
                <a:cs typeface="Arial"/>
              </a:rPr>
              <a:t>6</a:t>
            </a:r>
          </a:p>
        </p:txBody>
      </p:sp>
      <p:sp>
        <p:nvSpPr>
          <p:cNvPr id="10" name="Courses">
            <a:extLst xmlns:a="http://schemas.openxmlformats.org/drawingml/2006/main">
              <a:ext uri="{FF2B5EF4-FFF2-40B4-BE49-F238E27FC236}">
                <a16:creationId xmlns:a16="http://schemas.microsoft.com/office/drawing/2014/main" id="{C12FD1B6-E112-4D19-850E-70D1C63740E4}"/>
              </a:ext>
            </a:extLst>
          </p:cNvPr>
          <p:cNvSpPr>
            <a:spLocks xmlns:a="http://schemas.openxmlformats.org/drawingml/2006/main" noGrp="1"/>
          </p:cNvSpPr>
          <p:nvPr/>
        </p:nvSpPr>
        <p:spPr>
          <a:xfrm xmlns:a="http://schemas.openxmlformats.org/drawingml/2006/main">
            <a:off x="1695450" y="5086350"/>
            <a:ext cx="2286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4F7FB"/>
                </a:solidFill>
                <a:latin typeface="Arial"/>
                <a:ea typeface="Arial"/>
                <a:cs typeface="Arial"/>
              </a:defRPr>
            </a:pPr>
            <a:r>
              <a:rPr sz="1800" b="0">
                <a:solidFill>
                  <a:srgbClr val="F4F7FB"/>
                </a:solidFill>
                <a:latin typeface="Arial"/>
                <a:ea typeface="Arial"/>
                <a:cs typeface="Arial"/>
              </a:rPr>
              <a:t>Courses</a:t>
            </a:r>
          </a:p>
        </p:txBody>
      </p:sp>
      <p:sp>
        <p:nvSpPr>
          <p:cNvPr id="11" name="6">
            <a:extLst xmlns:a="http://schemas.openxmlformats.org/drawingml/2006/main">
              <a:ext uri="{FF2B5EF4-FFF2-40B4-BE49-F238E27FC236}">
                <a16:creationId xmlns:a16="http://schemas.microsoft.com/office/drawing/2014/main" id="{815B3A8F-5519-49AC-8117-13A7B4FF698F}"/>
              </a:ext>
            </a:extLst>
          </p:cNvPr>
          <p:cNvSpPr>
            <a:spLocks xmlns:a="http://schemas.openxmlformats.org/drawingml/2006/main" noGrp="1"/>
          </p:cNvSpPr>
          <p:nvPr/>
        </p:nvSpPr>
        <p:spPr>
          <a:xfrm xmlns:a="http://schemas.openxmlformats.org/drawingml/2006/main">
            <a:off x="4105275" y="4857750"/>
            <a:ext cx="1028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75" b="1">
                <a:solidFill>
                  <a:srgbClr val="67D9FF"/>
                </a:solidFill>
                <a:latin typeface="Arial"/>
                <a:ea typeface="Arial"/>
                <a:cs typeface="Arial"/>
              </a:defRPr>
            </a:pPr>
            <a:r>
              <a:rPr sz="5175" b="1">
                <a:solidFill>
                  <a:srgbClr val="67D9FF"/>
                </a:solidFill>
                <a:latin typeface="Arial"/>
                <a:ea typeface="Arial"/>
                <a:cs typeface="Arial"/>
              </a:rPr>
              <a:t>6</a:t>
            </a:r>
          </a:p>
        </p:txBody>
      </p:sp>
      <p:sp>
        <p:nvSpPr>
          <p:cNvPr id="12" name="Lessons per Course">
            <a:extLst xmlns:a="http://schemas.openxmlformats.org/drawingml/2006/main">
              <a:ext uri="{FF2B5EF4-FFF2-40B4-BE49-F238E27FC236}">
                <a16:creationId xmlns:a16="http://schemas.microsoft.com/office/drawing/2014/main" id="{4D33CAD4-576B-4108-A4CE-7A7812A8D3B3}"/>
              </a:ext>
            </a:extLst>
          </p:cNvPr>
          <p:cNvSpPr>
            <a:spLocks xmlns:a="http://schemas.openxmlformats.org/drawingml/2006/main" noGrp="1"/>
          </p:cNvSpPr>
          <p:nvPr/>
        </p:nvSpPr>
        <p:spPr>
          <a:xfrm xmlns:a="http://schemas.openxmlformats.org/drawingml/2006/main">
            <a:off x="5172075" y="5086350"/>
            <a:ext cx="2286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4F7FB"/>
                </a:solidFill>
                <a:latin typeface="Arial"/>
                <a:ea typeface="Arial"/>
                <a:cs typeface="Arial"/>
              </a:defRPr>
            </a:pPr>
            <a:r>
              <a:rPr sz="1800" b="0">
                <a:solidFill>
                  <a:srgbClr val="F4F7FB"/>
                </a:solidFill>
                <a:latin typeface="Arial"/>
                <a:ea typeface="Arial"/>
                <a:cs typeface="Arial"/>
              </a:rPr>
              <a:t>Lessons per Course</a:t>
            </a:r>
          </a:p>
        </p:txBody>
      </p:sp>
      <p:sp>
        <p:nvSpPr>
          <p:cNvPr id="13" name="36">
            <a:extLst xmlns:a="http://schemas.openxmlformats.org/drawingml/2006/main">
              <a:ext uri="{FF2B5EF4-FFF2-40B4-BE49-F238E27FC236}">
                <a16:creationId xmlns:a16="http://schemas.microsoft.com/office/drawing/2014/main" id="{FD5C9C05-FC28-4240-B0DF-15CA9D400C5E}"/>
              </a:ext>
            </a:extLst>
          </p:cNvPr>
          <p:cNvSpPr>
            <a:spLocks xmlns:a="http://schemas.openxmlformats.org/drawingml/2006/main" noGrp="1"/>
          </p:cNvSpPr>
          <p:nvPr/>
        </p:nvSpPr>
        <p:spPr>
          <a:xfrm xmlns:a="http://schemas.openxmlformats.org/drawingml/2006/main">
            <a:off x="7581900" y="4857750"/>
            <a:ext cx="1028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75" b="1">
                <a:solidFill>
                  <a:srgbClr val="67D9FF"/>
                </a:solidFill>
                <a:latin typeface="Arial"/>
                <a:ea typeface="Arial"/>
                <a:cs typeface="Arial"/>
              </a:defRPr>
            </a:pPr>
            <a:r>
              <a:rPr sz="5175" b="1">
                <a:solidFill>
                  <a:srgbClr val="67D9FF"/>
                </a:solidFill>
                <a:latin typeface="Arial"/>
                <a:ea typeface="Arial"/>
                <a:cs typeface="Arial"/>
              </a:rPr>
              <a:t>36</a:t>
            </a:r>
          </a:p>
        </p:txBody>
      </p:sp>
      <p:sp>
        <p:nvSpPr>
          <p:cNvPr id="14" name="Lessons total">
            <a:extLst xmlns:a="http://schemas.openxmlformats.org/drawingml/2006/main">
              <a:ext uri="{FF2B5EF4-FFF2-40B4-BE49-F238E27FC236}">
                <a16:creationId xmlns:a16="http://schemas.microsoft.com/office/drawing/2014/main" id="{97BEE6AC-374F-43CC-96FF-60602BE7E8FB}"/>
              </a:ext>
            </a:extLst>
          </p:cNvPr>
          <p:cNvSpPr>
            <a:spLocks xmlns:a="http://schemas.openxmlformats.org/drawingml/2006/main" noGrp="1"/>
          </p:cNvSpPr>
          <p:nvPr/>
        </p:nvSpPr>
        <p:spPr>
          <a:xfrm xmlns:a="http://schemas.openxmlformats.org/drawingml/2006/main">
            <a:off x="8648700" y="5086350"/>
            <a:ext cx="2286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4F7FB"/>
                </a:solidFill>
                <a:latin typeface="Arial"/>
                <a:ea typeface="Arial"/>
                <a:cs typeface="Arial"/>
              </a:defRPr>
            </a:pPr>
            <a:r>
              <a:rPr sz="1800" b="0">
                <a:solidFill>
                  <a:srgbClr val="F4F7FB"/>
                </a:solidFill>
                <a:latin typeface="Arial"/>
                <a:ea typeface="Arial"/>
                <a:cs typeface="Arial"/>
              </a:rPr>
              <a:t>Lessons total</a:t>
            </a:r>
          </a:p>
        </p:txBody>
      </p:sp>
      <p:sp>
        <p:nvSpPr>
          <p:cNvPr id="15" name="1 lesson = 1 video utama">
            <a:extLst xmlns:a="http://schemas.openxmlformats.org/drawingml/2006/main">
              <a:ext uri="{FF2B5EF4-FFF2-40B4-BE49-F238E27FC236}">
                <a16:creationId xmlns:a16="http://schemas.microsoft.com/office/drawing/2014/main" id="{7135C438-3774-4F7D-8A61-42A0A4E35469}"/>
              </a:ext>
            </a:extLst>
          </p:cNvPr>
          <p:cNvSpPr>
            <a:spLocks xmlns:a="http://schemas.openxmlformats.org/drawingml/2006/main" noGrp="1"/>
          </p:cNvSpPr>
          <p:nvPr/>
        </p:nvSpPr>
        <p:spPr>
          <a:xfrm xmlns:a="http://schemas.openxmlformats.org/drawingml/2006/main">
            <a:off x="628650" y="58674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C9D3DF"/>
                </a:solidFill>
                <a:latin typeface="Arial"/>
                <a:ea typeface="Arial"/>
                <a:cs typeface="Arial"/>
              </a:defRPr>
            </a:pPr>
            <a:r>
              <a:rPr sz="1725" b="0">
                <a:solidFill>
                  <a:srgbClr val="C9D3DF"/>
                </a:solidFill>
                <a:latin typeface="Arial"/>
                <a:ea typeface="Arial"/>
                <a:cs typeface="Arial"/>
              </a:rPr>
              <a:t>1 lesson = 1 video utama</a:t>
            </a:r>
          </a:p>
        </p:txBody>
      </p:sp>
    </p:spTree>
    <p:extLst>
      <p:ext uri="{BB962C8B-B14F-4D97-AF65-F5344CB8AC3E}">
        <p14:creationId xmlns:p14="http://schemas.microsoft.com/office/powerpoint/2010/main" val="1573275998"/>
      </p:ext>
    </p:extLst>
  </p:cSld>
</p:sld>
</file>

<file path=ppt/slides/slide2.xml><?xml version="1.0" encoding="utf-8"?>
<p:sld xmlns:p="http://schemas.openxmlformats.org/presentationml/2006/main">
  <p:cSld>
    <p:bg>
      <p:bgPr>
        <a:solidFill xmlns:a="http://schemas.openxmlformats.org/drawingml/2006/main">
          <a:srgbClr val="070B12"/>
        </a:solidFill>
      </p:bgPr>
    </p:bg>
    <p:spTree>
      <p:nvGrpSpPr>
        <p:cNvPr id="1" name=""/>
        <p:cNvGrpSpPr/>
        <p:nvPr/>
      </p:nvGrpSpPr>
      <p:grpSpPr>
        <a:xfrm xmlns:a="http://schemas.openxmlformats.org/drawingml/2006/main"/>
      </p:grpSpPr>
      <p:sp>
        <p:nvSpPr>
          <p:cNvPr id="14" name="KULTIVATE LEARN">
            <a:extLst xmlns:a="http://schemas.openxmlformats.org/drawingml/2006/main">
              <a:ext uri="{FF2B5EF4-FFF2-40B4-BE49-F238E27FC236}">
                <a16:creationId xmlns:a16="http://schemas.microsoft.com/office/drawing/2014/main" id="{142E3C57-DFAE-4EB2-85B9-308A7153C3C9}"/>
              </a:ext>
            </a:extLst>
          </p:cNvPr>
          <p:cNvSpPr>
            <a:spLocks xmlns:a="http://schemas.openxmlformats.org/drawingml/2006/main" noGrp="1"/>
          </p:cNvSpPr>
          <p:nvPr/>
        </p:nvSpPr>
        <p:spPr>
          <a:xfrm xmlns:a="http://schemas.openxmlformats.org/drawingml/2006/main">
            <a:off x="609600" y="304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C9D3DF"/>
                </a:solidFill>
                <a:latin typeface="Arial"/>
                <a:ea typeface="Arial"/>
                <a:cs typeface="Arial"/>
              </a:defRPr>
            </a:pPr>
            <a:r>
              <a:rPr sz="1350" b="1">
                <a:solidFill>
                  <a:srgbClr val="C9D3DF"/>
                </a:solidFill>
                <a:latin typeface="Arial"/>
                <a:ea typeface="Arial"/>
                <a:cs typeface="Arial"/>
              </a:rPr>
              <a:t>KULTIVATE LEARN</a:t>
            </a:r>
          </a:p>
        </p:txBody>
      </p:sp>
      <p:sp>
        <p:nvSpPr>
          <p:cNvPr id="2" name="COURSE 01  /  LESSON 01">
            <a:extLst xmlns:a="http://schemas.openxmlformats.org/drawingml/2006/main">
              <a:ext uri="{FF2B5EF4-FFF2-40B4-BE49-F238E27FC236}">
                <a16:creationId xmlns:a16="http://schemas.microsoft.com/office/drawing/2014/main" id="{ED4D4756-F1D6-4AF2-85D5-FD7D2DFE3AF3}"/>
              </a:ext>
            </a:extLst>
          </p:cNvPr>
          <p:cNvSpPr>
            <a:spLocks xmlns:a="http://schemas.openxmlformats.org/drawingml/2006/main" noGrp="1"/>
          </p:cNvSpPr>
          <p:nvPr/>
        </p:nvSpPr>
        <p:spPr>
          <a:xfrm xmlns:a="http://schemas.openxmlformats.org/drawingml/2006/main">
            <a:off x="7620000" y="304800"/>
            <a:ext cx="3962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9D3DF"/>
                </a:solidFill>
                <a:latin typeface="Arial"/>
                <a:ea typeface="Arial"/>
                <a:cs typeface="Arial"/>
              </a:defRPr>
            </a:pPr>
            <a:r>
              <a:rPr sz="1350" b="0">
                <a:solidFill>
                  <a:srgbClr val="C9D3DF"/>
                </a:solidFill>
                <a:latin typeface="Arial"/>
                <a:ea typeface="Arial"/>
                <a:cs typeface="Arial"/>
              </a:rPr>
              <a:t>COURSE 01  /  LESSON 01</a:t>
            </a:r>
          </a:p>
        </p:txBody>
      </p:sp>
      <p:sp>
        <p:nvSpPr>
          <p:cNvPr id="3" name="slide-title">
            <a:extLst xmlns:a="http://schemas.openxmlformats.org/drawingml/2006/main">
              <a:ext uri="{FF2B5EF4-FFF2-40B4-BE49-F238E27FC236}">
                <a16:creationId xmlns:a16="http://schemas.microsoft.com/office/drawing/2014/main" id="{6F67A219-A71A-4C14-8CE9-25491F6B3B15}"/>
              </a:ext>
            </a:extLst>
          </p:cNvPr>
          <p:cNvSpPr>
            <a:spLocks xmlns:a="http://schemas.openxmlformats.org/drawingml/2006/main" noGrp="1"/>
          </p:cNvSpPr>
          <p:nvPr/>
        </p:nvSpPr>
        <p:spPr>
          <a:xfrm xmlns:a="http://schemas.openxmlformats.org/drawingml/2006/main">
            <a:off x="609600" y="942975"/>
            <a:ext cx="10934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F4F7FB"/>
                </a:solidFill>
                <a:latin typeface="Arial"/>
                <a:ea typeface="Arial"/>
                <a:cs typeface="Arial"/>
              </a:defRPr>
            </a:pPr>
            <a:r>
              <a:rPr sz="3675" b="1">
                <a:solidFill>
                  <a:srgbClr val="F4F7FB"/>
                </a:solidFill>
                <a:latin typeface="Arial"/>
                <a:ea typeface="Arial"/>
                <a:cs typeface="Arial"/>
              </a:rPr>
              <a:t>Traffic naik, peluangnya belum jelas</a:t>
            </a:r>
          </a:p>
        </p:txBody>
      </p:sp>
      <p:sp>
        <p:nvSpPr>
          <p:cNvPr id="4" name="Kondisi ilustratif">
            <a:extLst xmlns:a="http://schemas.openxmlformats.org/drawingml/2006/main">
              <a:ext uri="{FF2B5EF4-FFF2-40B4-BE49-F238E27FC236}">
                <a16:creationId xmlns:a16="http://schemas.microsoft.com/office/drawing/2014/main" id="{572CBB04-D642-4B2F-8A05-9D4FB3391790}"/>
              </a:ext>
            </a:extLst>
          </p:cNvPr>
          <p:cNvSpPr>
            <a:spLocks xmlns:a="http://schemas.openxmlformats.org/drawingml/2006/main" noGrp="1"/>
          </p:cNvSpPr>
          <p:nvPr/>
        </p:nvSpPr>
        <p:spPr>
          <a:xfrm xmlns:a="http://schemas.openxmlformats.org/drawingml/2006/main">
            <a:off x="609600" y="20955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7D9FF"/>
                </a:solidFill>
                <a:latin typeface="Arial"/>
                <a:ea typeface="Arial"/>
                <a:cs typeface="Arial"/>
              </a:defRPr>
            </a:pPr>
            <a:r>
              <a:rPr sz="1650" b="0">
                <a:solidFill>
                  <a:srgbClr val="67D9FF"/>
                </a:solidFill>
                <a:latin typeface="Arial"/>
                <a:ea typeface="Arial"/>
                <a:cs typeface="Arial"/>
              </a:rPr>
              <a:t>Kondisi ilustratif</a:t>
            </a:r>
          </a:p>
        </p:txBody>
      </p:sp>
      <p:sp>
        <p:nvSpPr>
          <p:cNvPr id="5" name="separator">
            <a:extLst xmlns:a="http://schemas.openxmlformats.org/drawingml/2006/main">
              <a:ext uri="{FF2B5EF4-FFF2-40B4-BE49-F238E27FC236}">
                <a16:creationId xmlns:a16="http://schemas.microsoft.com/office/drawing/2014/main" id="{79FD50EB-EA74-4BE9-A585-D9D7335EC0D8}"/>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273244"/>
            </a:solidFill>
          </a:ln>
        </p:spPr>
      </p:sp>
      <p:sp>
        <p:nvSpPr>
          <p:cNvPr id="6" name="SEO for Business Growth: From Searc">
            <a:extLst xmlns:a="http://schemas.openxmlformats.org/drawingml/2006/main">
              <a:ext uri="{FF2B5EF4-FFF2-40B4-BE49-F238E27FC236}">
                <a16:creationId xmlns:a16="http://schemas.microsoft.com/office/drawing/2014/main" id="{98C43998-2591-40C1-A409-A9B32EA3A6D3}"/>
              </a:ext>
            </a:extLst>
          </p:cNvPr>
          <p:cNvSpPr>
            <a:spLocks xmlns:a="http://schemas.openxmlformats.org/drawingml/2006/main" noGrp="1"/>
          </p:cNvSpPr>
          <p:nvPr/>
        </p:nvSpPr>
        <p:spPr>
          <a:xfrm xmlns:a="http://schemas.openxmlformats.org/drawingml/2006/main">
            <a:off x="609600" y="64674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9D3DF"/>
                </a:solidFill>
                <a:latin typeface="Arial"/>
                <a:ea typeface="Arial"/>
                <a:cs typeface="Arial"/>
              </a:defRPr>
            </a:pPr>
            <a:r>
              <a:rPr sz="1200" b="0">
                <a:solidFill>
                  <a:srgbClr val="C9D3DF"/>
                </a:solidFill>
                <a:latin typeface="Arial"/>
                <a:ea typeface="Arial"/>
                <a:cs typeface="Arial"/>
              </a:rPr>
              <a:t>SEO for Business Growth: From Search to Sales</a:t>
            </a:r>
          </a:p>
        </p:txBody>
      </p:sp>
      <p:sp>
        <p:nvSpPr>
          <p:cNvPr id="7" name="02">
            <a:extLst xmlns:a="http://schemas.openxmlformats.org/drawingml/2006/main">
              <a:ext uri="{FF2B5EF4-FFF2-40B4-BE49-F238E27FC236}">
                <a16:creationId xmlns:a16="http://schemas.microsoft.com/office/drawing/2014/main" id="{8984D1DC-A93C-4914-8D4E-442AE0B952BB}"/>
              </a:ext>
            </a:extLst>
          </p:cNvPr>
          <p:cNvSpPr>
            <a:spLocks xmlns:a="http://schemas.openxmlformats.org/drawingml/2006/main" noGrp="1"/>
          </p:cNvSpPr>
          <p:nvPr/>
        </p:nvSpPr>
        <p:spPr>
          <a:xfrm xmlns:a="http://schemas.openxmlformats.org/drawingml/2006/main">
            <a:off x="11049000" y="64293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C9D3DF"/>
                </a:solidFill>
                <a:latin typeface="Arial"/>
                <a:ea typeface="Arial"/>
                <a:cs typeface="Arial"/>
              </a:defRPr>
            </a:pPr>
            <a:r>
              <a:rPr sz="1500" b="0">
                <a:solidFill>
                  <a:srgbClr val="C9D3DF"/>
                </a:solidFill>
                <a:latin typeface="Arial"/>
                <a:ea typeface="Arial"/>
                <a:cs typeface="Arial"/>
              </a:rPr>
              <a:t>02</a:t>
            </a:r>
          </a:p>
        </p:txBody>
      </p:sp>
      <p:sp>
        <p:nvSpPr>
          <p:cNvPr id="8" name="YANG SUDAH TERLIHAT">
            <a:extLst xmlns:a="http://schemas.openxmlformats.org/drawingml/2006/main">
              <a:ext uri="{FF2B5EF4-FFF2-40B4-BE49-F238E27FC236}">
                <a16:creationId xmlns:a16="http://schemas.microsoft.com/office/drawing/2014/main" id="{47A7ED8A-D103-4462-94D1-B54E363E0A2E}"/>
              </a:ext>
            </a:extLst>
          </p:cNvPr>
          <p:cNvSpPr>
            <a:spLocks xmlns:a="http://schemas.openxmlformats.org/drawingml/2006/main" noGrp="1"/>
          </p:cNvSpPr>
          <p:nvPr/>
        </p:nvSpPr>
        <p:spPr>
          <a:xfrm xmlns:a="http://schemas.openxmlformats.org/drawingml/2006/main">
            <a:off x="619125" y="2857500"/>
            <a:ext cx="4800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C9D3DF"/>
                </a:solidFill>
                <a:latin typeface="Arial"/>
                <a:ea typeface="Arial"/>
                <a:cs typeface="Arial"/>
              </a:defRPr>
            </a:pPr>
            <a:r>
              <a:rPr sz="1500" b="1">
                <a:solidFill>
                  <a:srgbClr val="C9D3DF"/>
                </a:solidFill>
                <a:latin typeface="Arial"/>
                <a:ea typeface="Arial"/>
                <a:cs typeface="Arial"/>
              </a:rPr>
              <a:t>YANG SUDAH TERLIHAT</a:t>
            </a:r>
          </a:p>
        </p:txBody>
      </p:sp>
      <p:sp>
        <p:nvSpPr>
          <p:cNvPr id="9" name="Website makin&#10;banyak dikunjungi">
            <a:extLst xmlns:a="http://schemas.openxmlformats.org/drawingml/2006/main">
              <a:ext uri="{FF2B5EF4-FFF2-40B4-BE49-F238E27FC236}">
                <a16:creationId xmlns:a16="http://schemas.microsoft.com/office/drawing/2014/main" id="{281FF219-012A-4E82-818D-44F6B186B219}"/>
              </a:ext>
            </a:extLst>
          </p:cNvPr>
          <p:cNvSpPr>
            <a:spLocks xmlns:a="http://schemas.openxmlformats.org/drawingml/2006/main" noGrp="1"/>
          </p:cNvSpPr>
          <p:nvPr/>
        </p:nvSpPr>
        <p:spPr>
          <a:xfrm xmlns:a="http://schemas.openxmlformats.org/drawingml/2006/main">
            <a:off x="619125" y="3390900"/>
            <a:ext cx="4876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4F7FB"/>
                </a:solidFill>
                <a:latin typeface="Arial"/>
                <a:ea typeface="Arial"/>
                <a:cs typeface="Arial"/>
              </a:defRPr>
            </a:pPr>
            <a:r>
              <a:rPr sz="3300" b="1">
                <a:solidFill>
                  <a:srgbClr val="F4F7FB"/>
                </a:solidFill>
                <a:latin typeface="Arial"/>
                <a:ea typeface="Arial"/>
                <a:cs typeface="Arial"/>
              </a:rPr>
              <a:t>Website makin</a:t>
            </a:r>
          </a:p>
          <a:p xmlns:a="http://schemas.openxmlformats.org/drawingml/2006/main">
            <a:pPr algn="l">
              <a:defRPr sz="3300" b="1">
                <a:solidFill>
                  <a:srgbClr val="F4F7FB"/>
                </a:solidFill>
                <a:latin typeface="Arial"/>
                <a:ea typeface="Arial"/>
                <a:cs typeface="Arial"/>
              </a:defRPr>
            </a:pPr>
            <a:r>
              <a:rPr sz="3300" b="1">
                <a:solidFill>
                  <a:srgbClr val="F4F7FB"/>
                </a:solidFill>
                <a:latin typeface="Arial"/>
                <a:ea typeface="Arial"/>
                <a:cs typeface="Arial"/>
              </a:rPr>
              <a:t>banyak dikunjungi</a:t>
            </a:r>
          </a:p>
        </p:txBody>
      </p:sp>
      <p:sp>
        <p:nvSpPr>
          <p:cNvPr id="10" name="">
            <a:extLst xmlns:a="http://schemas.openxmlformats.org/drawingml/2006/main">
              <a:ext uri="{FF2B5EF4-FFF2-40B4-BE49-F238E27FC236}">
                <a16:creationId xmlns:a16="http://schemas.microsoft.com/office/drawing/2014/main" id="{87C368A3-EA2D-4814-8BB6-72F66B988804}"/>
              </a:ext>
            </a:extLst>
          </p:cNvPr>
          <p:cNvSpPr>
            <a:spLocks xmlns:a="http://schemas.openxmlformats.org/drawingml/2006/main" noGrp="1"/>
          </p:cNvSpPr>
          <p:nvPr/>
        </p:nvSpPr>
        <p:spPr>
          <a:xfrm xmlns:a="http://schemas.openxmlformats.org/drawingml/2006/main">
            <a:off x="5905500" y="2762250"/>
            <a:ext cx="0" cy="2590800"/>
          </a:xfrm>
          <a:prstGeom xmlns:a="http://schemas.openxmlformats.org/drawingml/2006/main" prst="line">
            <a:avLst/>
          </a:prstGeom>
          <a:ln xmlns:a="http://schemas.openxmlformats.org/drawingml/2006/main" w="19050">
            <a:solidFill>
              <a:srgbClr val="273244"/>
            </a:solidFill>
          </a:ln>
        </p:spPr>
      </p:sp>
      <p:sp>
        <p:nvSpPr>
          <p:cNvPr id="11" name="YANG PERLU DIPERIKSA">
            <a:extLst xmlns:a="http://schemas.openxmlformats.org/drawingml/2006/main">
              <a:ext uri="{FF2B5EF4-FFF2-40B4-BE49-F238E27FC236}">
                <a16:creationId xmlns:a16="http://schemas.microsoft.com/office/drawing/2014/main" id="{C37B92CF-4A9C-4FC8-B138-3AB4B5FEA6AC}"/>
              </a:ext>
            </a:extLst>
          </p:cNvPr>
          <p:cNvSpPr>
            <a:spLocks xmlns:a="http://schemas.openxmlformats.org/drawingml/2006/main" noGrp="1"/>
          </p:cNvSpPr>
          <p:nvPr/>
        </p:nvSpPr>
        <p:spPr>
          <a:xfrm xmlns:a="http://schemas.openxmlformats.org/drawingml/2006/main">
            <a:off x="6505575" y="2857500"/>
            <a:ext cx="4895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67D9FF"/>
                </a:solidFill>
                <a:latin typeface="Arial"/>
                <a:ea typeface="Arial"/>
                <a:cs typeface="Arial"/>
              </a:defRPr>
            </a:pPr>
            <a:r>
              <a:rPr sz="1500" b="1">
                <a:solidFill>
                  <a:srgbClr val="67D9FF"/>
                </a:solidFill>
                <a:latin typeface="Arial"/>
                <a:ea typeface="Arial"/>
                <a:cs typeface="Arial"/>
              </a:rPr>
              <a:t>YANG PERLU DIPERIKSA</a:t>
            </a:r>
          </a:p>
        </p:txBody>
      </p:sp>
      <p:sp>
        <p:nvSpPr>
          <p:cNvPr id="12" name="Kebutuhan siapa&#10;yang terbantu?">
            <a:extLst xmlns:a="http://schemas.openxmlformats.org/drawingml/2006/main">
              <a:ext uri="{FF2B5EF4-FFF2-40B4-BE49-F238E27FC236}">
                <a16:creationId xmlns:a16="http://schemas.microsoft.com/office/drawing/2014/main" id="{32331C15-91ED-4200-9810-EF08F9B131C9}"/>
              </a:ext>
            </a:extLst>
          </p:cNvPr>
          <p:cNvSpPr>
            <a:spLocks xmlns:a="http://schemas.openxmlformats.org/drawingml/2006/main" noGrp="1"/>
          </p:cNvSpPr>
          <p:nvPr/>
        </p:nvSpPr>
        <p:spPr>
          <a:xfrm xmlns:a="http://schemas.openxmlformats.org/drawingml/2006/main">
            <a:off x="6505575" y="3390900"/>
            <a:ext cx="48958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F4F7FB"/>
                </a:solidFill>
                <a:latin typeface="Arial"/>
                <a:ea typeface="Arial"/>
                <a:cs typeface="Arial"/>
              </a:defRPr>
            </a:pPr>
            <a:r>
              <a:rPr sz="3075" b="1">
                <a:solidFill>
                  <a:srgbClr val="F4F7FB"/>
                </a:solidFill>
                <a:latin typeface="Arial"/>
                <a:ea typeface="Arial"/>
                <a:cs typeface="Arial"/>
              </a:rPr>
              <a:t>Kebutuhan siapa</a:t>
            </a:r>
          </a:p>
          <a:p xmlns:a="http://schemas.openxmlformats.org/drawingml/2006/main">
            <a:pPr algn="l">
              <a:defRPr sz="3075" b="1">
                <a:solidFill>
                  <a:srgbClr val="F4F7FB"/>
                </a:solidFill>
                <a:latin typeface="Arial"/>
                <a:ea typeface="Arial"/>
                <a:cs typeface="Arial"/>
              </a:defRPr>
            </a:pPr>
            <a:r>
              <a:rPr sz="3075" b="1">
                <a:solidFill>
                  <a:srgbClr val="F4F7FB"/>
                </a:solidFill>
                <a:latin typeface="Arial"/>
                <a:ea typeface="Arial"/>
                <a:cs typeface="Arial"/>
              </a:rPr>
              <a:t>yang terbantu?</a:t>
            </a:r>
          </a:p>
        </p:txBody>
      </p:sp>
      <p:sp>
        <p:nvSpPr>
          <p:cNvPr id="13" name="Apakah ada inquiry yang sesuai?">
            <a:extLst xmlns:a="http://schemas.openxmlformats.org/drawingml/2006/main">
              <a:ext uri="{FF2B5EF4-FFF2-40B4-BE49-F238E27FC236}">
                <a16:creationId xmlns:a16="http://schemas.microsoft.com/office/drawing/2014/main" id="{BB0AF300-5B96-4822-9711-4154F53845E4}"/>
              </a:ext>
            </a:extLst>
          </p:cNvPr>
          <p:cNvSpPr>
            <a:spLocks xmlns:a="http://schemas.openxmlformats.org/drawingml/2006/main" noGrp="1"/>
          </p:cNvSpPr>
          <p:nvPr/>
        </p:nvSpPr>
        <p:spPr>
          <a:xfrm xmlns:a="http://schemas.openxmlformats.org/drawingml/2006/main">
            <a:off x="6505575" y="4953000"/>
            <a:ext cx="4895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C9D3DF"/>
                </a:solidFill>
                <a:latin typeface="Arial"/>
                <a:ea typeface="Arial"/>
                <a:cs typeface="Arial"/>
              </a:defRPr>
            </a:pPr>
            <a:r>
              <a:rPr sz="2175" b="0">
                <a:solidFill>
                  <a:srgbClr val="C9D3DF"/>
                </a:solidFill>
                <a:latin typeface="Arial"/>
                <a:ea typeface="Arial"/>
                <a:cs typeface="Arial"/>
              </a:rPr>
              <a:t>Apakah ada inquiry yang sesuai?</a:t>
            </a:r>
          </a:p>
        </p:txBody>
      </p:sp>
    </p:spTree>
    <p:extLst>
      <p:ext uri="{BB962C8B-B14F-4D97-AF65-F5344CB8AC3E}">
        <p14:creationId xmlns:p14="http://schemas.microsoft.com/office/powerpoint/2010/main" val="1853055737"/>
      </p:ext>
    </p:extLst>
  </p:cSld>
</p:sld>
</file>

<file path=ppt/slides/slide3.xml><?xml version="1.0" encoding="utf-8"?>
<p:sld xmlns:p="http://schemas.openxmlformats.org/presentationml/2006/main">
  <p:cSld>
    <p:bg>
      <p:bgPr>
        <a:solidFill xmlns:a="http://schemas.openxmlformats.org/drawingml/2006/main">
          <a:srgbClr val="070B12"/>
        </a:solidFill>
      </p:bgPr>
    </p:bg>
    <p:spTree>
      <p:nvGrpSpPr>
        <p:cNvPr id="1" name=""/>
        <p:cNvGrpSpPr/>
        <p:nvPr/>
      </p:nvGrpSpPr>
      <p:grpSpPr>
        <a:xfrm xmlns:a="http://schemas.openxmlformats.org/drawingml/2006/main"/>
      </p:grpSpPr>
      <p:sp>
        <p:nvSpPr>
          <p:cNvPr id="14" name="KULTIVATE LEARN">
            <a:extLst xmlns:a="http://schemas.openxmlformats.org/drawingml/2006/main">
              <a:ext uri="{FF2B5EF4-FFF2-40B4-BE49-F238E27FC236}">
                <a16:creationId xmlns:a16="http://schemas.microsoft.com/office/drawing/2014/main" id="{7732DA56-012E-422F-8100-D640957E376C}"/>
              </a:ext>
            </a:extLst>
          </p:cNvPr>
          <p:cNvSpPr>
            <a:spLocks xmlns:a="http://schemas.openxmlformats.org/drawingml/2006/main" noGrp="1"/>
          </p:cNvSpPr>
          <p:nvPr/>
        </p:nvSpPr>
        <p:spPr>
          <a:xfrm xmlns:a="http://schemas.openxmlformats.org/drawingml/2006/main">
            <a:off x="609600" y="304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C9D3DF"/>
                </a:solidFill>
                <a:latin typeface="Arial"/>
                <a:ea typeface="Arial"/>
                <a:cs typeface="Arial"/>
              </a:defRPr>
            </a:pPr>
            <a:r>
              <a:rPr sz="1350" b="1">
                <a:solidFill>
                  <a:srgbClr val="C9D3DF"/>
                </a:solidFill>
                <a:latin typeface="Arial"/>
                <a:ea typeface="Arial"/>
                <a:cs typeface="Arial"/>
              </a:rPr>
              <a:t>KULTIVATE LEARN</a:t>
            </a:r>
          </a:p>
        </p:txBody>
      </p:sp>
      <p:sp>
        <p:nvSpPr>
          <p:cNvPr id="2" name="COURSE 01  /  LESSON 01">
            <a:extLst xmlns:a="http://schemas.openxmlformats.org/drawingml/2006/main">
              <a:ext uri="{FF2B5EF4-FFF2-40B4-BE49-F238E27FC236}">
                <a16:creationId xmlns:a16="http://schemas.microsoft.com/office/drawing/2014/main" id="{5619D1BF-4E21-49B0-B64C-BFFA00CDA747}"/>
              </a:ext>
            </a:extLst>
          </p:cNvPr>
          <p:cNvSpPr>
            <a:spLocks xmlns:a="http://schemas.openxmlformats.org/drawingml/2006/main" noGrp="1"/>
          </p:cNvSpPr>
          <p:nvPr/>
        </p:nvSpPr>
        <p:spPr>
          <a:xfrm xmlns:a="http://schemas.openxmlformats.org/drawingml/2006/main">
            <a:off x="7620000" y="304800"/>
            <a:ext cx="3962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9D3DF"/>
                </a:solidFill>
                <a:latin typeface="Arial"/>
                <a:ea typeface="Arial"/>
                <a:cs typeface="Arial"/>
              </a:defRPr>
            </a:pPr>
            <a:r>
              <a:rPr sz="1350" b="0">
                <a:solidFill>
                  <a:srgbClr val="C9D3DF"/>
                </a:solidFill>
                <a:latin typeface="Arial"/>
                <a:ea typeface="Arial"/>
                <a:cs typeface="Arial"/>
              </a:rPr>
              <a:t>COURSE 01  /  LESSON 01</a:t>
            </a:r>
          </a:p>
        </p:txBody>
      </p:sp>
      <p:sp>
        <p:nvSpPr>
          <p:cNvPr id="3" name="slide-title">
            <a:extLst xmlns:a="http://schemas.openxmlformats.org/drawingml/2006/main">
              <a:ext uri="{FF2B5EF4-FFF2-40B4-BE49-F238E27FC236}">
                <a16:creationId xmlns:a16="http://schemas.microsoft.com/office/drawing/2014/main" id="{FAAF88A2-EF23-44F4-8296-43FA56604D50}"/>
              </a:ext>
            </a:extLst>
          </p:cNvPr>
          <p:cNvSpPr>
            <a:spLocks xmlns:a="http://schemas.openxmlformats.org/drawingml/2006/main" noGrp="1"/>
          </p:cNvSpPr>
          <p:nvPr/>
        </p:nvSpPr>
        <p:spPr>
          <a:xfrm xmlns:a="http://schemas.openxmlformats.org/drawingml/2006/main">
            <a:off x="609600" y="942975"/>
            <a:ext cx="10934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F4F7FB"/>
                </a:solidFill>
                <a:latin typeface="Arial"/>
                <a:ea typeface="Arial"/>
                <a:cs typeface="Arial"/>
              </a:defRPr>
            </a:pPr>
            <a:r>
              <a:rPr sz="3675" b="1">
                <a:solidFill>
                  <a:srgbClr val="F4F7FB"/>
                </a:solidFill>
                <a:latin typeface="Arial"/>
                <a:ea typeface="Arial"/>
                <a:cs typeface="Arial"/>
              </a:rPr>
              <a:t>Demand dan traffic</a:t>
            </a:r>
          </a:p>
        </p:txBody>
      </p:sp>
      <p:sp>
        <p:nvSpPr>
          <p:cNvPr id="4" name="separator">
            <a:extLst xmlns:a="http://schemas.openxmlformats.org/drawingml/2006/main">
              <a:ext uri="{FF2B5EF4-FFF2-40B4-BE49-F238E27FC236}">
                <a16:creationId xmlns:a16="http://schemas.microsoft.com/office/drawing/2014/main" id="{60AE52F3-CFD2-4DAD-9558-6C9D9BF8EA9C}"/>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273244"/>
            </a:solidFill>
          </a:ln>
        </p:spPr>
      </p:sp>
      <p:sp>
        <p:nvSpPr>
          <p:cNvPr id="5" name="SEO for Business Growth: From Searc">
            <a:extLst xmlns:a="http://schemas.openxmlformats.org/drawingml/2006/main">
              <a:ext uri="{FF2B5EF4-FFF2-40B4-BE49-F238E27FC236}">
                <a16:creationId xmlns:a16="http://schemas.microsoft.com/office/drawing/2014/main" id="{860F0748-C496-4AE2-970F-752643BF81A0}"/>
              </a:ext>
            </a:extLst>
          </p:cNvPr>
          <p:cNvSpPr>
            <a:spLocks xmlns:a="http://schemas.openxmlformats.org/drawingml/2006/main" noGrp="1"/>
          </p:cNvSpPr>
          <p:nvPr/>
        </p:nvSpPr>
        <p:spPr>
          <a:xfrm xmlns:a="http://schemas.openxmlformats.org/drawingml/2006/main">
            <a:off x="609600" y="64674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9D3DF"/>
                </a:solidFill>
                <a:latin typeface="Arial"/>
                <a:ea typeface="Arial"/>
                <a:cs typeface="Arial"/>
              </a:defRPr>
            </a:pPr>
            <a:r>
              <a:rPr sz="1200" b="0">
                <a:solidFill>
                  <a:srgbClr val="C9D3DF"/>
                </a:solidFill>
                <a:latin typeface="Arial"/>
                <a:ea typeface="Arial"/>
                <a:cs typeface="Arial"/>
              </a:rPr>
              <a:t>SEO for Business Growth: From Search to Sales</a:t>
            </a:r>
          </a:p>
        </p:txBody>
      </p:sp>
      <p:sp>
        <p:nvSpPr>
          <p:cNvPr id="6" name="03">
            <a:extLst xmlns:a="http://schemas.openxmlformats.org/drawingml/2006/main">
              <a:ext uri="{FF2B5EF4-FFF2-40B4-BE49-F238E27FC236}">
                <a16:creationId xmlns:a16="http://schemas.microsoft.com/office/drawing/2014/main" id="{5401CE03-2C8B-41FB-B01E-C2B8286C8DE3}"/>
              </a:ext>
            </a:extLst>
          </p:cNvPr>
          <p:cNvSpPr>
            <a:spLocks xmlns:a="http://schemas.openxmlformats.org/drawingml/2006/main" noGrp="1"/>
          </p:cNvSpPr>
          <p:nvPr/>
        </p:nvSpPr>
        <p:spPr>
          <a:xfrm xmlns:a="http://schemas.openxmlformats.org/drawingml/2006/main">
            <a:off x="11049000" y="64293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C9D3DF"/>
                </a:solidFill>
                <a:latin typeface="Arial"/>
                <a:ea typeface="Arial"/>
                <a:cs typeface="Arial"/>
              </a:defRPr>
            </a:pPr>
            <a:r>
              <a:rPr sz="1500" b="0">
                <a:solidFill>
                  <a:srgbClr val="C9D3DF"/>
                </a:solidFill>
                <a:latin typeface="Arial"/>
                <a:ea typeface="Arial"/>
                <a:cs typeface="Arial"/>
              </a:rPr>
              <a:t>03</a:t>
            </a:r>
          </a:p>
        </p:txBody>
      </p:sp>
      <p:sp>
        <p:nvSpPr>
          <p:cNvPr id="7" name="Demand">
            <a:extLst xmlns:a="http://schemas.openxmlformats.org/drawingml/2006/main">
              <a:ext uri="{FF2B5EF4-FFF2-40B4-BE49-F238E27FC236}">
                <a16:creationId xmlns:a16="http://schemas.microsoft.com/office/drawing/2014/main" id="{2AF59979-4E36-4E6B-8B80-F77525B2BE60}"/>
              </a:ext>
            </a:extLst>
          </p:cNvPr>
          <p:cNvSpPr>
            <a:spLocks xmlns:a="http://schemas.openxmlformats.org/drawingml/2006/main" noGrp="1"/>
          </p:cNvSpPr>
          <p:nvPr/>
        </p:nvSpPr>
        <p:spPr>
          <a:xfrm xmlns:a="http://schemas.openxmlformats.org/drawingml/2006/main">
            <a:off x="619125" y="285750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67D9FF"/>
                </a:solidFill>
                <a:latin typeface="Arial"/>
                <a:ea typeface="Arial"/>
                <a:cs typeface="Arial"/>
              </a:defRPr>
            </a:pPr>
            <a:r>
              <a:rPr sz="4275" b="1">
                <a:solidFill>
                  <a:srgbClr val="67D9FF"/>
                </a:solidFill>
                <a:latin typeface="Arial"/>
                <a:ea typeface="Arial"/>
                <a:cs typeface="Arial"/>
              </a:rPr>
              <a:t>Demand</a:t>
            </a:r>
          </a:p>
        </p:txBody>
      </p:sp>
      <p:sp>
        <p:nvSpPr>
          <p:cNvPr id="8" name="Kebutuhan terhadap solusi">
            <a:extLst xmlns:a="http://schemas.openxmlformats.org/drawingml/2006/main">
              <a:ext uri="{FF2B5EF4-FFF2-40B4-BE49-F238E27FC236}">
                <a16:creationId xmlns:a16="http://schemas.microsoft.com/office/drawing/2014/main" id="{5ACD3E41-A4D8-48BC-B5DD-62A398F08441}"/>
              </a:ext>
            </a:extLst>
          </p:cNvPr>
          <p:cNvSpPr>
            <a:spLocks xmlns:a="http://schemas.openxmlformats.org/drawingml/2006/main" noGrp="1"/>
          </p:cNvSpPr>
          <p:nvPr/>
        </p:nvSpPr>
        <p:spPr>
          <a:xfrm xmlns:a="http://schemas.openxmlformats.org/drawingml/2006/main">
            <a:off x="619125" y="367665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4F7FB"/>
                </a:solidFill>
                <a:latin typeface="Arial"/>
                <a:ea typeface="Arial"/>
                <a:cs typeface="Arial"/>
              </a:defRPr>
            </a:pPr>
            <a:r>
              <a:rPr sz="2400" b="0">
                <a:solidFill>
                  <a:srgbClr val="F4F7FB"/>
                </a:solidFill>
                <a:latin typeface="Arial"/>
                <a:ea typeface="Arial"/>
                <a:cs typeface="Arial"/>
              </a:rPr>
              <a:t>Kebutuhan terhadap solusi</a:t>
            </a:r>
          </a:p>
        </p:txBody>
      </p:sp>
      <p:sp>
        <p:nvSpPr>
          <p:cNvPr id="9" name="Traffic">
            <a:extLst xmlns:a="http://schemas.openxmlformats.org/drawingml/2006/main">
              <a:ext uri="{FF2B5EF4-FFF2-40B4-BE49-F238E27FC236}">
                <a16:creationId xmlns:a16="http://schemas.microsoft.com/office/drawing/2014/main" id="{8F987C22-A713-47E2-86EB-F77988292300}"/>
              </a:ext>
            </a:extLst>
          </p:cNvPr>
          <p:cNvSpPr>
            <a:spLocks xmlns:a="http://schemas.openxmlformats.org/drawingml/2006/main" noGrp="1"/>
          </p:cNvSpPr>
          <p:nvPr/>
        </p:nvSpPr>
        <p:spPr>
          <a:xfrm xmlns:a="http://schemas.openxmlformats.org/drawingml/2006/main">
            <a:off x="6543675" y="2857500"/>
            <a:ext cx="4619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F4F7FB"/>
                </a:solidFill>
                <a:latin typeface="Arial"/>
                <a:ea typeface="Arial"/>
                <a:cs typeface="Arial"/>
              </a:defRPr>
            </a:pPr>
            <a:r>
              <a:rPr sz="4275" b="1">
                <a:solidFill>
                  <a:srgbClr val="F4F7FB"/>
                </a:solidFill>
                <a:latin typeface="Arial"/>
                <a:ea typeface="Arial"/>
                <a:cs typeface="Arial"/>
              </a:rPr>
              <a:t>Traffic</a:t>
            </a:r>
          </a:p>
        </p:txBody>
      </p:sp>
      <p:sp>
        <p:nvSpPr>
          <p:cNvPr id="10" name="Kunjungan ke website">
            <a:extLst xmlns:a="http://schemas.openxmlformats.org/drawingml/2006/main">
              <a:ext uri="{FF2B5EF4-FFF2-40B4-BE49-F238E27FC236}">
                <a16:creationId xmlns:a16="http://schemas.microsoft.com/office/drawing/2014/main" id="{1CF94713-464A-478D-AAFD-E7B1BCA64AF8}"/>
              </a:ext>
            </a:extLst>
          </p:cNvPr>
          <p:cNvSpPr>
            <a:spLocks xmlns:a="http://schemas.openxmlformats.org/drawingml/2006/main" noGrp="1"/>
          </p:cNvSpPr>
          <p:nvPr/>
        </p:nvSpPr>
        <p:spPr>
          <a:xfrm xmlns:a="http://schemas.openxmlformats.org/drawingml/2006/main">
            <a:off x="6543675" y="3676650"/>
            <a:ext cx="4667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4F7FB"/>
                </a:solidFill>
                <a:latin typeface="Arial"/>
                <a:ea typeface="Arial"/>
                <a:cs typeface="Arial"/>
              </a:defRPr>
            </a:pPr>
            <a:r>
              <a:rPr sz="2400" b="0">
                <a:solidFill>
                  <a:srgbClr val="F4F7FB"/>
                </a:solidFill>
                <a:latin typeface="Arial"/>
                <a:ea typeface="Arial"/>
                <a:cs typeface="Arial"/>
              </a:rPr>
              <a:t>Kunjungan ke website</a:t>
            </a:r>
          </a:p>
        </p:txBody>
      </p:sp>
      <p:sp>
        <p:nvSpPr>
          <p:cNvPr id="11" name="separator">
            <a:extLst xmlns:a="http://schemas.openxmlformats.org/drawingml/2006/main">
              <a:ext uri="{FF2B5EF4-FFF2-40B4-BE49-F238E27FC236}">
                <a16:creationId xmlns:a16="http://schemas.microsoft.com/office/drawing/2014/main" id="{02BBF013-B0BD-48F0-B6DA-AC5BA911B6B3}"/>
              </a:ext>
            </a:extLst>
          </p:cNvPr>
          <p:cNvSpPr>
            <a:spLocks xmlns:a="http://schemas.openxmlformats.org/drawingml/2006/main" noGrp="1"/>
          </p:cNvSpPr>
          <p:nvPr/>
        </p:nvSpPr>
        <p:spPr>
          <a:xfrm xmlns:a="http://schemas.openxmlformats.org/drawingml/2006/main">
            <a:off x="619125" y="4953000"/>
            <a:ext cx="10763250" cy="0"/>
          </a:xfrm>
          <a:prstGeom xmlns:a="http://schemas.openxmlformats.org/drawingml/2006/main" prst="line">
            <a:avLst/>
          </a:prstGeom>
          <a:noFill xmlns:a="http://schemas.openxmlformats.org/drawingml/2006/main"/>
          <a:ln xmlns:a="http://schemas.openxmlformats.org/drawingml/2006/main" w="19050">
            <a:solidFill>
              <a:srgbClr val="273244"/>
            </a:solidFill>
          </a:ln>
        </p:spPr>
      </p:sp>
      <p:sp>
        <p:nvSpPr>
          <p:cNvPr id="12" name="Relevansi">
            <a:extLst xmlns:a="http://schemas.openxmlformats.org/drawingml/2006/main">
              <a:ext uri="{FF2B5EF4-FFF2-40B4-BE49-F238E27FC236}">
                <a16:creationId xmlns:a16="http://schemas.microsoft.com/office/drawing/2014/main" id="{9CA2BFFD-863E-4AFB-B9AE-3639A3114A19}"/>
              </a:ext>
            </a:extLst>
          </p:cNvPr>
          <p:cNvSpPr>
            <a:spLocks xmlns:a="http://schemas.openxmlformats.org/drawingml/2006/main" noGrp="1"/>
          </p:cNvSpPr>
          <p:nvPr/>
        </p:nvSpPr>
        <p:spPr>
          <a:xfrm xmlns:a="http://schemas.openxmlformats.org/drawingml/2006/main">
            <a:off x="619125" y="5314950"/>
            <a:ext cx="2047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67D9FF"/>
                </a:solidFill>
                <a:latin typeface="Arial"/>
                <a:ea typeface="Arial"/>
                <a:cs typeface="Arial"/>
              </a:defRPr>
            </a:pPr>
            <a:r>
              <a:rPr sz="1875" b="1">
                <a:solidFill>
                  <a:srgbClr val="67D9FF"/>
                </a:solidFill>
                <a:latin typeface="Arial"/>
                <a:ea typeface="Arial"/>
                <a:cs typeface="Arial"/>
              </a:rPr>
              <a:t>Relevansi</a:t>
            </a:r>
          </a:p>
        </p:txBody>
      </p:sp>
      <p:sp>
        <p:nvSpPr>
          <p:cNvPr id="13" name="Apakah kebutuhan itu dapat kita lay">
            <a:extLst xmlns:a="http://schemas.openxmlformats.org/drawingml/2006/main">
              <a:ext uri="{FF2B5EF4-FFF2-40B4-BE49-F238E27FC236}">
                <a16:creationId xmlns:a16="http://schemas.microsoft.com/office/drawing/2014/main" id="{03A950E3-1380-483E-BEEE-6F9FF0093F99}"/>
              </a:ext>
            </a:extLst>
          </p:cNvPr>
          <p:cNvSpPr>
            <a:spLocks xmlns:a="http://schemas.openxmlformats.org/drawingml/2006/main" noGrp="1"/>
          </p:cNvSpPr>
          <p:nvPr/>
        </p:nvSpPr>
        <p:spPr>
          <a:xfrm xmlns:a="http://schemas.openxmlformats.org/drawingml/2006/main">
            <a:off x="2809875" y="5276850"/>
            <a:ext cx="857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F4F7FB"/>
                </a:solidFill>
                <a:latin typeface="Arial"/>
                <a:ea typeface="Arial"/>
                <a:cs typeface="Arial"/>
              </a:defRPr>
            </a:pPr>
            <a:r>
              <a:rPr sz="2475" b="0">
                <a:solidFill>
                  <a:srgbClr val="F4F7FB"/>
                </a:solidFill>
                <a:latin typeface="Arial"/>
                <a:ea typeface="Arial"/>
                <a:cs typeface="Arial"/>
              </a:rPr>
              <a:t>Apakah kebutuhan itu dapat kita layani?</a:t>
            </a:r>
          </a:p>
        </p:txBody>
      </p:sp>
    </p:spTree>
    <p:extLst>
      <p:ext uri="{BB962C8B-B14F-4D97-AF65-F5344CB8AC3E}">
        <p14:creationId xmlns:p14="http://schemas.microsoft.com/office/powerpoint/2010/main" val="172138099"/>
      </p:ext>
    </p:extLst>
  </p:cSld>
</p:sld>
</file>

<file path=ppt/slides/slide4.xml><?xml version="1.0" encoding="utf-8"?>
<p:sld xmlns:p="http://schemas.openxmlformats.org/presentationml/2006/main">
  <p:cSld>
    <p:bg>
      <p:bgPr>
        <a:solidFill xmlns:a="http://schemas.openxmlformats.org/drawingml/2006/main">
          <a:srgbClr val="070B12"/>
        </a:solidFill>
      </p:bgPr>
    </p:bg>
    <p:spTree>
      <p:nvGrpSpPr>
        <p:cNvPr id="1" name=""/>
        <p:cNvGrpSpPr/>
        <p:nvPr/>
      </p:nvGrpSpPr>
      <p:grpSpPr>
        <a:xfrm xmlns:a="http://schemas.openxmlformats.org/drawingml/2006/main"/>
      </p:grpSpPr>
      <p:sp>
        <p:nvSpPr>
          <p:cNvPr id="25" name="KULTIVATE LEARN">
            <a:extLst xmlns:a="http://schemas.openxmlformats.org/drawingml/2006/main">
              <a:ext uri="{FF2B5EF4-FFF2-40B4-BE49-F238E27FC236}">
                <a16:creationId xmlns:a16="http://schemas.microsoft.com/office/drawing/2014/main" id="{B5B022F4-797F-4F70-B6E8-CA95EA51729F}"/>
              </a:ext>
            </a:extLst>
          </p:cNvPr>
          <p:cNvSpPr>
            <a:spLocks xmlns:a="http://schemas.openxmlformats.org/drawingml/2006/main" noGrp="1"/>
          </p:cNvSpPr>
          <p:nvPr/>
        </p:nvSpPr>
        <p:spPr>
          <a:xfrm xmlns:a="http://schemas.openxmlformats.org/drawingml/2006/main">
            <a:off x="609600" y="304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C9D3DF"/>
                </a:solidFill>
                <a:latin typeface="Arial"/>
                <a:ea typeface="Arial"/>
                <a:cs typeface="Arial"/>
              </a:defRPr>
            </a:pPr>
            <a:r>
              <a:rPr sz="1350" b="1">
                <a:solidFill>
                  <a:srgbClr val="C9D3DF"/>
                </a:solidFill>
                <a:latin typeface="Arial"/>
                <a:ea typeface="Arial"/>
                <a:cs typeface="Arial"/>
              </a:rPr>
              <a:t>KULTIVATE LEARN</a:t>
            </a:r>
          </a:p>
        </p:txBody>
      </p:sp>
      <p:sp>
        <p:nvSpPr>
          <p:cNvPr id="2" name="COURSE 01  /  LESSON 01">
            <a:extLst xmlns:a="http://schemas.openxmlformats.org/drawingml/2006/main">
              <a:ext uri="{FF2B5EF4-FFF2-40B4-BE49-F238E27FC236}">
                <a16:creationId xmlns:a16="http://schemas.microsoft.com/office/drawing/2014/main" id="{269EDA61-8300-4B23-AAC8-30708ADDFD50}"/>
              </a:ext>
            </a:extLst>
          </p:cNvPr>
          <p:cNvSpPr>
            <a:spLocks xmlns:a="http://schemas.openxmlformats.org/drawingml/2006/main" noGrp="1"/>
          </p:cNvSpPr>
          <p:nvPr/>
        </p:nvSpPr>
        <p:spPr>
          <a:xfrm xmlns:a="http://schemas.openxmlformats.org/drawingml/2006/main">
            <a:off x="7620000" y="304800"/>
            <a:ext cx="3962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9D3DF"/>
                </a:solidFill>
                <a:latin typeface="Arial"/>
                <a:ea typeface="Arial"/>
                <a:cs typeface="Arial"/>
              </a:defRPr>
            </a:pPr>
            <a:r>
              <a:rPr sz="1350" b="0">
                <a:solidFill>
                  <a:srgbClr val="C9D3DF"/>
                </a:solidFill>
                <a:latin typeface="Arial"/>
                <a:ea typeface="Arial"/>
                <a:cs typeface="Arial"/>
              </a:rPr>
              <a:t>COURSE 01  /  LESSON 01</a:t>
            </a:r>
          </a:p>
        </p:txBody>
      </p:sp>
      <p:sp>
        <p:nvSpPr>
          <p:cNvPr id="3" name="slide-title">
            <a:extLst xmlns:a="http://schemas.openxmlformats.org/drawingml/2006/main">
              <a:ext uri="{FF2B5EF4-FFF2-40B4-BE49-F238E27FC236}">
                <a16:creationId xmlns:a16="http://schemas.microsoft.com/office/drawing/2014/main" id="{28F71BC8-E0C8-409B-AD94-0B66689247B8}"/>
              </a:ext>
            </a:extLst>
          </p:cNvPr>
          <p:cNvSpPr>
            <a:spLocks xmlns:a="http://schemas.openxmlformats.org/drawingml/2006/main" noGrp="1"/>
          </p:cNvSpPr>
          <p:nvPr/>
        </p:nvSpPr>
        <p:spPr>
          <a:xfrm xmlns:a="http://schemas.openxmlformats.org/drawingml/2006/main">
            <a:off x="609600" y="942975"/>
            <a:ext cx="10934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F4F7FB"/>
                </a:solidFill>
                <a:latin typeface="Arial"/>
                <a:ea typeface="Arial"/>
                <a:cs typeface="Arial"/>
              </a:defRPr>
            </a:pPr>
            <a:r>
              <a:rPr sz="3675" b="1">
                <a:solidFill>
                  <a:srgbClr val="F4F7FB"/>
                </a:solidFill>
                <a:latin typeface="Arial"/>
                <a:ea typeface="Arial"/>
                <a:cs typeface="Arial"/>
              </a:rPr>
              <a:t>Empat momen pencarian</a:t>
            </a:r>
          </a:p>
        </p:txBody>
      </p:sp>
      <p:sp>
        <p:nvSpPr>
          <p:cNvPr id="4" name="Kultivate framework">
            <a:extLst xmlns:a="http://schemas.openxmlformats.org/drawingml/2006/main">
              <a:ext uri="{FF2B5EF4-FFF2-40B4-BE49-F238E27FC236}">
                <a16:creationId xmlns:a16="http://schemas.microsoft.com/office/drawing/2014/main" id="{04E7DF87-DFA4-492F-A074-7205705B243C}"/>
              </a:ext>
            </a:extLst>
          </p:cNvPr>
          <p:cNvSpPr>
            <a:spLocks xmlns:a="http://schemas.openxmlformats.org/drawingml/2006/main" noGrp="1"/>
          </p:cNvSpPr>
          <p:nvPr/>
        </p:nvSpPr>
        <p:spPr>
          <a:xfrm xmlns:a="http://schemas.openxmlformats.org/drawingml/2006/main">
            <a:off x="609600" y="20955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7D9FF"/>
                </a:solidFill>
                <a:latin typeface="Arial"/>
                <a:ea typeface="Arial"/>
                <a:cs typeface="Arial"/>
              </a:defRPr>
            </a:pPr>
            <a:r>
              <a:rPr sz="1650" b="0">
                <a:solidFill>
                  <a:srgbClr val="67D9FF"/>
                </a:solidFill>
                <a:latin typeface="Arial"/>
                <a:ea typeface="Arial"/>
                <a:cs typeface="Arial"/>
              </a:rPr>
              <a:t>Kultivate framework</a:t>
            </a:r>
          </a:p>
        </p:txBody>
      </p:sp>
      <p:sp>
        <p:nvSpPr>
          <p:cNvPr id="5" name="separator">
            <a:extLst xmlns:a="http://schemas.openxmlformats.org/drawingml/2006/main">
              <a:ext uri="{FF2B5EF4-FFF2-40B4-BE49-F238E27FC236}">
                <a16:creationId xmlns:a16="http://schemas.microsoft.com/office/drawing/2014/main" id="{B947EC5C-AB32-4770-A0F7-B7EDC88AC94A}"/>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273244"/>
            </a:solidFill>
          </a:ln>
        </p:spPr>
      </p:sp>
      <p:sp>
        <p:nvSpPr>
          <p:cNvPr id="6" name="SEO for Business Growth: From Searc">
            <a:extLst xmlns:a="http://schemas.openxmlformats.org/drawingml/2006/main">
              <a:ext uri="{FF2B5EF4-FFF2-40B4-BE49-F238E27FC236}">
                <a16:creationId xmlns:a16="http://schemas.microsoft.com/office/drawing/2014/main" id="{7B636D31-CA7A-4C58-9EC6-41314EE9FF97}"/>
              </a:ext>
            </a:extLst>
          </p:cNvPr>
          <p:cNvSpPr>
            <a:spLocks xmlns:a="http://schemas.openxmlformats.org/drawingml/2006/main" noGrp="1"/>
          </p:cNvSpPr>
          <p:nvPr/>
        </p:nvSpPr>
        <p:spPr>
          <a:xfrm xmlns:a="http://schemas.openxmlformats.org/drawingml/2006/main">
            <a:off x="609600" y="64674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9D3DF"/>
                </a:solidFill>
                <a:latin typeface="Arial"/>
                <a:ea typeface="Arial"/>
                <a:cs typeface="Arial"/>
              </a:defRPr>
            </a:pPr>
            <a:r>
              <a:rPr sz="1200" b="0">
                <a:solidFill>
                  <a:srgbClr val="C9D3DF"/>
                </a:solidFill>
                <a:latin typeface="Arial"/>
                <a:ea typeface="Arial"/>
                <a:cs typeface="Arial"/>
              </a:rPr>
              <a:t>SEO for Business Growth: From Search to Sales</a:t>
            </a:r>
          </a:p>
        </p:txBody>
      </p:sp>
      <p:sp>
        <p:nvSpPr>
          <p:cNvPr id="7" name="04">
            <a:extLst xmlns:a="http://schemas.openxmlformats.org/drawingml/2006/main">
              <a:ext uri="{FF2B5EF4-FFF2-40B4-BE49-F238E27FC236}">
                <a16:creationId xmlns:a16="http://schemas.microsoft.com/office/drawing/2014/main" id="{4FB55B5E-0AB8-47CC-BA0A-BC9AB271649A}"/>
              </a:ext>
            </a:extLst>
          </p:cNvPr>
          <p:cNvSpPr>
            <a:spLocks xmlns:a="http://schemas.openxmlformats.org/drawingml/2006/main" noGrp="1"/>
          </p:cNvSpPr>
          <p:nvPr/>
        </p:nvSpPr>
        <p:spPr>
          <a:xfrm xmlns:a="http://schemas.openxmlformats.org/drawingml/2006/main">
            <a:off x="11049000" y="64293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C9D3DF"/>
                </a:solidFill>
                <a:latin typeface="Arial"/>
                <a:ea typeface="Arial"/>
                <a:cs typeface="Arial"/>
              </a:defRPr>
            </a:pPr>
            <a:r>
              <a:rPr sz="1500" b="0">
                <a:solidFill>
                  <a:srgbClr val="C9D3DF"/>
                </a:solidFill>
                <a:latin typeface="Arial"/>
                <a:ea typeface="Arial"/>
                <a:cs typeface="Arial"/>
              </a:rPr>
              <a:t>04</a:t>
            </a:r>
          </a:p>
        </p:txBody>
      </p:sp>
      <p:sp>
        <p:nvSpPr>
          <p:cNvPr id="8" name="01">
            <a:extLst xmlns:a="http://schemas.openxmlformats.org/drawingml/2006/main">
              <a:ext uri="{FF2B5EF4-FFF2-40B4-BE49-F238E27FC236}">
                <a16:creationId xmlns:a16="http://schemas.microsoft.com/office/drawing/2014/main" id="{7996B029-FBED-4293-B0CC-157AFDCCB33D}"/>
              </a:ext>
            </a:extLst>
          </p:cNvPr>
          <p:cNvSpPr>
            <a:spLocks xmlns:a="http://schemas.openxmlformats.org/drawingml/2006/main" noGrp="1"/>
          </p:cNvSpPr>
          <p:nvPr/>
        </p:nvSpPr>
        <p:spPr>
          <a:xfrm xmlns:a="http://schemas.openxmlformats.org/drawingml/2006/main">
            <a:off x="609600" y="2552700"/>
            <a:ext cx="2000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7D9FF"/>
                </a:solidFill>
                <a:latin typeface="Arial"/>
                <a:ea typeface="Arial"/>
                <a:cs typeface="Arial"/>
              </a:defRPr>
            </a:pPr>
            <a:r>
              <a:rPr sz="1950" b="0">
                <a:solidFill>
                  <a:srgbClr val="67D9FF"/>
                </a:solidFill>
                <a:latin typeface="Arial"/>
                <a:ea typeface="Arial"/>
                <a:cs typeface="Arial"/>
              </a:rPr>
              <a:t>01</a:t>
            </a:r>
          </a:p>
        </p:txBody>
      </p:sp>
      <p:sp>
        <p:nvSpPr>
          <p:cNvPr id="9" name="Discover">
            <a:extLst xmlns:a="http://schemas.openxmlformats.org/drawingml/2006/main">
              <a:ext uri="{FF2B5EF4-FFF2-40B4-BE49-F238E27FC236}">
                <a16:creationId xmlns:a16="http://schemas.microsoft.com/office/drawing/2014/main" id="{01BEE4EA-437C-4775-B161-4AF4F77DAE6F}"/>
              </a:ext>
            </a:extLst>
          </p:cNvPr>
          <p:cNvSpPr>
            <a:spLocks xmlns:a="http://schemas.openxmlformats.org/drawingml/2006/main" noGrp="1"/>
          </p:cNvSpPr>
          <p:nvPr/>
        </p:nvSpPr>
        <p:spPr>
          <a:xfrm xmlns:a="http://schemas.openxmlformats.org/drawingml/2006/main">
            <a:off x="609600" y="3371850"/>
            <a:ext cx="2247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4F7FB"/>
                </a:solidFill>
                <a:latin typeface="Arial"/>
                <a:ea typeface="Arial"/>
                <a:cs typeface="Arial"/>
              </a:defRPr>
            </a:pPr>
            <a:r>
              <a:rPr sz="2550" b="1">
                <a:solidFill>
                  <a:srgbClr val="F4F7FB"/>
                </a:solidFill>
                <a:latin typeface="Arial"/>
                <a:ea typeface="Arial"/>
                <a:cs typeface="Arial"/>
              </a:rPr>
              <a:t>Discover</a:t>
            </a:r>
          </a:p>
        </p:txBody>
      </p:sp>
      <p:sp>
        <p:nvSpPr>
          <p:cNvPr id="10" name="Mengenali&#10;masalah">
            <a:extLst xmlns:a="http://schemas.openxmlformats.org/drawingml/2006/main">
              <a:ext uri="{FF2B5EF4-FFF2-40B4-BE49-F238E27FC236}">
                <a16:creationId xmlns:a16="http://schemas.microsoft.com/office/drawing/2014/main" id="{8E5D9DD8-BA5F-4957-BB71-BE45620DBD9A}"/>
              </a:ext>
            </a:extLst>
          </p:cNvPr>
          <p:cNvSpPr>
            <a:spLocks xmlns:a="http://schemas.openxmlformats.org/drawingml/2006/main" noGrp="1"/>
          </p:cNvSpPr>
          <p:nvPr/>
        </p:nvSpPr>
        <p:spPr>
          <a:xfrm xmlns:a="http://schemas.openxmlformats.org/drawingml/2006/main">
            <a:off x="609600" y="4429125"/>
            <a:ext cx="2266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3DF"/>
                </a:solidFill>
                <a:latin typeface="Arial"/>
                <a:ea typeface="Arial"/>
                <a:cs typeface="Arial"/>
              </a:defRPr>
            </a:pPr>
            <a:r>
              <a:rPr sz="1950" b="0">
                <a:solidFill>
                  <a:srgbClr val="C9D3DF"/>
                </a:solidFill>
                <a:latin typeface="Arial"/>
                <a:ea typeface="Arial"/>
                <a:cs typeface="Arial"/>
              </a:rPr>
              <a:t>Mengenali</a:t>
            </a:r>
          </a:p>
          <a:p xmlns:a="http://schemas.openxmlformats.org/drawingml/2006/main">
            <a:pPr algn="l">
              <a:defRPr sz="1950" b="0">
                <a:solidFill>
                  <a:srgbClr val="C9D3DF"/>
                </a:solidFill>
                <a:latin typeface="Arial"/>
                <a:ea typeface="Arial"/>
                <a:cs typeface="Arial"/>
              </a:defRPr>
            </a:pPr>
            <a:r>
              <a:rPr sz="1950" b="0">
                <a:solidFill>
                  <a:srgbClr val="C9D3DF"/>
                </a:solidFill>
                <a:latin typeface="Arial"/>
                <a:ea typeface="Arial"/>
                <a:cs typeface="Arial"/>
              </a:rPr>
              <a:t>masalah</a:t>
            </a:r>
          </a:p>
        </p:txBody>
      </p:sp>
      <p:sp>
        <p:nvSpPr>
          <p:cNvPr id="11" name="02">
            <a:extLst xmlns:a="http://schemas.openxmlformats.org/drawingml/2006/main">
              <a:ext uri="{FF2B5EF4-FFF2-40B4-BE49-F238E27FC236}">
                <a16:creationId xmlns:a16="http://schemas.microsoft.com/office/drawing/2014/main" id="{54D388AF-661F-415E-90D8-AC3A234C8EBF}"/>
              </a:ext>
            </a:extLst>
          </p:cNvPr>
          <p:cNvSpPr>
            <a:spLocks xmlns:a="http://schemas.openxmlformats.org/drawingml/2006/main" noGrp="1"/>
          </p:cNvSpPr>
          <p:nvPr/>
        </p:nvSpPr>
        <p:spPr>
          <a:xfrm xmlns:a="http://schemas.openxmlformats.org/drawingml/2006/main">
            <a:off x="3390900" y="2552700"/>
            <a:ext cx="2000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7D9FF"/>
                </a:solidFill>
                <a:latin typeface="Arial"/>
                <a:ea typeface="Arial"/>
                <a:cs typeface="Arial"/>
              </a:defRPr>
            </a:pPr>
            <a:r>
              <a:rPr sz="1950" b="0">
                <a:solidFill>
                  <a:srgbClr val="67D9FF"/>
                </a:solidFill>
                <a:latin typeface="Arial"/>
                <a:ea typeface="Arial"/>
                <a:cs typeface="Arial"/>
              </a:rPr>
              <a:t>02</a:t>
            </a:r>
          </a:p>
        </p:txBody>
      </p:sp>
      <p:sp>
        <p:nvSpPr>
          <p:cNvPr id="12" name="Learn">
            <a:extLst xmlns:a="http://schemas.openxmlformats.org/drawingml/2006/main">
              <a:ext uri="{FF2B5EF4-FFF2-40B4-BE49-F238E27FC236}">
                <a16:creationId xmlns:a16="http://schemas.microsoft.com/office/drawing/2014/main" id="{912C92C2-FF67-4115-8BAF-2B20929DFA83}"/>
              </a:ext>
            </a:extLst>
          </p:cNvPr>
          <p:cNvSpPr>
            <a:spLocks xmlns:a="http://schemas.openxmlformats.org/drawingml/2006/main" noGrp="1"/>
          </p:cNvSpPr>
          <p:nvPr/>
        </p:nvSpPr>
        <p:spPr>
          <a:xfrm xmlns:a="http://schemas.openxmlformats.org/drawingml/2006/main">
            <a:off x="3390900" y="3371850"/>
            <a:ext cx="2247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4F7FB"/>
                </a:solidFill>
                <a:latin typeface="Arial"/>
                <a:ea typeface="Arial"/>
                <a:cs typeface="Arial"/>
              </a:defRPr>
            </a:pPr>
            <a:r>
              <a:rPr sz="2550" b="1">
                <a:solidFill>
                  <a:srgbClr val="F4F7FB"/>
                </a:solidFill>
                <a:latin typeface="Arial"/>
                <a:ea typeface="Arial"/>
                <a:cs typeface="Arial"/>
              </a:rPr>
              <a:t>Learn</a:t>
            </a:r>
          </a:p>
        </p:txBody>
      </p:sp>
      <p:sp>
        <p:nvSpPr>
          <p:cNvPr id="13" name="Memahami&#10;solusi">
            <a:extLst xmlns:a="http://schemas.openxmlformats.org/drawingml/2006/main">
              <a:ext uri="{FF2B5EF4-FFF2-40B4-BE49-F238E27FC236}">
                <a16:creationId xmlns:a16="http://schemas.microsoft.com/office/drawing/2014/main" id="{5C27B515-687D-4949-BDE5-D1B67757B998}"/>
              </a:ext>
            </a:extLst>
          </p:cNvPr>
          <p:cNvSpPr>
            <a:spLocks xmlns:a="http://schemas.openxmlformats.org/drawingml/2006/main" noGrp="1"/>
          </p:cNvSpPr>
          <p:nvPr/>
        </p:nvSpPr>
        <p:spPr>
          <a:xfrm xmlns:a="http://schemas.openxmlformats.org/drawingml/2006/main">
            <a:off x="3390900" y="4429125"/>
            <a:ext cx="2266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3DF"/>
                </a:solidFill>
                <a:latin typeface="Arial"/>
                <a:ea typeface="Arial"/>
                <a:cs typeface="Arial"/>
              </a:defRPr>
            </a:pPr>
            <a:r>
              <a:rPr sz="1950" b="0">
                <a:solidFill>
                  <a:srgbClr val="C9D3DF"/>
                </a:solidFill>
                <a:latin typeface="Arial"/>
                <a:ea typeface="Arial"/>
                <a:cs typeface="Arial"/>
              </a:rPr>
              <a:t>Memahami</a:t>
            </a:r>
          </a:p>
          <a:p xmlns:a="http://schemas.openxmlformats.org/drawingml/2006/main">
            <a:pPr algn="l">
              <a:defRPr sz="1950" b="0">
                <a:solidFill>
                  <a:srgbClr val="C9D3DF"/>
                </a:solidFill>
                <a:latin typeface="Arial"/>
                <a:ea typeface="Arial"/>
                <a:cs typeface="Arial"/>
              </a:defRPr>
            </a:pPr>
            <a:r>
              <a:rPr sz="1950" b="0">
                <a:solidFill>
                  <a:srgbClr val="C9D3DF"/>
                </a:solidFill>
                <a:latin typeface="Arial"/>
                <a:ea typeface="Arial"/>
                <a:cs typeface="Arial"/>
              </a:rPr>
              <a:t>solusi</a:t>
            </a:r>
          </a:p>
        </p:txBody>
      </p:sp>
      <p:sp>
        <p:nvSpPr>
          <p:cNvPr id="14" name="03">
            <a:extLst xmlns:a="http://schemas.openxmlformats.org/drawingml/2006/main">
              <a:ext uri="{FF2B5EF4-FFF2-40B4-BE49-F238E27FC236}">
                <a16:creationId xmlns:a16="http://schemas.microsoft.com/office/drawing/2014/main" id="{B2F5D818-AD7C-4567-8870-EA8C249981F1}"/>
              </a:ext>
            </a:extLst>
          </p:cNvPr>
          <p:cNvSpPr>
            <a:spLocks xmlns:a="http://schemas.openxmlformats.org/drawingml/2006/main" noGrp="1"/>
          </p:cNvSpPr>
          <p:nvPr/>
        </p:nvSpPr>
        <p:spPr>
          <a:xfrm xmlns:a="http://schemas.openxmlformats.org/drawingml/2006/main">
            <a:off x="6172200" y="2552700"/>
            <a:ext cx="2000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7D9FF"/>
                </a:solidFill>
                <a:latin typeface="Arial"/>
                <a:ea typeface="Arial"/>
                <a:cs typeface="Arial"/>
              </a:defRPr>
            </a:pPr>
            <a:r>
              <a:rPr sz="1950" b="0">
                <a:solidFill>
                  <a:srgbClr val="67D9FF"/>
                </a:solidFill>
                <a:latin typeface="Arial"/>
                <a:ea typeface="Arial"/>
                <a:cs typeface="Arial"/>
              </a:rPr>
              <a:t>03</a:t>
            </a:r>
          </a:p>
        </p:txBody>
      </p:sp>
      <p:sp>
        <p:nvSpPr>
          <p:cNvPr id="15" name="Compare/&#10;Validate">
            <a:extLst xmlns:a="http://schemas.openxmlformats.org/drawingml/2006/main">
              <a:ext uri="{FF2B5EF4-FFF2-40B4-BE49-F238E27FC236}">
                <a16:creationId xmlns:a16="http://schemas.microsoft.com/office/drawing/2014/main" id="{428A2D46-4E57-418D-8528-2FEBA2A9EAAA}"/>
              </a:ext>
            </a:extLst>
          </p:cNvPr>
          <p:cNvSpPr>
            <a:spLocks xmlns:a="http://schemas.openxmlformats.org/drawingml/2006/main" noGrp="1"/>
          </p:cNvSpPr>
          <p:nvPr/>
        </p:nvSpPr>
        <p:spPr>
          <a:xfrm xmlns:a="http://schemas.openxmlformats.org/drawingml/2006/main">
            <a:off x="6172200" y="3371850"/>
            <a:ext cx="2247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4F7FB"/>
                </a:solidFill>
                <a:latin typeface="Arial"/>
                <a:ea typeface="Arial"/>
                <a:cs typeface="Arial"/>
              </a:defRPr>
            </a:pPr>
            <a:r>
              <a:rPr sz="2550" b="1">
                <a:solidFill>
                  <a:srgbClr val="F4F7FB"/>
                </a:solidFill>
                <a:latin typeface="Arial"/>
                <a:ea typeface="Arial"/>
                <a:cs typeface="Arial"/>
              </a:rPr>
              <a:t>Compare/</a:t>
            </a:r>
          </a:p>
          <a:p xmlns:a="http://schemas.openxmlformats.org/drawingml/2006/main">
            <a:pPr algn="l">
              <a:defRPr sz="2550" b="1">
                <a:solidFill>
                  <a:srgbClr val="F4F7FB"/>
                </a:solidFill>
                <a:latin typeface="Arial"/>
                <a:ea typeface="Arial"/>
                <a:cs typeface="Arial"/>
              </a:defRPr>
            </a:pPr>
            <a:r>
              <a:rPr sz="2550" b="1">
                <a:solidFill>
                  <a:srgbClr val="F4F7FB"/>
                </a:solidFill>
                <a:latin typeface="Arial"/>
                <a:ea typeface="Arial"/>
                <a:cs typeface="Arial"/>
              </a:rPr>
              <a:t>Validate</a:t>
            </a:r>
          </a:p>
        </p:txBody>
      </p:sp>
      <p:sp>
        <p:nvSpPr>
          <p:cNvPr id="16" name="Menilai kecocokan&#10;dan bukti">
            <a:extLst xmlns:a="http://schemas.openxmlformats.org/drawingml/2006/main">
              <a:ext uri="{FF2B5EF4-FFF2-40B4-BE49-F238E27FC236}">
                <a16:creationId xmlns:a16="http://schemas.microsoft.com/office/drawing/2014/main" id="{7BBE08D5-A5D1-4145-9D56-7A264610A739}"/>
              </a:ext>
            </a:extLst>
          </p:cNvPr>
          <p:cNvSpPr>
            <a:spLocks xmlns:a="http://schemas.openxmlformats.org/drawingml/2006/main" noGrp="1"/>
          </p:cNvSpPr>
          <p:nvPr/>
        </p:nvSpPr>
        <p:spPr>
          <a:xfrm xmlns:a="http://schemas.openxmlformats.org/drawingml/2006/main">
            <a:off x="6172200" y="4429125"/>
            <a:ext cx="2266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3DF"/>
                </a:solidFill>
                <a:latin typeface="Arial"/>
                <a:ea typeface="Arial"/>
                <a:cs typeface="Arial"/>
              </a:defRPr>
            </a:pPr>
            <a:r>
              <a:rPr sz="1950" b="0">
                <a:solidFill>
                  <a:srgbClr val="C9D3DF"/>
                </a:solidFill>
                <a:latin typeface="Arial"/>
                <a:ea typeface="Arial"/>
                <a:cs typeface="Arial"/>
              </a:rPr>
              <a:t>Menilai kecocokan</a:t>
            </a:r>
          </a:p>
          <a:p xmlns:a="http://schemas.openxmlformats.org/drawingml/2006/main">
            <a:pPr algn="l">
              <a:defRPr sz="1950" b="0">
                <a:solidFill>
                  <a:srgbClr val="C9D3DF"/>
                </a:solidFill>
                <a:latin typeface="Arial"/>
                <a:ea typeface="Arial"/>
                <a:cs typeface="Arial"/>
              </a:defRPr>
            </a:pPr>
            <a:r>
              <a:rPr sz="1950" b="0">
                <a:solidFill>
                  <a:srgbClr val="C9D3DF"/>
                </a:solidFill>
                <a:latin typeface="Arial"/>
                <a:ea typeface="Arial"/>
                <a:cs typeface="Arial"/>
              </a:rPr>
              <a:t>dan bukti</a:t>
            </a:r>
          </a:p>
        </p:txBody>
      </p:sp>
      <p:sp>
        <p:nvSpPr>
          <p:cNvPr id="17" name="04">
            <a:extLst xmlns:a="http://schemas.openxmlformats.org/drawingml/2006/main">
              <a:ext uri="{FF2B5EF4-FFF2-40B4-BE49-F238E27FC236}">
                <a16:creationId xmlns:a16="http://schemas.microsoft.com/office/drawing/2014/main" id="{6A25235A-38D9-49E1-AB65-1E0080228293}"/>
              </a:ext>
            </a:extLst>
          </p:cNvPr>
          <p:cNvSpPr>
            <a:spLocks xmlns:a="http://schemas.openxmlformats.org/drawingml/2006/main" noGrp="1"/>
          </p:cNvSpPr>
          <p:nvPr/>
        </p:nvSpPr>
        <p:spPr>
          <a:xfrm xmlns:a="http://schemas.openxmlformats.org/drawingml/2006/main">
            <a:off x="8953500" y="2552700"/>
            <a:ext cx="2000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7D9FF"/>
                </a:solidFill>
                <a:latin typeface="Arial"/>
                <a:ea typeface="Arial"/>
                <a:cs typeface="Arial"/>
              </a:defRPr>
            </a:pPr>
            <a:r>
              <a:rPr sz="1950" b="0">
                <a:solidFill>
                  <a:srgbClr val="67D9FF"/>
                </a:solidFill>
                <a:latin typeface="Arial"/>
                <a:ea typeface="Arial"/>
                <a:cs typeface="Arial"/>
              </a:rPr>
              <a:t>04</a:t>
            </a:r>
          </a:p>
        </p:txBody>
      </p:sp>
      <p:sp>
        <p:nvSpPr>
          <p:cNvPr id="18" name="Act">
            <a:extLst xmlns:a="http://schemas.openxmlformats.org/drawingml/2006/main">
              <a:ext uri="{FF2B5EF4-FFF2-40B4-BE49-F238E27FC236}">
                <a16:creationId xmlns:a16="http://schemas.microsoft.com/office/drawing/2014/main" id="{1D8A62A0-07C2-41B0-A0DC-72741E174DBC}"/>
              </a:ext>
            </a:extLst>
          </p:cNvPr>
          <p:cNvSpPr>
            <a:spLocks xmlns:a="http://schemas.openxmlformats.org/drawingml/2006/main" noGrp="1"/>
          </p:cNvSpPr>
          <p:nvPr/>
        </p:nvSpPr>
        <p:spPr>
          <a:xfrm xmlns:a="http://schemas.openxmlformats.org/drawingml/2006/main">
            <a:off x="8953500" y="3371850"/>
            <a:ext cx="2247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4F7FB"/>
                </a:solidFill>
                <a:latin typeface="Arial"/>
                <a:ea typeface="Arial"/>
                <a:cs typeface="Arial"/>
              </a:defRPr>
            </a:pPr>
            <a:r>
              <a:rPr sz="2550" b="1">
                <a:solidFill>
                  <a:srgbClr val="F4F7FB"/>
                </a:solidFill>
                <a:latin typeface="Arial"/>
                <a:ea typeface="Arial"/>
                <a:cs typeface="Arial"/>
              </a:rPr>
              <a:t>Act</a:t>
            </a:r>
          </a:p>
        </p:txBody>
      </p:sp>
      <p:sp>
        <p:nvSpPr>
          <p:cNvPr id="19" name="Mengambil&#10;langkah berikutnya">
            <a:extLst xmlns:a="http://schemas.openxmlformats.org/drawingml/2006/main">
              <a:ext uri="{FF2B5EF4-FFF2-40B4-BE49-F238E27FC236}">
                <a16:creationId xmlns:a16="http://schemas.microsoft.com/office/drawing/2014/main" id="{06FB233E-80F7-4382-8C1C-ABC4A6D5272B}"/>
              </a:ext>
            </a:extLst>
          </p:cNvPr>
          <p:cNvSpPr>
            <a:spLocks xmlns:a="http://schemas.openxmlformats.org/drawingml/2006/main" noGrp="1"/>
          </p:cNvSpPr>
          <p:nvPr/>
        </p:nvSpPr>
        <p:spPr>
          <a:xfrm xmlns:a="http://schemas.openxmlformats.org/drawingml/2006/main">
            <a:off x="8953500" y="4429125"/>
            <a:ext cx="2266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3DF"/>
                </a:solidFill>
                <a:latin typeface="Arial"/>
                <a:ea typeface="Arial"/>
                <a:cs typeface="Arial"/>
              </a:defRPr>
            </a:pPr>
            <a:r>
              <a:rPr sz="1950" b="0">
                <a:solidFill>
                  <a:srgbClr val="C9D3DF"/>
                </a:solidFill>
                <a:latin typeface="Arial"/>
                <a:ea typeface="Arial"/>
                <a:cs typeface="Arial"/>
              </a:rPr>
              <a:t>Mengambil</a:t>
            </a:r>
          </a:p>
          <a:p xmlns:a="http://schemas.openxmlformats.org/drawingml/2006/main">
            <a:pPr algn="l">
              <a:defRPr sz="1950" b="0">
                <a:solidFill>
                  <a:srgbClr val="C9D3DF"/>
                </a:solidFill>
                <a:latin typeface="Arial"/>
                <a:ea typeface="Arial"/>
                <a:cs typeface="Arial"/>
              </a:defRPr>
            </a:pPr>
            <a:r>
              <a:rPr sz="1950" b="0">
                <a:solidFill>
                  <a:srgbClr val="C9D3DF"/>
                </a:solidFill>
                <a:latin typeface="Arial"/>
                <a:ea typeface="Arial"/>
                <a:cs typeface="Arial"/>
              </a:rPr>
              <a:t>langkah berikutnya</a:t>
            </a:r>
          </a:p>
        </p:txBody>
      </p:sp>
      <p:cxnSp>
        <p:nvCxnSpPr>
          <p:cNvPr id="44" name=""/>
          <p:cNvCxnSpPr>
            <a:stCxn xmlns:a="http://schemas.openxmlformats.org/drawingml/2006/main" id="9" idx="3"/>
            <a:endCxn xmlns:a="http://schemas.openxmlformats.org/drawingml/2006/main" id="12" idx="1"/>
          </p:cNvCxnSpPr>
          <p:nvPr/>
        </p:nvCxnSpPr>
        <p:spPr>
          <a:xfrm xmlns:a="http://schemas.openxmlformats.org/drawingml/2006/main">
            <a:off x="2857500" y="3848100"/>
            <a:ext cx="533400" cy="0"/>
          </a:xfrm>
          <a:prstGeom xmlns:a="http://schemas.openxmlformats.org/drawingml/2006/main" prst="straightConnector1">
            <a:avLst/>
          </a:prstGeom>
          <a:ln xmlns:a="http://schemas.openxmlformats.org/drawingml/2006/main" w="19050">
            <a:solidFill>
              <a:srgbClr val="67D9FF"/>
            </a:solidFill>
            <a:tailEnd type="triangle" w="sm" len="sm"/>
          </a:ln>
        </p:spPr>
      </p:cxnSp>
      <p:cxnSp>
        <p:nvCxnSpPr>
          <p:cNvPr id="45" name=""/>
          <p:cNvCxnSpPr>
            <a:stCxn xmlns:a="http://schemas.openxmlformats.org/drawingml/2006/main" id="12" idx="3"/>
            <a:endCxn xmlns:a="http://schemas.openxmlformats.org/drawingml/2006/main" id="15" idx="1"/>
          </p:cNvCxnSpPr>
          <p:nvPr/>
        </p:nvCxnSpPr>
        <p:spPr>
          <a:xfrm xmlns:a="http://schemas.openxmlformats.org/drawingml/2006/main">
            <a:off x="5638800" y="3848100"/>
            <a:ext cx="533400" cy="0"/>
          </a:xfrm>
          <a:prstGeom xmlns:a="http://schemas.openxmlformats.org/drawingml/2006/main" prst="straightConnector1">
            <a:avLst/>
          </a:prstGeom>
          <a:ln xmlns:a="http://schemas.openxmlformats.org/drawingml/2006/main" w="19050">
            <a:solidFill>
              <a:srgbClr val="67D9FF"/>
            </a:solidFill>
            <a:tailEnd type="triangle" w="sm" len="sm"/>
          </a:ln>
        </p:spPr>
      </p:cxnSp>
      <p:cxnSp>
        <p:nvCxnSpPr>
          <p:cNvPr id="46" name=""/>
          <p:cNvCxnSpPr>
            <a:stCxn xmlns:a="http://schemas.openxmlformats.org/drawingml/2006/main" id="15" idx="3"/>
            <a:endCxn xmlns:a="http://schemas.openxmlformats.org/drawingml/2006/main" id="18" idx="1"/>
          </p:cNvCxnSpPr>
          <p:nvPr/>
        </p:nvCxnSpPr>
        <p:spPr>
          <a:xfrm xmlns:a="http://schemas.openxmlformats.org/drawingml/2006/main">
            <a:off x="8420100" y="3848100"/>
            <a:ext cx="533400" cy="0"/>
          </a:xfrm>
          <a:prstGeom xmlns:a="http://schemas.openxmlformats.org/drawingml/2006/main" prst="straightConnector1">
            <a:avLst/>
          </a:prstGeom>
          <a:ln xmlns:a="http://schemas.openxmlformats.org/drawingml/2006/main" w="19050">
            <a:solidFill>
              <a:srgbClr val="67D9FF"/>
            </a:solidFill>
            <a:tailEnd type="triangle" w="sm" len="sm"/>
          </a:ln>
        </p:spPr>
      </p:cxnSp>
      <p:cxnSp>
        <p:nvCxnSpPr>
          <p:cNvPr id="47" name=""/>
          <p:cNvCxnSpPr>
            <a:stCxn xmlns:a="http://schemas.openxmlformats.org/drawingml/2006/main" id="15" idx="0"/>
            <a:endCxn xmlns:a="http://schemas.openxmlformats.org/drawingml/2006/main" id="12" idx="0"/>
          </p:cNvCxnSpPr>
          <p:nvPr/>
        </p:nvCxnSpPr>
        <p:spPr>
          <a:xfrm xmlns:a="http://schemas.openxmlformats.org/drawingml/2006/main" flipH="1">
            <a:off x="4514850" y="3371850"/>
            <a:ext cx="2781300" cy="0"/>
          </a:xfrm>
          <a:prstGeom xmlns:a="http://schemas.openxmlformats.org/drawingml/2006/main" prst="curvedConnector2">
            <a:avLst/>
          </a:prstGeom>
          <a:ln xmlns:a="http://schemas.openxmlformats.org/drawingml/2006/main" w="19050">
            <a:solidFill>
              <a:srgbClr val="7A8798"/>
            </a:solidFill>
            <a:tailEnd type="triangle" w="sm" len="sm"/>
          </a:ln>
        </p:spPr>
      </p:cxnSp>
      <p:sp>
        <p:nvSpPr>
          <p:cNvPr id="24" name="Momen dapat berulang atau terlewati">
            <a:extLst xmlns:a="http://schemas.openxmlformats.org/drawingml/2006/main">
              <a:ext uri="{FF2B5EF4-FFF2-40B4-BE49-F238E27FC236}">
                <a16:creationId xmlns:a16="http://schemas.microsoft.com/office/drawing/2014/main" id="{E7F577F2-219D-46E1-81BA-778B56A787CD}"/>
              </a:ext>
            </a:extLst>
          </p:cNvPr>
          <p:cNvSpPr>
            <a:spLocks xmlns:a="http://schemas.openxmlformats.org/drawingml/2006/main" noGrp="1"/>
          </p:cNvSpPr>
          <p:nvPr/>
        </p:nvSpPr>
        <p:spPr>
          <a:xfrm xmlns:a="http://schemas.openxmlformats.org/drawingml/2006/main">
            <a:off x="609600" y="57245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C9D3DF"/>
                </a:solidFill>
                <a:latin typeface="Arial"/>
                <a:ea typeface="Arial"/>
                <a:cs typeface="Arial"/>
              </a:defRPr>
            </a:pPr>
            <a:r>
              <a:rPr sz="1875" b="0">
                <a:solidFill>
                  <a:srgbClr val="C9D3DF"/>
                </a:solidFill>
                <a:latin typeface="Arial"/>
                <a:ea typeface="Arial"/>
                <a:cs typeface="Arial"/>
              </a:rPr>
              <a:t>Momen dapat berulang atau terlewati</a:t>
            </a:r>
          </a:p>
        </p:txBody>
      </p:sp>
    </p:spTree>
    <p:extLst>
      <p:ext uri="{BB962C8B-B14F-4D97-AF65-F5344CB8AC3E}">
        <p14:creationId xmlns:p14="http://schemas.microsoft.com/office/powerpoint/2010/main" val="2145998902"/>
      </p:ext>
    </p:extLst>
  </p:cSld>
</p:sld>
</file>

<file path=ppt/slides/slide5.xml><?xml version="1.0" encoding="utf-8"?>
<p:sld xmlns:p="http://schemas.openxmlformats.org/presentationml/2006/main">
  <p:cSld>
    <p:bg>
      <p:bgPr>
        <a:solidFill xmlns:a="http://schemas.openxmlformats.org/drawingml/2006/main">
          <a:srgbClr val="070B12"/>
        </a:solidFill>
      </p:bgPr>
    </p:bg>
    <p:spTree>
      <p:nvGrpSpPr>
        <p:cNvPr id="1" name=""/>
        <p:cNvGrpSpPr/>
        <p:nvPr/>
      </p:nvGrpSpPr>
      <p:grpSpPr>
        <a:xfrm xmlns:a="http://schemas.openxmlformats.org/drawingml/2006/main"/>
      </p:grpSpPr>
      <p:sp>
        <p:nvSpPr>
          <p:cNvPr id="10" name="KULTIVATE LEARN">
            <a:extLst xmlns:a="http://schemas.openxmlformats.org/drawingml/2006/main">
              <a:ext uri="{FF2B5EF4-FFF2-40B4-BE49-F238E27FC236}">
                <a16:creationId xmlns:a16="http://schemas.microsoft.com/office/drawing/2014/main" id="{68C1CA5E-A85C-432D-BF96-F9BD2361895B}"/>
              </a:ext>
            </a:extLst>
          </p:cNvPr>
          <p:cNvSpPr>
            <a:spLocks xmlns:a="http://schemas.openxmlformats.org/drawingml/2006/main" noGrp="1"/>
          </p:cNvSpPr>
          <p:nvPr/>
        </p:nvSpPr>
        <p:spPr>
          <a:xfrm xmlns:a="http://schemas.openxmlformats.org/drawingml/2006/main">
            <a:off x="609600" y="304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C9D3DF"/>
                </a:solidFill>
                <a:latin typeface="Arial"/>
                <a:ea typeface="Arial"/>
                <a:cs typeface="Arial"/>
              </a:defRPr>
            </a:pPr>
            <a:r>
              <a:rPr sz="1350" b="1">
                <a:solidFill>
                  <a:srgbClr val="C9D3DF"/>
                </a:solidFill>
                <a:latin typeface="Arial"/>
                <a:ea typeface="Arial"/>
                <a:cs typeface="Arial"/>
              </a:rPr>
              <a:t>KULTIVATE LEARN</a:t>
            </a:r>
          </a:p>
        </p:txBody>
      </p:sp>
      <p:sp>
        <p:nvSpPr>
          <p:cNvPr id="2" name="COURSE 01  /  LESSON 01">
            <a:extLst xmlns:a="http://schemas.openxmlformats.org/drawingml/2006/main">
              <a:ext uri="{FF2B5EF4-FFF2-40B4-BE49-F238E27FC236}">
                <a16:creationId xmlns:a16="http://schemas.microsoft.com/office/drawing/2014/main" id="{685AC985-D55E-4C27-BF2F-DDD7307A6E35}"/>
              </a:ext>
            </a:extLst>
          </p:cNvPr>
          <p:cNvSpPr>
            <a:spLocks xmlns:a="http://schemas.openxmlformats.org/drawingml/2006/main" noGrp="1"/>
          </p:cNvSpPr>
          <p:nvPr/>
        </p:nvSpPr>
        <p:spPr>
          <a:xfrm xmlns:a="http://schemas.openxmlformats.org/drawingml/2006/main">
            <a:off x="7620000" y="304800"/>
            <a:ext cx="3962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9D3DF"/>
                </a:solidFill>
                <a:latin typeface="Arial"/>
                <a:ea typeface="Arial"/>
                <a:cs typeface="Arial"/>
              </a:defRPr>
            </a:pPr>
            <a:r>
              <a:rPr sz="1350" b="0">
                <a:solidFill>
                  <a:srgbClr val="C9D3DF"/>
                </a:solidFill>
                <a:latin typeface="Arial"/>
                <a:ea typeface="Arial"/>
                <a:cs typeface="Arial"/>
              </a:rPr>
              <a:t>COURSE 01  /  LESSON 01</a:t>
            </a:r>
          </a:p>
        </p:txBody>
      </p:sp>
      <p:sp>
        <p:nvSpPr>
          <p:cNvPr id="3" name="slide-title">
            <a:extLst xmlns:a="http://schemas.openxmlformats.org/drawingml/2006/main">
              <a:ext uri="{FF2B5EF4-FFF2-40B4-BE49-F238E27FC236}">
                <a16:creationId xmlns:a16="http://schemas.microsoft.com/office/drawing/2014/main" id="{5D350B5F-7D31-4E4C-8D0E-A2590A62A356}"/>
              </a:ext>
            </a:extLst>
          </p:cNvPr>
          <p:cNvSpPr>
            <a:spLocks xmlns:a="http://schemas.openxmlformats.org/drawingml/2006/main" noGrp="1"/>
          </p:cNvSpPr>
          <p:nvPr/>
        </p:nvSpPr>
        <p:spPr>
          <a:xfrm xmlns:a="http://schemas.openxmlformats.org/drawingml/2006/main">
            <a:off x="609600" y="942975"/>
            <a:ext cx="10934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F4F7FB"/>
                </a:solidFill>
                <a:latin typeface="Arial"/>
                <a:ea typeface="Arial"/>
                <a:cs typeface="Arial"/>
              </a:defRPr>
            </a:pPr>
            <a:r>
              <a:rPr sz="3675" b="1">
                <a:solidFill>
                  <a:srgbClr val="F4F7FB"/>
                </a:solidFill>
                <a:latin typeface="Arial"/>
                <a:ea typeface="Arial"/>
                <a:cs typeface="Arial"/>
              </a:rPr>
              <a:t>Informasi mengikuti keputusan pembeli</a:t>
            </a:r>
          </a:p>
        </p:txBody>
      </p:sp>
      <p:sp>
        <p:nvSpPr>
          <p:cNvPr id="4" name="Kultivate framework">
            <a:extLst xmlns:a="http://schemas.openxmlformats.org/drawingml/2006/main">
              <a:ext uri="{FF2B5EF4-FFF2-40B4-BE49-F238E27FC236}">
                <a16:creationId xmlns:a16="http://schemas.microsoft.com/office/drawing/2014/main" id="{2CAD5512-E35D-40D6-BCFE-0AEBB574F805}"/>
              </a:ext>
            </a:extLst>
          </p:cNvPr>
          <p:cNvSpPr>
            <a:spLocks xmlns:a="http://schemas.openxmlformats.org/drawingml/2006/main" noGrp="1"/>
          </p:cNvSpPr>
          <p:nvPr/>
        </p:nvSpPr>
        <p:spPr>
          <a:xfrm xmlns:a="http://schemas.openxmlformats.org/drawingml/2006/main">
            <a:off x="609600" y="20955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7D9FF"/>
                </a:solidFill>
                <a:latin typeface="Arial"/>
                <a:ea typeface="Arial"/>
                <a:cs typeface="Arial"/>
              </a:defRPr>
            </a:pPr>
            <a:r>
              <a:rPr sz="1650" b="0">
                <a:solidFill>
                  <a:srgbClr val="67D9FF"/>
                </a:solidFill>
                <a:latin typeface="Arial"/>
                <a:ea typeface="Arial"/>
                <a:cs typeface="Arial"/>
              </a:rPr>
              <a:t>Kultivate framework</a:t>
            </a:r>
          </a:p>
        </p:txBody>
      </p:sp>
      <p:sp>
        <p:nvSpPr>
          <p:cNvPr id="5" name="separator">
            <a:extLst xmlns:a="http://schemas.openxmlformats.org/drawingml/2006/main">
              <a:ext uri="{FF2B5EF4-FFF2-40B4-BE49-F238E27FC236}">
                <a16:creationId xmlns:a16="http://schemas.microsoft.com/office/drawing/2014/main" id="{7DAEE710-8035-4C44-9A68-67F768408866}"/>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273244"/>
            </a:solidFill>
          </a:ln>
        </p:spPr>
      </p:sp>
      <p:sp>
        <p:nvSpPr>
          <p:cNvPr id="6" name="SEO for Business Growth: From Searc">
            <a:extLst xmlns:a="http://schemas.openxmlformats.org/drawingml/2006/main">
              <a:ext uri="{FF2B5EF4-FFF2-40B4-BE49-F238E27FC236}">
                <a16:creationId xmlns:a16="http://schemas.microsoft.com/office/drawing/2014/main" id="{18907E19-F041-4A97-BD2F-01C1F1C78CF6}"/>
              </a:ext>
            </a:extLst>
          </p:cNvPr>
          <p:cNvSpPr>
            <a:spLocks xmlns:a="http://schemas.openxmlformats.org/drawingml/2006/main" noGrp="1"/>
          </p:cNvSpPr>
          <p:nvPr/>
        </p:nvSpPr>
        <p:spPr>
          <a:xfrm xmlns:a="http://schemas.openxmlformats.org/drawingml/2006/main">
            <a:off x="609600" y="64674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9D3DF"/>
                </a:solidFill>
                <a:latin typeface="Arial"/>
                <a:ea typeface="Arial"/>
                <a:cs typeface="Arial"/>
              </a:defRPr>
            </a:pPr>
            <a:r>
              <a:rPr sz="1200" b="0">
                <a:solidFill>
                  <a:srgbClr val="C9D3DF"/>
                </a:solidFill>
                <a:latin typeface="Arial"/>
                <a:ea typeface="Arial"/>
                <a:cs typeface="Arial"/>
              </a:rPr>
              <a:t>SEO for Business Growth: From Search to Sales</a:t>
            </a:r>
          </a:p>
        </p:txBody>
      </p:sp>
      <p:sp>
        <p:nvSpPr>
          <p:cNvPr id="7" name="05">
            <a:extLst xmlns:a="http://schemas.openxmlformats.org/drawingml/2006/main">
              <a:ext uri="{FF2B5EF4-FFF2-40B4-BE49-F238E27FC236}">
                <a16:creationId xmlns:a16="http://schemas.microsoft.com/office/drawing/2014/main" id="{35C06BD9-E068-4B7C-976A-1ACF6C14BCE8}"/>
              </a:ext>
            </a:extLst>
          </p:cNvPr>
          <p:cNvSpPr>
            <a:spLocks xmlns:a="http://schemas.openxmlformats.org/drawingml/2006/main" noGrp="1"/>
          </p:cNvSpPr>
          <p:nvPr/>
        </p:nvSpPr>
        <p:spPr>
          <a:xfrm xmlns:a="http://schemas.openxmlformats.org/drawingml/2006/main">
            <a:off x="11049000" y="64293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C9D3DF"/>
                </a:solidFill>
                <a:latin typeface="Arial"/>
                <a:ea typeface="Arial"/>
                <a:cs typeface="Arial"/>
              </a:defRPr>
            </a:pPr>
            <a:r>
              <a:rPr sz="1500" b="0">
                <a:solidFill>
                  <a:srgbClr val="C9D3DF"/>
                </a:solidFill>
                <a:latin typeface="Arial"/>
                <a:ea typeface="Arial"/>
                <a:cs typeface="Arial"/>
              </a:rPr>
              <a:t>05</a:t>
            </a:r>
          </a:p>
        </p:txBody>
      </p:sp>
      <p:graphicFrame>
        <p:nvGraphicFramePr>
          <p:cNvPr id="17" name=""/>
          <p:cNvGraphicFramePr/>
          <p:nvPr/>
        </p:nvGraphicFramePr>
        <p:xfrm>
          <a:off xmlns:a="http://schemas.openxmlformats.org/drawingml/2006/main" x="609600" y="2762250"/>
          <a:ext xmlns:a="http://schemas.openxmlformats.org/drawingml/2006/main" cx="10972800" cy="2667000"/>
        </p:xfrm>
        <a:graphic xmlns:a="http://schemas.openxmlformats.org/drawingml/2006/main">
          <a:graphicData uri="http://schemas.openxmlformats.org/drawingml/2006/table">
            <a:tbl>
              <a:tblPr/>
              <a:tblGrid>
                <a:gridCol w="3524250"/>
                <a:gridCol w="7448550"/>
              </a:tblGrid>
              <a:tr h="666750">
                <a:tc>
                  <a:txBody>
                    <a:bodyPr/>
                    <a:lstStyle/>
                    <a:p>
                      <a:r>
                        <a:rPr sz="2175" b="1">
                          <a:solidFill>
                            <a:srgbClr val="67D9FF"/>
                          </a:solidFill>
                          <a:latin typeface="Arial"/>
                          <a:ea typeface="Arial"/>
                          <a:cs typeface="Arial"/>
                        </a:rPr>
                        <a:t>Discover</a:t>
                      </a:r>
                    </a:p>
                  </a:txBody>
                  <a:tcPr marL="171450" marR="171450" marT="114300" marB="114300" anchor="ctr">
                    <a:solidFill>
                      <a:srgbClr val="070B12"/>
                    </a:solidFill>
                  </a:tcPr>
                </a:tc>
                <a:tc>
                  <a:txBody>
                    <a:bodyPr/>
                    <a:lstStyle/>
                    <a:p>
                      <a:r>
                        <a:rPr sz="2250">
                          <a:solidFill>
                            <a:srgbClr val="F4F7FB"/>
                          </a:solidFill>
                          <a:latin typeface="Arial"/>
                          <a:ea typeface="Arial"/>
                          <a:cs typeface="Arial"/>
                        </a:rPr>
                        <a:t>Masalah apa yang perlu ditangani?</a:t>
                      </a:r>
                    </a:p>
                  </a:txBody>
                  <a:tcPr marL="171450" marR="171450" marT="114300" marB="114300" anchor="ctr">
                    <a:solidFill>
                      <a:srgbClr val="070B12"/>
                    </a:solidFill>
                  </a:tcPr>
                </a:tc>
              </a:tr>
              <a:tr h="666750">
                <a:tc>
                  <a:txBody>
                    <a:bodyPr/>
                    <a:lstStyle/>
                    <a:p>
                      <a:r>
                        <a:rPr sz="2175" b="1">
                          <a:solidFill>
                            <a:srgbClr val="67D9FF"/>
                          </a:solidFill>
                          <a:latin typeface="Arial"/>
                          <a:ea typeface="Arial"/>
                          <a:cs typeface="Arial"/>
                        </a:rPr>
                        <a:t>Learn</a:t>
                      </a:r>
                    </a:p>
                  </a:txBody>
                  <a:tcPr marL="171450" marR="171450" marT="114300" marB="114300" anchor="ctr">
                    <a:solidFill>
                      <a:srgbClr val="070B12"/>
                    </a:solidFill>
                  </a:tcPr>
                </a:tc>
                <a:tc>
                  <a:txBody>
                    <a:bodyPr/>
                    <a:lstStyle/>
                    <a:p>
                      <a:r>
                        <a:rPr sz="2250">
                          <a:solidFill>
                            <a:srgbClr val="F4F7FB"/>
                          </a:solidFill>
                          <a:latin typeface="Arial"/>
                          <a:ea typeface="Arial"/>
                          <a:cs typeface="Arial"/>
                        </a:rPr>
                        <a:t>Bagaimana solusi bekerja?</a:t>
                      </a:r>
                    </a:p>
                  </a:txBody>
                  <a:tcPr marL="171450" marR="171450" marT="114300" marB="114300" anchor="ctr">
                    <a:solidFill>
                      <a:srgbClr val="070B12"/>
                    </a:solidFill>
                  </a:tcPr>
                </a:tc>
              </a:tr>
              <a:tr h="666750">
                <a:tc>
                  <a:txBody>
                    <a:bodyPr/>
                    <a:lstStyle/>
                    <a:p>
                      <a:r>
                        <a:rPr sz="2175" b="1">
                          <a:solidFill>
                            <a:srgbClr val="67D9FF"/>
                          </a:solidFill>
                          <a:latin typeface="Arial"/>
                          <a:ea typeface="Arial"/>
                          <a:cs typeface="Arial"/>
                        </a:rPr>
                        <a:t>Compare/Validate</a:t>
                      </a:r>
                    </a:p>
                  </a:txBody>
                  <a:tcPr marL="171450" marR="171450" marT="114300" marB="114300" anchor="ctr">
                    <a:solidFill>
                      <a:srgbClr val="070B12"/>
                    </a:solidFill>
                  </a:tcPr>
                </a:tc>
                <a:tc>
                  <a:txBody>
                    <a:bodyPr/>
                    <a:lstStyle/>
                    <a:p>
                      <a:r>
                        <a:rPr sz="2250">
                          <a:solidFill>
                            <a:srgbClr val="F4F7FB"/>
                          </a:solidFill>
                          <a:latin typeface="Arial"/>
                          <a:ea typeface="Arial"/>
                          <a:cs typeface="Arial"/>
                        </a:rPr>
                        <a:t>Cocok dan bisa dipercaya?</a:t>
                      </a:r>
                    </a:p>
                  </a:txBody>
                  <a:tcPr marL="171450" marR="171450" marT="114300" marB="114300" anchor="ctr">
                    <a:solidFill>
                      <a:srgbClr val="070B12"/>
                    </a:solidFill>
                  </a:tcPr>
                </a:tc>
              </a:tr>
              <a:tr h="666750">
                <a:tc>
                  <a:txBody>
                    <a:bodyPr/>
                    <a:lstStyle/>
                    <a:p>
                      <a:r>
                        <a:rPr sz="2175" b="1">
                          <a:solidFill>
                            <a:srgbClr val="67D9FF"/>
                          </a:solidFill>
                          <a:latin typeface="Arial"/>
                          <a:ea typeface="Arial"/>
                          <a:cs typeface="Arial"/>
                        </a:rPr>
                        <a:t>Act</a:t>
                      </a:r>
                    </a:p>
                  </a:txBody>
                  <a:tcPr marL="171450" marR="171450" marT="114300" marB="114300" anchor="ctr">
                    <a:solidFill>
                      <a:srgbClr val="070B12"/>
                    </a:solidFill>
                  </a:tcPr>
                </a:tc>
                <a:tc>
                  <a:txBody>
                    <a:bodyPr/>
                    <a:lstStyle/>
                    <a:p>
                      <a:r>
                        <a:rPr sz="2250">
                          <a:solidFill>
                            <a:srgbClr val="F4F7FB"/>
                          </a:solidFill>
                          <a:latin typeface="Arial"/>
                          <a:ea typeface="Arial"/>
                          <a:cs typeface="Arial"/>
                        </a:rPr>
                        <a:t>Bagaimana memulai?</a:t>
                      </a:r>
                    </a:p>
                  </a:txBody>
                  <a:tcPr marL="171450" marR="171450" marT="114300" marB="114300" anchor="ctr">
                    <a:solidFill>
                      <a:srgbClr val="070B12"/>
                    </a:solidFill>
                  </a:tcPr>
                </a:tc>
              </a:tr>
            </a:tbl>
          </a:graphicData>
        </a:graphic>
      </p:graphicFrame>
      <p:sp>
        <p:nvSpPr>
          <p:cNvPr id="9" name="Satu halaman dapat membantu lebih d">
            <a:extLst xmlns:a="http://schemas.openxmlformats.org/drawingml/2006/main">
              <a:ext uri="{FF2B5EF4-FFF2-40B4-BE49-F238E27FC236}">
                <a16:creationId xmlns:a16="http://schemas.microsoft.com/office/drawing/2014/main" id="{F23E5FE1-5A05-4CED-A971-32D012CD6E5A}"/>
              </a:ext>
            </a:extLst>
          </p:cNvPr>
          <p:cNvSpPr>
            <a:spLocks xmlns:a="http://schemas.openxmlformats.org/drawingml/2006/main" noGrp="1"/>
          </p:cNvSpPr>
          <p:nvPr/>
        </p:nvSpPr>
        <p:spPr>
          <a:xfrm xmlns:a="http://schemas.openxmlformats.org/drawingml/2006/main">
            <a:off x="609600" y="57435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3DF"/>
                </a:solidFill>
                <a:latin typeface="Arial"/>
                <a:ea typeface="Arial"/>
                <a:cs typeface="Arial"/>
              </a:defRPr>
            </a:pPr>
            <a:r>
              <a:rPr sz="1950" b="0">
                <a:solidFill>
                  <a:srgbClr val="C9D3DF"/>
                </a:solidFill>
                <a:latin typeface="Arial"/>
                <a:ea typeface="Arial"/>
                <a:cs typeface="Arial"/>
              </a:rPr>
              <a:t>Satu halaman dapat membantu lebih dari satu momen</a:t>
            </a:r>
          </a:p>
        </p:txBody>
      </p:sp>
    </p:spTree>
    <p:extLst>
      <p:ext uri="{BB962C8B-B14F-4D97-AF65-F5344CB8AC3E}">
        <p14:creationId xmlns:p14="http://schemas.microsoft.com/office/powerpoint/2010/main" val="592998061"/>
      </p:ext>
    </p:extLst>
  </p:cSld>
</p:sld>
</file>

<file path=ppt/slides/slide6.xml><?xml version="1.0" encoding="utf-8"?>
<p:sld xmlns:p="http://schemas.openxmlformats.org/presentationml/2006/main">
  <p:cSld>
    <p:bg>
      <p:bgPr>
        <a:solidFill xmlns:a="http://schemas.openxmlformats.org/drawingml/2006/main">
          <a:srgbClr val="070B12"/>
        </a:solidFill>
      </p:bgPr>
    </p:bg>
    <p:spTree>
      <p:nvGrpSpPr>
        <p:cNvPr id="1" name=""/>
        <p:cNvGrpSpPr/>
        <p:nvPr/>
      </p:nvGrpSpPr>
      <p:grpSpPr>
        <a:xfrm xmlns:a="http://schemas.openxmlformats.org/drawingml/2006/main"/>
      </p:grpSpPr>
      <p:sp>
        <p:nvSpPr>
          <p:cNvPr id="25" name="KULTIVATE LEARN">
            <a:extLst xmlns:a="http://schemas.openxmlformats.org/drawingml/2006/main">
              <a:ext uri="{FF2B5EF4-FFF2-40B4-BE49-F238E27FC236}">
                <a16:creationId xmlns:a16="http://schemas.microsoft.com/office/drawing/2014/main" id="{70266801-D411-4CEC-918A-FBCA7EC08B9F}"/>
              </a:ext>
            </a:extLst>
          </p:cNvPr>
          <p:cNvSpPr>
            <a:spLocks xmlns:a="http://schemas.openxmlformats.org/drawingml/2006/main" noGrp="1"/>
          </p:cNvSpPr>
          <p:nvPr/>
        </p:nvSpPr>
        <p:spPr>
          <a:xfrm xmlns:a="http://schemas.openxmlformats.org/drawingml/2006/main">
            <a:off x="609600" y="304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C9D3DF"/>
                </a:solidFill>
                <a:latin typeface="Arial"/>
                <a:ea typeface="Arial"/>
                <a:cs typeface="Arial"/>
              </a:defRPr>
            </a:pPr>
            <a:r>
              <a:rPr sz="1350" b="1">
                <a:solidFill>
                  <a:srgbClr val="C9D3DF"/>
                </a:solidFill>
                <a:latin typeface="Arial"/>
                <a:ea typeface="Arial"/>
                <a:cs typeface="Arial"/>
              </a:rPr>
              <a:t>KULTIVATE LEARN</a:t>
            </a:r>
          </a:p>
        </p:txBody>
      </p:sp>
      <p:sp>
        <p:nvSpPr>
          <p:cNvPr id="2" name="COURSE 01  /  LESSON 01">
            <a:extLst xmlns:a="http://schemas.openxmlformats.org/drawingml/2006/main">
              <a:ext uri="{FF2B5EF4-FFF2-40B4-BE49-F238E27FC236}">
                <a16:creationId xmlns:a16="http://schemas.microsoft.com/office/drawing/2014/main" id="{F8739B04-3617-4B6A-B88B-8C261EF83CB5}"/>
              </a:ext>
            </a:extLst>
          </p:cNvPr>
          <p:cNvSpPr>
            <a:spLocks xmlns:a="http://schemas.openxmlformats.org/drawingml/2006/main" noGrp="1"/>
          </p:cNvSpPr>
          <p:nvPr/>
        </p:nvSpPr>
        <p:spPr>
          <a:xfrm xmlns:a="http://schemas.openxmlformats.org/drawingml/2006/main">
            <a:off x="7620000" y="304800"/>
            <a:ext cx="3962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9D3DF"/>
                </a:solidFill>
                <a:latin typeface="Arial"/>
                <a:ea typeface="Arial"/>
                <a:cs typeface="Arial"/>
              </a:defRPr>
            </a:pPr>
            <a:r>
              <a:rPr sz="1350" b="0">
                <a:solidFill>
                  <a:srgbClr val="C9D3DF"/>
                </a:solidFill>
                <a:latin typeface="Arial"/>
                <a:ea typeface="Arial"/>
                <a:cs typeface="Arial"/>
              </a:rPr>
              <a:t>COURSE 01  /  LESSON 01</a:t>
            </a:r>
          </a:p>
        </p:txBody>
      </p:sp>
      <p:sp>
        <p:nvSpPr>
          <p:cNvPr id="3" name="slide-title">
            <a:extLst xmlns:a="http://schemas.openxmlformats.org/drawingml/2006/main">
              <a:ext uri="{FF2B5EF4-FFF2-40B4-BE49-F238E27FC236}">
                <a16:creationId xmlns:a16="http://schemas.microsoft.com/office/drawing/2014/main" id="{75807B5A-C704-4CB4-A3A7-A70485748AAA}"/>
              </a:ext>
            </a:extLst>
          </p:cNvPr>
          <p:cNvSpPr>
            <a:spLocks xmlns:a="http://schemas.openxmlformats.org/drawingml/2006/main" noGrp="1"/>
          </p:cNvSpPr>
          <p:nvPr/>
        </p:nvSpPr>
        <p:spPr>
          <a:xfrm xmlns:a="http://schemas.openxmlformats.org/drawingml/2006/main">
            <a:off x="609600" y="942975"/>
            <a:ext cx="10934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F4F7FB"/>
                </a:solidFill>
                <a:latin typeface="Arial"/>
                <a:ea typeface="Arial"/>
                <a:cs typeface="Arial"/>
              </a:defRPr>
            </a:pPr>
            <a:r>
              <a:rPr sz="3675" b="1">
                <a:solidFill>
                  <a:srgbClr val="F4F7FB"/>
                </a:solidFill>
                <a:latin typeface="Arial"/>
                <a:ea typeface="Arial"/>
                <a:cs typeface="Arial"/>
              </a:rPr>
              <a:t>Bukti menuju peluang bisnis</a:t>
            </a:r>
          </a:p>
        </p:txBody>
      </p:sp>
      <p:sp>
        <p:nvSpPr>
          <p:cNvPr id="4" name="Kultivate framework  •  Peta pemeri">
            <a:extLst xmlns:a="http://schemas.openxmlformats.org/drawingml/2006/main">
              <a:ext uri="{FF2B5EF4-FFF2-40B4-BE49-F238E27FC236}">
                <a16:creationId xmlns:a16="http://schemas.microsoft.com/office/drawing/2014/main" id="{56134E71-1292-4A84-A389-A491533EE151}"/>
              </a:ext>
            </a:extLst>
          </p:cNvPr>
          <p:cNvSpPr>
            <a:spLocks xmlns:a="http://schemas.openxmlformats.org/drawingml/2006/main" noGrp="1"/>
          </p:cNvSpPr>
          <p:nvPr/>
        </p:nvSpPr>
        <p:spPr>
          <a:xfrm xmlns:a="http://schemas.openxmlformats.org/drawingml/2006/main">
            <a:off x="609600" y="20955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7D9FF"/>
                </a:solidFill>
                <a:latin typeface="Arial"/>
                <a:ea typeface="Arial"/>
                <a:cs typeface="Arial"/>
              </a:defRPr>
            </a:pPr>
            <a:r>
              <a:rPr sz="1650" b="0">
                <a:solidFill>
                  <a:srgbClr val="67D9FF"/>
                </a:solidFill>
                <a:latin typeface="Arial"/>
                <a:ea typeface="Arial"/>
                <a:cs typeface="Arial"/>
              </a:rPr>
              <a:t>Kultivate framework  •  Peta pemeriksaan, bukan funnel terukur</a:t>
            </a:r>
          </a:p>
        </p:txBody>
      </p:sp>
      <p:sp>
        <p:nvSpPr>
          <p:cNvPr id="5" name="separator">
            <a:extLst xmlns:a="http://schemas.openxmlformats.org/drawingml/2006/main">
              <a:ext uri="{FF2B5EF4-FFF2-40B4-BE49-F238E27FC236}">
                <a16:creationId xmlns:a16="http://schemas.microsoft.com/office/drawing/2014/main" id="{C9DA79F6-BB28-4709-847E-2E8AC939B73D}"/>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273244"/>
            </a:solidFill>
          </a:ln>
        </p:spPr>
      </p:sp>
      <p:sp>
        <p:nvSpPr>
          <p:cNvPr id="6" name="SEO for Business Growth: From Searc">
            <a:extLst xmlns:a="http://schemas.openxmlformats.org/drawingml/2006/main">
              <a:ext uri="{FF2B5EF4-FFF2-40B4-BE49-F238E27FC236}">
                <a16:creationId xmlns:a16="http://schemas.microsoft.com/office/drawing/2014/main" id="{6B3BFB53-0B5F-4CD3-A833-7BD0A2E21586}"/>
              </a:ext>
            </a:extLst>
          </p:cNvPr>
          <p:cNvSpPr>
            <a:spLocks xmlns:a="http://schemas.openxmlformats.org/drawingml/2006/main" noGrp="1"/>
          </p:cNvSpPr>
          <p:nvPr/>
        </p:nvSpPr>
        <p:spPr>
          <a:xfrm xmlns:a="http://schemas.openxmlformats.org/drawingml/2006/main">
            <a:off x="609600" y="64674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9D3DF"/>
                </a:solidFill>
                <a:latin typeface="Arial"/>
                <a:ea typeface="Arial"/>
                <a:cs typeface="Arial"/>
              </a:defRPr>
            </a:pPr>
            <a:r>
              <a:rPr sz="1200" b="0">
                <a:solidFill>
                  <a:srgbClr val="C9D3DF"/>
                </a:solidFill>
                <a:latin typeface="Arial"/>
                <a:ea typeface="Arial"/>
                <a:cs typeface="Arial"/>
              </a:rPr>
              <a:t>SEO for Business Growth: From Search to Sales</a:t>
            </a:r>
          </a:p>
        </p:txBody>
      </p:sp>
      <p:sp>
        <p:nvSpPr>
          <p:cNvPr id="7" name="06">
            <a:extLst xmlns:a="http://schemas.openxmlformats.org/drawingml/2006/main">
              <a:ext uri="{FF2B5EF4-FFF2-40B4-BE49-F238E27FC236}">
                <a16:creationId xmlns:a16="http://schemas.microsoft.com/office/drawing/2014/main" id="{388A97B9-4EF3-4273-A41A-A5268CE30B46}"/>
              </a:ext>
            </a:extLst>
          </p:cNvPr>
          <p:cNvSpPr>
            <a:spLocks xmlns:a="http://schemas.openxmlformats.org/drawingml/2006/main" noGrp="1"/>
          </p:cNvSpPr>
          <p:nvPr/>
        </p:nvSpPr>
        <p:spPr>
          <a:xfrm xmlns:a="http://schemas.openxmlformats.org/drawingml/2006/main">
            <a:off x="11049000" y="64293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C9D3DF"/>
                </a:solidFill>
                <a:latin typeface="Arial"/>
                <a:ea typeface="Arial"/>
                <a:cs typeface="Arial"/>
              </a:defRPr>
            </a:pPr>
            <a:r>
              <a:rPr sz="1500" b="0">
                <a:solidFill>
                  <a:srgbClr val="C9D3DF"/>
                </a:solidFill>
                <a:latin typeface="Arial"/>
                <a:ea typeface="Arial"/>
                <a:cs typeface="Arial"/>
              </a:rPr>
              <a:t>06</a:t>
            </a:r>
          </a:p>
        </p:txBody>
      </p:sp>
      <p:sp>
        <p:nvSpPr>
          <p:cNvPr id="8" name="Visibility">
            <a:extLst xmlns:a="http://schemas.openxmlformats.org/drawingml/2006/main">
              <a:ext uri="{FF2B5EF4-FFF2-40B4-BE49-F238E27FC236}">
                <a16:creationId xmlns:a16="http://schemas.microsoft.com/office/drawing/2014/main" id="{2BF11E16-FB9A-42E3-A57E-9AA8D52BBCC6}"/>
              </a:ext>
            </a:extLst>
          </p:cNvPr>
          <p:cNvSpPr>
            <a:spLocks xmlns:a="http://schemas.openxmlformats.org/drawingml/2006/main" noGrp="1"/>
          </p:cNvSpPr>
          <p:nvPr/>
        </p:nvSpPr>
        <p:spPr>
          <a:xfrm xmlns:a="http://schemas.openxmlformats.org/drawingml/2006/main">
            <a:off x="609600" y="3009900"/>
            <a:ext cx="2190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4F7FB"/>
                </a:solidFill>
                <a:latin typeface="Arial"/>
                <a:ea typeface="Arial"/>
                <a:cs typeface="Arial"/>
              </a:defRPr>
            </a:pPr>
            <a:r>
              <a:rPr sz="2550" b="1">
                <a:solidFill>
                  <a:srgbClr val="F4F7FB"/>
                </a:solidFill>
                <a:latin typeface="Arial"/>
                <a:ea typeface="Arial"/>
                <a:cs typeface="Arial"/>
              </a:rPr>
              <a:t>Visibility</a:t>
            </a:r>
          </a:p>
        </p:txBody>
      </p:sp>
      <p:sp>
        <p:nvSpPr>
          <p:cNvPr id="9" name="separator">
            <a:extLst xmlns:a="http://schemas.openxmlformats.org/drawingml/2006/main">
              <a:ext uri="{FF2B5EF4-FFF2-40B4-BE49-F238E27FC236}">
                <a16:creationId xmlns:a16="http://schemas.microsoft.com/office/drawing/2014/main" id="{BC011006-53CC-4BFB-8E0F-35ED8A397F0E}"/>
              </a:ext>
            </a:extLst>
          </p:cNvPr>
          <p:cNvSpPr>
            <a:spLocks xmlns:a="http://schemas.openxmlformats.org/drawingml/2006/main" noGrp="1"/>
          </p:cNvSpPr>
          <p:nvPr/>
        </p:nvSpPr>
        <p:spPr>
          <a:xfrm xmlns:a="http://schemas.openxmlformats.org/drawingml/2006/main">
            <a:off x="609600" y="4257675"/>
            <a:ext cx="2190750" cy="0"/>
          </a:xfrm>
          <a:prstGeom xmlns:a="http://schemas.openxmlformats.org/drawingml/2006/main" prst="line">
            <a:avLst/>
          </a:prstGeom>
          <a:noFill xmlns:a="http://schemas.openxmlformats.org/drawingml/2006/main"/>
          <a:ln xmlns:a="http://schemas.openxmlformats.org/drawingml/2006/main" w="19050">
            <a:solidFill>
              <a:srgbClr val="67D9FF"/>
            </a:solidFill>
          </a:ln>
        </p:spPr>
      </p:sp>
      <p:sp>
        <p:nvSpPr>
          <p:cNvPr id="10" name="Kemunculan">
            <a:extLst xmlns:a="http://schemas.openxmlformats.org/drawingml/2006/main">
              <a:ext uri="{FF2B5EF4-FFF2-40B4-BE49-F238E27FC236}">
                <a16:creationId xmlns:a16="http://schemas.microsoft.com/office/drawing/2014/main" id="{3E3F468E-81EA-438A-99E4-A22969E784BB}"/>
              </a:ext>
            </a:extLst>
          </p:cNvPr>
          <p:cNvSpPr>
            <a:spLocks xmlns:a="http://schemas.openxmlformats.org/drawingml/2006/main" noGrp="1"/>
          </p:cNvSpPr>
          <p:nvPr/>
        </p:nvSpPr>
        <p:spPr>
          <a:xfrm xmlns:a="http://schemas.openxmlformats.org/drawingml/2006/main">
            <a:off x="609600" y="4495800"/>
            <a:ext cx="2190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3DF"/>
                </a:solidFill>
                <a:latin typeface="Arial"/>
                <a:ea typeface="Arial"/>
                <a:cs typeface="Arial"/>
              </a:defRPr>
            </a:pPr>
            <a:r>
              <a:rPr sz="1950" b="0">
                <a:solidFill>
                  <a:srgbClr val="C9D3DF"/>
                </a:solidFill>
                <a:latin typeface="Arial"/>
                <a:ea typeface="Arial"/>
                <a:cs typeface="Arial"/>
              </a:rPr>
              <a:t>Kemunculan</a:t>
            </a:r>
          </a:p>
        </p:txBody>
      </p:sp>
      <p:sp>
        <p:nvSpPr>
          <p:cNvPr id="11" name="Kunjungan&#10;relevan">
            <a:extLst xmlns:a="http://schemas.openxmlformats.org/drawingml/2006/main">
              <a:ext uri="{FF2B5EF4-FFF2-40B4-BE49-F238E27FC236}">
                <a16:creationId xmlns:a16="http://schemas.microsoft.com/office/drawing/2014/main" id="{D5E2FD67-F706-4B78-9411-E8EE99EEC830}"/>
              </a:ext>
            </a:extLst>
          </p:cNvPr>
          <p:cNvSpPr>
            <a:spLocks xmlns:a="http://schemas.openxmlformats.org/drawingml/2006/main" noGrp="1"/>
          </p:cNvSpPr>
          <p:nvPr/>
        </p:nvSpPr>
        <p:spPr>
          <a:xfrm xmlns:a="http://schemas.openxmlformats.org/drawingml/2006/main">
            <a:off x="3400425" y="3009900"/>
            <a:ext cx="2190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4F7FB"/>
                </a:solidFill>
                <a:latin typeface="Arial"/>
                <a:ea typeface="Arial"/>
                <a:cs typeface="Arial"/>
              </a:defRPr>
            </a:pPr>
            <a:r>
              <a:rPr sz="2550" b="1">
                <a:solidFill>
                  <a:srgbClr val="F4F7FB"/>
                </a:solidFill>
                <a:latin typeface="Arial"/>
                <a:ea typeface="Arial"/>
                <a:cs typeface="Arial"/>
              </a:rPr>
              <a:t>Kunjungan</a:t>
            </a:r>
          </a:p>
          <a:p xmlns:a="http://schemas.openxmlformats.org/drawingml/2006/main">
            <a:pPr algn="l">
              <a:defRPr sz="2550" b="1">
                <a:solidFill>
                  <a:srgbClr val="F4F7FB"/>
                </a:solidFill>
                <a:latin typeface="Arial"/>
                <a:ea typeface="Arial"/>
                <a:cs typeface="Arial"/>
              </a:defRPr>
            </a:pPr>
            <a:r>
              <a:rPr sz="2550" b="1">
                <a:solidFill>
                  <a:srgbClr val="F4F7FB"/>
                </a:solidFill>
                <a:latin typeface="Arial"/>
                <a:ea typeface="Arial"/>
                <a:cs typeface="Arial"/>
              </a:rPr>
              <a:t>relevan</a:t>
            </a:r>
          </a:p>
        </p:txBody>
      </p:sp>
      <p:sp>
        <p:nvSpPr>
          <p:cNvPr id="12" name="separator">
            <a:extLst xmlns:a="http://schemas.openxmlformats.org/drawingml/2006/main">
              <a:ext uri="{FF2B5EF4-FFF2-40B4-BE49-F238E27FC236}">
                <a16:creationId xmlns:a16="http://schemas.microsoft.com/office/drawing/2014/main" id="{4040F706-AFEF-4B5D-83D2-54847F89C7F9}"/>
              </a:ext>
            </a:extLst>
          </p:cNvPr>
          <p:cNvSpPr>
            <a:spLocks xmlns:a="http://schemas.openxmlformats.org/drawingml/2006/main" noGrp="1"/>
          </p:cNvSpPr>
          <p:nvPr/>
        </p:nvSpPr>
        <p:spPr>
          <a:xfrm xmlns:a="http://schemas.openxmlformats.org/drawingml/2006/main">
            <a:off x="3400425" y="4257675"/>
            <a:ext cx="2190750" cy="0"/>
          </a:xfrm>
          <a:prstGeom xmlns:a="http://schemas.openxmlformats.org/drawingml/2006/main" prst="line">
            <a:avLst/>
          </a:prstGeom>
          <a:noFill xmlns:a="http://schemas.openxmlformats.org/drawingml/2006/main"/>
          <a:ln xmlns:a="http://schemas.openxmlformats.org/drawingml/2006/main" w="19050">
            <a:solidFill>
              <a:srgbClr val="67D9FF"/>
            </a:solidFill>
          </a:ln>
        </p:spPr>
      </p:sp>
      <p:sp>
        <p:nvSpPr>
          <p:cNvPr id="13" name="Konteks kebutuhan">
            <a:extLst xmlns:a="http://schemas.openxmlformats.org/drawingml/2006/main">
              <a:ext uri="{FF2B5EF4-FFF2-40B4-BE49-F238E27FC236}">
                <a16:creationId xmlns:a16="http://schemas.microsoft.com/office/drawing/2014/main" id="{BE02FF29-62B1-4AA9-AB0E-FF2C4C305ED9}"/>
              </a:ext>
            </a:extLst>
          </p:cNvPr>
          <p:cNvSpPr>
            <a:spLocks xmlns:a="http://schemas.openxmlformats.org/drawingml/2006/main" noGrp="1"/>
          </p:cNvSpPr>
          <p:nvPr/>
        </p:nvSpPr>
        <p:spPr>
          <a:xfrm xmlns:a="http://schemas.openxmlformats.org/drawingml/2006/main">
            <a:off x="3400425" y="4495800"/>
            <a:ext cx="2190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3DF"/>
                </a:solidFill>
                <a:latin typeface="Arial"/>
                <a:ea typeface="Arial"/>
                <a:cs typeface="Arial"/>
              </a:defRPr>
            </a:pPr>
            <a:r>
              <a:rPr sz="1950" b="0">
                <a:solidFill>
                  <a:srgbClr val="C9D3DF"/>
                </a:solidFill>
                <a:latin typeface="Arial"/>
                <a:ea typeface="Arial"/>
                <a:cs typeface="Arial"/>
              </a:rPr>
              <a:t>Konteks kebutuhan</a:t>
            </a:r>
          </a:p>
        </p:txBody>
      </p:sp>
      <p:sp>
        <p:nvSpPr>
          <p:cNvPr id="14" name="Inquiry">
            <a:extLst xmlns:a="http://schemas.openxmlformats.org/drawingml/2006/main">
              <a:ext uri="{FF2B5EF4-FFF2-40B4-BE49-F238E27FC236}">
                <a16:creationId xmlns:a16="http://schemas.microsoft.com/office/drawing/2014/main" id="{67912808-2966-4ED7-93FC-1799E8C5FB4A}"/>
              </a:ext>
            </a:extLst>
          </p:cNvPr>
          <p:cNvSpPr>
            <a:spLocks xmlns:a="http://schemas.openxmlformats.org/drawingml/2006/main" noGrp="1"/>
          </p:cNvSpPr>
          <p:nvPr/>
        </p:nvSpPr>
        <p:spPr>
          <a:xfrm xmlns:a="http://schemas.openxmlformats.org/drawingml/2006/main">
            <a:off x="6191250" y="3009900"/>
            <a:ext cx="2190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4F7FB"/>
                </a:solidFill>
                <a:latin typeface="Arial"/>
                <a:ea typeface="Arial"/>
                <a:cs typeface="Arial"/>
              </a:defRPr>
            </a:pPr>
            <a:r>
              <a:rPr sz="2550" b="1">
                <a:solidFill>
                  <a:srgbClr val="F4F7FB"/>
                </a:solidFill>
                <a:latin typeface="Arial"/>
                <a:ea typeface="Arial"/>
                <a:cs typeface="Arial"/>
              </a:rPr>
              <a:t>Inquiry</a:t>
            </a:r>
          </a:p>
        </p:txBody>
      </p:sp>
      <p:sp>
        <p:nvSpPr>
          <p:cNvPr id="15" name="separator">
            <a:extLst xmlns:a="http://schemas.openxmlformats.org/drawingml/2006/main">
              <a:ext uri="{FF2B5EF4-FFF2-40B4-BE49-F238E27FC236}">
                <a16:creationId xmlns:a16="http://schemas.microsoft.com/office/drawing/2014/main" id="{5B2AD678-812D-4766-B0E8-6E39A7E66FAC}"/>
              </a:ext>
            </a:extLst>
          </p:cNvPr>
          <p:cNvSpPr>
            <a:spLocks xmlns:a="http://schemas.openxmlformats.org/drawingml/2006/main" noGrp="1"/>
          </p:cNvSpPr>
          <p:nvPr/>
        </p:nvSpPr>
        <p:spPr>
          <a:xfrm xmlns:a="http://schemas.openxmlformats.org/drawingml/2006/main">
            <a:off x="6191250" y="4257675"/>
            <a:ext cx="2190750" cy="0"/>
          </a:xfrm>
          <a:prstGeom xmlns:a="http://schemas.openxmlformats.org/drawingml/2006/main" prst="line">
            <a:avLst/>
          </a:prstGeom>
          <a:noFill xmlns:a="http://schemas.openxmlformats.org/drawingml/2006/main"/>
          <a:ln xmlns:a="http://schemas.openxmlformats.org/drawingml/2006/main" w="19050">
            <a:solidFill>
              <a:srgbClr val="67D9FF"/>
            </a:solidFill>
          </a:ln>
        </p:spPr>
      </p:sp>
      <p:sp>
        <p:nvSpPr>
          <p:cNvPr id="16" name="Pesan diterima">
            <a:extLst xmlns:a="http://schemas.openxmlformats.org/drawingml/2006/main">
              <a:ext uri="{FF2B5EF4-FFF2-40B4-BE49-F238E27FC236}">
                <a16:creationId xmlns:a16="http://schemas.microsoft.com/office/drawing/2014/main" id="{685E6AD9-46AA-43A0-A0F0-04659EC7F441}"/>
              </a:ext>
            </a:extLst>
          </p:cNvPr>
          <p:cNvSpPr>
            <a:spLocks xmlns:a="http://schemas.openxmlformats.org/drawingml/2006/main" noGrp="1"/>
          </p:cNvSpPr>
          <p:nvPr/>
        </p:nvSpPr>
        <p:spPr>
          <a:xfrm xmlns:a="http://schemas.openxmlformats.org/drawingml/2006/main">
            <a:off x="6191250" y="4495800"/>
            <a:ext cx="2190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3DF"/>
                </a:solidFill>
                <a:latin typeface="Arial"/>
                <a:ea typeface="Arial"/>
                <a:cs typeface="Arial"/>
              </a:defRPr>
            </a:pPr>
            <a:r>
              <a:rPr sz="1950" b="0">
                <a:solidFill>
                  <a:srgbClr val="C9D3DF"/>
                </a:solidFill>
                <a:latin typeface="Arial"/>
                <a:ea typeface="Arial"/>
                <a:cs typeface="Arial"/>
              </a:rPr>
              <a:t>Pesan diterima</a:t>
            </a:r>
          </a:p>
        </p:txBody>
      </p:sp>
      <p:sp>
        <p:nvSpPr>
          <p:cNvPr id="17" name="Qualified&#10;opportunity">
            <a:extLst xmlns:a="http://schemas.openxmlformats.org/drawingml/2006/main">
              <a:ext uri="{FF2B5EF4-FFF2-40B4-BE49-F238E27FC236}">
                <a16:creationId xmlns:a16="http://schemas.microsoft.com/office/drawing/2014/main" id="{C7CF1D7E-D1CA-4DA6-852F-8F63E5EA1599}"/>
              </a:ext>
            </a:extLst>
          </p:cNvPr>
          <p:cNvSpPr>
            <a:spLocks xmlns:a="http://schemas.openxmlformats.org/drawingml/2006/main" noGrp="1"/>
          </p:cNvSpPr>
          <p:nvPr/>
        </p:nvSpPr>
        <p:spPr>
          <a:xfrm xmlns:a="http://schemas.openxmlformats.org/drawingml/2006/main">
            <a:off x="8982075" y="3009900"/>
            <a:ext cx="2190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4F7FB"/>
                </a:solidFill>
                <a:latin typeface="Arial"/>
                <a:ea typeface="Arial"/>
                <a:cs typeface="Arial"/>
              </a:defRPr>
            </a:pPr>
            <a:r>
              <a:rPr sz="2550" b="1">
                <a:solidFill>
                  <a:srgbClr val="F4F7FB"/>
                </a:solidFill>
                <a:latin typeface="Arial"/>
                <a:ea typeface="Arial"/>
                <a:cs typeface="Arial"/>
              </a:rPr>
              <a:t>Qualified</a:t>
            </a:r>
          </a:p>
          <a:p xmlns:a="http://schemas.openxmlformats.org/drawingml/2006/main">
            <a:pPr algn="l">
              <a:defRPr sz="2550" b="1">
                <a:solidFill>
                  <a:srgbClr val="F4F7FB"/>
                </a:solidFill>
                <a:latin typeface="Arial"/>
                <a:ea typeface="Arial"/>
                <a:cs typeface="Arial"/>
              </a:defRPr>
            </a:pPr>
            <a:r>
              <a:rPr sz="2550" b="1">
                <a:solidFill>
                  <a:srgbClr val="F4F7FB"/>
                </a:solidFill>
                <a:latin typeface="Arial"/>
                <a:ea typeface="Arial"/>
                <a:cs typeface="Arial"/>
              </a:rPr>
              <a:t>opportunity</a:t>
            </a:r>
          </a:p>
        </p:txBody>
      </p:sp>
      <p:sp>
        <p:nvSpPr>
          <p:cNvPr id="18" name="separator">
            <a:extLst xmlns:a="http://schemas.openxmlformats.org/drawingml/2006/main">
              <a:ext uri="{FF2B5EF4-FFF2-40B4-BE49-F238E27FC236}">
                <a16:creationId xmlns:a16="http://schemas.microsoft.com/office/drawing/2014/main" id="{E4D18821-41E7-42EB-87AA-0CD00F4098C0}"/>
              </a:ext>
            </a:extLst>
          </p:cNvPr>
          <p:cNvSpPr>
            <a:spLocks xmlns:a="http://schemas.openxmlformats.org/drawingml/2006/main" noGrp="1"/>
          </p:cNvSpPr>
          <p:nvPr/>
        </p:nvSpPr>
        <p:spPr>
          <a:xfrm xmlns:a="http://schemas.openxmlformats.org/drawingml/2006/main">
            <a:off x="8982075" y="4257675"/>
            <a:ext cx="2190750" cy="0"/>
          </a:xfrm>
          <a:prstGeom xmlns:a="http://schemas.openxmlformats.org/drawingml/2006/main" prst="line">
            <a:avLst/>
          </a:prstGeom>
          <a:noFill xmlns:a="http://schemas.openxmlformats.org/drawingml/2006/main"/>
          <a:ln xmlns:a="http://schemas.openxmlformats.org/drawingml/2006/main" w="19050">
            <a:solidFill>
              <a:srgbClr val="67D9FF"/>
            </a:solidFill>
          </a:ln>
        </p:spPr>
      </p:sp>
      <p:sp>
        <p:nvSpPr>
          <p:cNvPr id="19" name="Kecocokan diperiksa">
            <a:extLst xmlns:a="http://schemas.openxmlformats.org/drawingml/2006/main">
              <a:ext uri="{FF2B5EF4-FFF2-40B4-BE49-F238E27FC236}">
                <a16:creationId xmlns:a16="http://schemas.microsoft.com/office/drawing/2014/main" id="{E53B919B-0C1D-4FE9-A730-99CAC0DF9611}"/>
              </a:ext>
            </a:extLst>
          </p:cNvPr>
          <p:cNvSpPr>
            <a:spLocks xmlns:a="http://schemas.openxmlformats.org/drawingml/2006/main" noGrp="1"/>
          </p:cNvSpPr>
          <p:nvPr/>
        </p:nvSpPr>
        <p:spPr>
          <a:xfrm xmlns:a="http://schemas.openxmlformats.org/drawingml/2006/main">
            <a:off x="8982075" y="4495800"/>
            <a:ext cx="2190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3DF"/>
                </a:solidFill>
                <a:latin typeface="Arial"/>
                <a:ea typeface="Arial"/>
                <a:cs typeface="Arial"/>
              </a:defRPr>
            </a:pPr>
            <a:r>
              <a:rPr sz="1950" b="0">
                <a:solidFill>
                  <a:srgbClr val="C9D3DF"/>
                </a:solidFill>
                <a:latin typeface="Arial"/>
                <a:ea typeface="Arial"/>
                <a:cs typeface="Arial"/>
              </a:rPr>
              <a:t>Kecocokan diperiksa</a:t>
            </a:r>
          </a:p>
        </p:txBody>
      </p: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a:off x="2800350" y="3514725"/>
            <a:ext cx="600075" cy="0"/>
          </a:xfrm>
          <a:prstGeom xmlns:a="http://schemas.openxmlformats.org/drawingml/2006/main" prst="straightConnector1">
            <a:avLst/>
          </a:prstGeom>
          <a:ln xmlns:a="http://schemas.openxmlformats.org/drawingml/2006/main" w="19050">
            <a:solidFill>
              <a:srgbClr val="67D9FF"/>
            </a:solidFill>
            <a:tailEnd type="triangle" w="sm" len="sm"/>
          </a:ln>
        </p:spPr>
      </p:cxnSp>
      <p:cxnSp>
        <p:nvCxnSpPr>
          <p:cNvPr id="45" name=""/>
          <p:cNvCxnSpPr>
            <a:stCxn xmlns:a="http://schemas.openxmlformats.org/drawingml/2006/main" id="11" idx="3"/>
            <a:endCxn xmlns:a="http://schemas.openxmlformats.org/drawingml/2006/main" id="14" idx="1"/>
          </p:cNvCxnSpPr>
          <p:nvPr/>
        </p:nvCxnSpPr>
        <p:spPr>
          <a:xfrm xmlns:a="http://schemas.openxmlformats.org/drawingml/2006/main">
            <a:off x="5591175" y="3514725"/>
            <a:ext cx="600075" cy="0"/>
          </a:xfrm>
          <a:prstGeom xmlns:a="http://schemas.openxmlformats.org/drawingml/2006/main" prst="straightConnector1">
            <a:avLst/>
          </a:prstGeom>
          <a:ln xmlns:a="http://schemas.openxmlformats.org/drawingml/2006/main" w="19050">
            <a:solidFill>
              <a:srgbClr val="67D9FF"/>
            </a:solidFill>
            <a:tailEnd type="triangle" w="sm" len="sm"/>
          </a:ln>
        </p:spPr>
      </p:cxnSp>
      <p:cxnSp>
        <p:nvCxnSpPr>
          <p:cNvPr id="46" name=""/>
          <p:cNvCxnSpPr>
            <a:stCxn xmlns:a="http://schemas.openxmlformats.org/drawingml/2006/main" id="14" idx="3"/>
            <a:endCxn xmlns:a="http://schemas.openxmlformats.org/drawingml/2006/main" id="17" idx="1"/>
          </p:cNvCxnSpPr>
          <p:nvPr/>
        </p:nvCxnSpPr>
        <p:spPr>
          <a:xfrm xmlns:a="http://schemas.openxmlformats.org/drawingml/2006/main">
            <a:off x="8382000" y="3514725"/>
            <a:ext cx="600075" cy="0"/>
          </a:xfrm>
          <a:prstGeom xmlns:a="http://schemas.openxmlformats.org/drawingml/2006/main" prst="straightConnector1">
            <a:avLst/>
          </a:prstGeom>
          <a:ln xmlns:a="http://schemas.openxmlformats.org/drawingml/2006/main" w="19050">
            <a:solidFill>
              <a:srgbClr val="67D9FF"/>
            </a:solidFill>
            <a:tailEnd type="triangle" w="sm" len="sm"/>
          </a:ln>
        </p:spPr>
      </p:cxnSp>
      <p:sp>
        <p:nvSpPr>
          <p:cNvPr id="23" name="Setiap perpindahan perlu bukti">
            <a:extLst xmlns:a="http://schemas.openxmlformats.org/drawingml/2006/main">
              <a:ext uri="{FF2B5EF4-FFF2-40B4-BE49-F238E27FC236}">
                <a16:creationId xmlns:a16="http://schemas.microsoft.com/office/drawing/2014/main" id="{6528A97F-0CC5-4BED-B2DF-EAF7487A3450}"/>
              </a:ext>
            </a:extLst>
          </p:cNvPr>
          <p:cNvSpPr>
            <a:spLocks xmlns:a="http://schemas.openxmlformats.org/drawingml/2006/main" noGrp="1"/>
          </p:cNvSpPr>
          <p:nvPr/>
        </p:nvSpPr>
        <p:spPr>
          <a:xfrm xmlns:a="http://schemas.openxmlformats.org/drawingml/2006/main">
            <a:off x="609600" y="5534025"/>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67D9FF"/>
                </a:solidFill>
                <a:latin typeface="Arial"/>
                <a:ea typeface="Arial"/>
                <a:cs typeface="Arial"/>
              </a:defRPr>
            </a:pPr>
            <a:r>
              <a:rPr sz="2100" b="1">
                <a:solidFill>
                  <a:srgbClr val="67D9FF"/>
                </a:solidFill>
                <a:latin typeface="Arial"/>
                <a:ea typeface="Arial"/>
                <a:cs typeface="Arial"/>
              </a:rPr>
              <a:t>Setiap perpindahan perlu bukti</a:t>
            </a:r>
          </a:p>
        </p:txBody>
      </p:sp>
      <p:sp>
        <p:nvSpPr>
          <p:cNvPr id="24" name="Peluang sesuai belum berarti penjua">
            <a:extLst xmlns:a="http://schemas.openxmlformats.org/drawingml/2006/main">
              <a:ext uri="{FF2B5EF4-FFF2-40B4-BE49-F238E27FC236}">
                <a16:creationId xmlns:a16="http://schemas.microsoft.com/office/drawing/2014/main" id="{E6CAA842-B6E0-4B52-9514-7040BBCCADBB}"/>
              </a:ext>
            </a:extLst>
          </p:cNvPr>
          <p:cNvSpPr>
            <a:spLocks xmlns:a="http://schemas.openxmlformats.org/drawingml/2006/main" noGrp="1"/>
          </p:cNvSpPr>
          <p:nvPr/>
        </p:nvSpPr>
        <p:spPr>
          <a:xfrm xmlns:a="http://schemas.openxmlformats.org/drawingml/2006/main">
            <a:off x="609600" y="5905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D3DF"/>
                </a:solidFill>
                <a:latin typeface="Arial"/>
                <a:ea typeface="Arial"/>
                <a:cs typeface="Arial"/>
              </a:defRPr>
            </a:pPr>
            <a:r>
              <a:rPr sz="1800" b="0">
                <a:solidFill>
                  <a:srgbClr val="C9D3DF"/>
                </a:solidFill>
                <a:latin typeface="Arial"/>
                <a:ea typeface="Arial"/>
                <a:cs typeface="Arial"/>
              </a:rPr>
              <a:t>Peluang sesuai belum berarti penjualan</a:t>
            </a:r>
          </a:p>
        </p:txBody>
      </p:sp>
    </p:spTree>
    <p:extLst>
      <p:ext uri="{BB962C8B-B14F-4D97-AF65-F5344CB8AC3E}">
        <p14:creationId xmlns:p14="http://schemas.microsoft.com/office/powerpoint/2010/main" val="1367024410"/>
      </p:ext>
    </p:extLst>
  </p:cSld>
</p:sld>
</file>

<file path=ppt/slides/slide7.xml><?xml version="1.0" encoding="utf-8"?>
<p:sld xmlns:p="http://schemas.openxmlformats.org/presentationml/2006/main">
  <p:cSld>
    <p:bg>
      <p:bgPr>
        <a:solidFill xmlns:a="http://schemas.openxmlformats.org/drawingml/2006/main">
          <a:srgbClr val="070B12"/>
        </a:solidFill>
      </p:bgPr>
    </p:bg>
    <p:spTree>
      <p:nvGrpSpPr>
        <p:cNvPr id="1" name=""/>
        <p:cNvGrpSpPr/>
        <p:nvPr/>
      </p:nvGrpSpPr>
      <p:grpSpPr>
        <a:xfrm xmlns:a="http://schemas.openxmlformats.org/drawingml/2006/main"/>
      </p:grpSpPr>
      <p:sp>
        <p:nvSpPr>
          <p:cNvPr id="17" name="KULTIVATE LEARN">
            <a:extLst xmlns:a="http://schemas.openxmlformats.org/drawingml/2006/main">
              <a:ext uri="{FF2B5EF4-FFF2-40B4-BE49-F238E27FC236}">
                <a16:creationId xmlns:a16="http://schemas.microsoft.com/office/drawing/2014/main" id="{56AE88B7-F84F-4A7F-935D-425C0900A1DD}"/>
              </a:ext>
            </a:extLst>
          </p:cNvPr>
          <p:cNvSpPr>
            <a:spLocks xmlns:a="http://schemas.openxmlformats.org/drawingml/2006/main" noGrp="1"/>
          </p:cNvSpPr>
          <p:nvPr/>
        </p:nvSpPr>
        <p:spPr>
          <a:xfrm xmlns:a="http://schemas.openxmlformats.org/drawingml/2006/main">
            <a:off x="609600" y="304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C9D3DF"/>
                </a:solidFill>
                <a:latin typeface="Arial"/>
                <a:ea typeface="Arial"/>
                <a:cs typeface="Arial"/>
              </a:defRPr>
            </a:pPr>
            <a:r>
              <a:rPr sz="1350" b="1">
                <a:solidFill>
                  <a:srgbClr val="C9D3DF"/>
                </a:solidFill>
                <a:latin typeface="Arial"/>
                <a:ea typeface="Arial"/>
                <a:cs typeface="Arial"/>
              </a:rPr>
              <a:t>KULTIVATE LEARN</a:t>
            </a:r>
          </a:p>
        </p:txBody>
      </p:sp>
      <p:sp>
        <p:nvSpPr>
          <p:cNvPr id="2" name="COURSE 01  /  LESSON 01">
            <a:extLst xmlns:a="http://schemas.openxmlformats.org/drawingml/2006/main">
              <a:ext uri="{FF2B5EF4-FFF2-40B4-BE49-F238E27FC236}">
                <a16:creationId xmlns:a16="http://schemas.microsoft.com/office/drawing/2014/main" id="{834BC57F-39D4-471C-B6D2-2B48432A7980}"/>
              </a:ext>
            </a:extLst>
          </p:cNvPr>
          <p:cNvSpPr>
            <a:spLocks xmlns:a="http://schemas.openxmlformats.org/drawingml/2006/main" noGrp="1"/>
          </p:cNvSpPr>
          <p:nvPr/>
        </p:nvSpPr>
        <p:spPr>
          <a:xfrm xmlns:a="http://schemas.openxmlformats.org/drawingml/2006/main">
            <a:off x="7620000" y="304800"/>
            <a:ext cx="3962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9D3DF"/>
                </a:solidFill>
                <a:latin typeface="Arial"/>
                <a:ea typeface="Arial"/>
                <a:cs typeface="Arial"/>
              </a:defRPr>
            </a:pPr>
            <a:r>
              <a:rPr sz="1350" b="0">
                <a:solidFill>
                  <a:srgbClr val="C9D3DF"/>
                </a:solidFill>
                <a:latin typeface="Arial"/>
                <a:ea typeface="Arial"/>
                <a:cs typeface="Arial"/>
              </a:rPr>
              <a:t>COURSE 01  /  LESSON 01</a:t>
            </a:r>
          </a:p>
        </p:txBody>
      </p:sp>
      <p:sp>
        <p:nvSpPr>
          <p:cNvPr id="3" name="slide-title">
            <a:extLst xmlns:a="http://schemas.openxmlformats.org/drawingml/2006/main">
              <a:ext uri="{FF2B5EF4-FFF2-40B4-BE49-F238E27FC236}">
                <a16:creationId xmlns:a16="http://schemas.microsoft.com/office/drawing/2014/main" id="{646D38A3-9AB8-4B32-A076-9D1CDBCBA9CC}"/>
              </a:ext>
            </a:extLst>
          </p:cNvPr>
          <p:cNvSpPr>
            <a:spLocks xmlns:a="http://schemas.openxmlformats.org/drawingml/2006/main" noGrp="1"/>
          </p:cNvSpPr>
          <p:nvPr/>
        </p:nvSpPr>
        <p:spPr>
          <a:xfrm xmlns:a="http://schemas.openxmlformats.org/drawingml/2006/main">
            <a:off x="609600" y="942975"/>
            <a:ext cx="10934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F4F7FB"/>
                </a:solidFill>
                <a:latin typeface="Arial"/>
                <a:ea typeface="Arial"/>
                <a:cs typeface="Arial"/>
              </a:defRPr>
            </a:pPr>
            <a:r>
              <a:rPr sz="3675" b="1">
                <a:solidFill>
                  <a:srgbClr val="F4F7FB"/>
                </a:solidFill>
                <a:latin typeface="Arial"/>
                <a:ea typeface="Arial"/>
                <a:cs typeface="Arial"/>
              </a:rPr>
              <a:t>Klik kontak belum membuktikan inquiry</a:t>
            </a:r>
          </a:p>
        </p:txBody>
      </p:sp>
      <p:sp>
        <p:nvSpPr>
          <p:cNvPr id="4" name="Contoh ilustratif">
            <a:extLst xmlns:a="http://schemas.openxmlformats.org/drawingml/2006/main">
              <a:ext uri="{FF2B5EF4-FFF2-40B4-BE49-F238E27FC236}">
                <a16:creationId xmlns:a16="http://schemas.microsoft.com/office/drawing/2014/main" id="{B10BE140-A3DE-41F3-A05E-E2EFC79C08E0}"/>
              </a:ext>
            </a:extLst>
          </p:cNvPr>
          <p:cNvSpPr>
            <a:spLocks xmlns:a="http://schemas.openxmlformats.org/drawingml/2006/main" noGrp="1"/>
          </p:cNvSpPr>
          <p:nvPr/>
        </p:nvSpPr>
        <p:spPr>
          <a:xfrm xmlns:a="http://schemas.openxmlformats.org/drawingml/2006/main">
            <a:off x="609600" y="20955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7D9FF"/>
                </a:solidFill>
                <a:latin typeface="Arial"/>
                <a:ea typeface="Arial"/>
                <a:cs typeface="Arial"/>
              </a:defRPr>
            </a:pPr>
            <a:r>
              <a:rPr sz="1650" b="0">
                <a:solidFill>
                  <a:srgbClr val="67D9FF"/>
                </a:solidFill>
                <a:latin typeface="Arial"/>
                <a:ea typeface="Arial"/>
                <a:cs typeface="Arial"/>
              </a:rPr>
              <a:t>Contoh ilustratif</a:t>
            </a:r>
          </a:p>
        </p:txBody>
      </p:sp>
      <p:sp>
        <p:nvSpPr>
          <p:cNvPr id="5" name="separator">
            <a:extLst xmlns:a="http://schemas.openxmlformats.org/drawingml/2006/main">
              <a:ext uri="{FF2B5EF4-FFF2-40B4-BE49-F238E27FC236}">
                <a16:creationId xmlns:a16="http://schemas.microsoft.com/office/drawing/2014/main" id="{6A9E432B-7D1C-4802-8526-7400699DFFE6}"/>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273244"/>
            </a:solidFill>
          </a:ln>
        </p:spPr>
      </p:sp>
      <p:sp>
        <p:nvSpPr>
          <p:cNvPr id="6" name="SEO for Business Growth: From Searc">
            <a:extLst xmlns:a="http://schemas.openxmlformats.org/drawingml/2006/main">
              <a:ext uri="{FF2B5EF4-FFF2-40B4-BE49-F238E27FC236}">
                <a16:creationId xmlns:a16="http://schemas.microsoft.com/office/drawing/2014/main" id="{BE436D03-08AA-4346-8412-5693C5DEDA50}"/>
              </a:ext>
            </a:extLst>
          </p:cNvPr>
          <p:cNvSpPr>
            <a:spLocks xmlns:a="http://schemas.openxmlformats.org/drawingml/2006/main" noGrp="1"/>
          </p:cNvSpPr>
          <p:nvPr/>
        </p:nvSpPr>
        <p:spPr>
          <a:xfrm xmlns:a="http://schemas.openxmlformats.org/drawingml/2006/main">
            <a:off x="609600" y="64674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9D3DF"/>
                </a:solidFill>
                <a:latin typeface="Arial"/>
                <a:ea typeface="Arial"/>
                <a:cs typeface="Arial"/>
              </a:defRPr>
            </a:pPr>
            <a:r>
              <a:rPr sz="1200" b="0">
                <a:solidFill>
                  <a:srgbClr val="C9D3DF"/>
                </a:solidFill>
                <a:latin typeface="Arial"/>
                <a:ea typeface="Arial"/>
                <a:cs typeface="Arial"/>
              </a:rPr>
              <a:t>SEO for Business Growth: From Search to Sales</a:t>
            </a:r>
          </a:p>
        </p:txBody>
      </p:sp>
      <p:sp>
        <p:nvSpPr>
          <p:cNvPr id="7" name="07">
            <a:extLst xmlns:a="http://schemas.openxmlformats.org/drawingml/2006/main">
              <a:ext uri="{FF2B5EF4-FFF2-40B4-BE49-F238E27FC236}">
                <a16:creationId xmlns:a16="http://schemas.microsoft.com/office/drawing/2014/main" id="{6E18CF94-6FEA-4D59-AEF5-A8B6E4FF9004}"/>
              </a:ext>
            </a:extLst>
          </p:cNvPr>
          <p:cNvSpPr>
            <a:spLocks xmlns:a="http://schemas.openxmlformats.org/drawingml/2006/main" noGrp="1"/>
          </p:cNvSpPr>
          <p:nvPr/>
        </p:nvSpPr>
        <p:spPr>
          <a:xfrm xmlns:a="http://schemas.openxmlformats.org/drawingml/2006/main">
            <a:off x="11049000" y="64293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C9D3DF"/>
                </a:solidFill>
                <a:latin typeface="Arial"/>
                <a:ea typeface="Arial"/>
                <a:cs typeface="Arial"/>
              </a:defRPr>
            </a:pPr>
            <a:r>
              <a:rPr sz="1500" b="0">
                <a:solidFill>
                  <a:srgbClr val="C9D3DF"/>
                </a:solidFill>
                <a:latin typeface="Arial"/>
                <a:ea typeface="Arial"/>
                <a:cs typeface="Arial"/>
              </a:rPr>
              <a:t>07</a:t>
            </a:r>
          </a:p>
        </p:txBody>
      </p:sp>
      <p:sp>
        <p:nvSpPr>
          <p:cNvPr id="8" name="1">
            <a:extLst xmlns:a="http://schemas.openxmlformats.org/drawingml/2006/main">
              <a:ext uri="{FF2B5EF4-FFF2-40B4-BE49-F238E27FC236}">
                <a16:creationId xmlns:a16="http://schemas.microsoft.com/office/drawing/2014/main" id="{692AE849-AEA0-4A57-A03F-2DA3986D03CB}"/>
              </a:ext>
            </a:extLst>
          </p:cNvPr>
          <p:cNvSpPr>
            <a:spLocks xmlns:a="http://schemas.openxmlformats.org/drawingml/2006/main" noGrp="1"/>
          </p:cNvSpPr>
          <p:nvPr/>
        </p:nvSpPr>
        <p:spPr>
          <a:xfrm xmlns:a="http://schemas.openxmlformats.org/drawingml/2006/main">
            <a:off x="619125" y="2838450"/>
            <a:ext cx="95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67D9FF"/>
                </a:solidFill>
                <a:latin typeface="Arial"/>
                <a:ea typeface="Arial"/>
                <a:cs typeface="Arial"/>
              </a:defRPr>
            </a:pPr>
            <a:r>
              <a:rPr sz="3525" b="1">
                <a:solidFill>
                  <a:srgbClr val="67D9FF"/>
                </a:solidFill>
                <a:latin typeface="Arial"/>
                <a:ea typeface="Arial"/>
                <a:cs typeface="Arial"/>
              </a:rPr>
              <a:t>1</a:t>
            </a:r>
          </a:p>
        </p:txBody>
      </p:sp>
      <p:sp>
        <p:nvSpPr>
          <p:cNvPr id="9" name="Klik tombol&#10;kontak">
            <a:extLst xmlns:a="http://schemas.openxmlformats.org/drawingml/2006/main">
              <a:ext uri="{FF2B5EF4-FFF2-40B4-BE49-F238E27FC236}">
                <a16:creationId xmlns:a16="http://schemas.microsoft.com/office/drawing/2014/main" id="{3D439292-EEE1-4B87-8E84-2EEDE81B148B}"/>
              </a:ext>
            </a:extLst>
          </p:cNvPr>
          <p:cNvSpPr>
            <a:spLocks xmlns:a="http://schemas.openxmlformats.org/drawingml/2006/main" noGrp="1"/>
          </p:cNvSpPr>
          <p:nvPr/>
        </p:nvSpPr>
        <p:spPr>
          <a:xfrm xmlns:a="http://schemas.openxmlformats.org/drawingml/2006/main">
            <a:off x="619125" y="3667125"/>
            <a:ext cx="31623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4F7FB"/>
                </a:solidFill>
                <a:latin typeface="Arial"/>
                <a:ea typeface="Arial"/>
                <a:cs typeface="Arial"/>
              </a:defRPr>
            </a:pPr>
            <a:r>
              <a:rPr sz="2700" b="1">
                <a:solidFill>
                  <a:srgbClr val="F4F7FB"/>
                </a:solidFill>
                <a:latin typeface="Arial"/>
                <a:ea typeface="Arial"/>
                <a:cs typeface="Arial"/>
              </a:rPr>
              <a:t>Klik tombol</a:t>
            </a:r>
          </a:p>
          <a:p xmlns:a="http://schemas.openxmlformats.org/drawingml/2006/main">
            <a:pPr algn="l">
              <a:defRPr sz="2700" b="1">
                <a:solidFill>
                  <a:srgbClr val="F4F7FB"/>
                </a:solidFill>
                <a:latin typeface="Arial"/>
                <a:ea typeface="Arial"/>
                <a:cs typeface="Arial"/>
              </a:defRPr>
            </a:pPr>
            <a:r>
              <a:rPr sz="2700" b="1">
                <a:solidFill>
                  <a:srgbClr val="F4F7FB"/>
                </a:solidFill>
                <a:latin typeface="Arial"/>
                <a:ea typeface="Arial"/>
                <a:cs typeface="Arial"/>
              </a:rPr>
              <a:t>kontak</a:t>
            </a:r>
          </a:p>
        </p:txBody>
      </p:sp>
      <p:sp>
        <p:nvSpPr>
          <p:cNvPr id="10" name="2">
            <a:extLst xmlns:a="http://schemas.openxmlformats.org/drawingml/2006/main">
              <a:ext uri="{FF2B5EF4-FFF2-40B4-BE49-F238E27FC236}">
                <a16:creationId xmlns:a16="http://schemas.microsoft.com/office/drawing/2014/main" id="{57449EA2-CD7E-4A0D-B220-4EE5CEA8FBE1}"/>
              </a:ext>
            </a:extLst>
          </p:cNvPr>
          <p:cNvSpPr>
            <a:spLocks xmlns:a="http://schemas.openxmlformats.org/drawingml/2006/main" noGrp="1"/>
          </p:cNvSpPr>
          <p:nvPr/>
        </p:nvSpPr>
        <p:spPr>
          <a:xfrm xmlns:a="http://schemas.openxmlformats.org/drawingml/2006/main">
            <a:off x="4381500" y="2838450"/>
            <a:ext cx="95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67D9FF"/>
                </a:solidFill>
                <a:latin typeface="Arial"/>
                <a:ea typeface="Arial"/>
                <a:cs typeface="Arial"/>
              </a:defRPr>
            </a:pPr>
            <a:r>
              <a:rPr sz="3525" b="1">
                <a:solidFill>
                  <a:srgbClr val="67D9FF"/>
                </a:solidFill>
                <a:latin typeface="Arial"/>
                <a:ea typeface="Arial"/>
                <a:cs typeface="Arial"/>
              </a:rPr>
              <a:t>2</a:t>
            </a:r>
          </a:p>
        </p:txBody>
      </p:sp>
      <p:sp>
        <p:nvSpPr>
          <p:cNvPr id="11" name="Pesan benar-benar&#10;diterima">
            <a:extLst xmlns:a="http://schemas.openxmlformats.org/drawingml/2006/main">
              <a:ext uri="{FF2B5EF4-FFF2-40B4-BE49-F238E27FC236}">
                <a16:creationId xmlns:a16="http://schemas.microsoft.com/office/drawing/2014/main" id="{3B68984B-1068-4C2E-8B00-6183CF4D9116}"/>
              </a:ext>
            </a:extLst>
          </p:cNvPr>
          <p:cNvSpPr>
            <a:spLocks xmlns:a="http://schemas.openxmlformats.org/drawingml/2006/main" noGrp="1"/>
          </p:cNvSpPr>
          <p:nvPr/>
        </p:nvSpPr>
        <p:spPr>
          <a:xfrm xmlns:a="http://schemas.openxmlformats.org/drawingml/2006/main">
            <a:off x="4381500" y="3667125"/>
            <a:ext cx="31623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4F7FB"/>
                </a:solidFill>
                <a:latin typeface="Arial"/>
                <a:ea typeface="Arial"/>
                <a:cs typeface="Arial"/>
              </a:defRPr>
            </a:pPr>
            <a:r>
              <a:rPr sz="2700" b="1">
                <a:solidFill>
                  <a:srgbClr val="F4F7FB"/>
                </a:solidFill>
                <a:latin typeface="Arial"/>
                <a:ea typeface="Arial"/>
                <a:cs typeface="Arial"/>
              </a:rPr>
              <a:t>Pesan benar-benar</a:t>
            </a:r>
          </a:p>
          <a:p xmlns:a="http://schemas.openxmlformats.org/drawingml/2006/main">
            <a:pPr algn="l">
              <a:defRPr sz="2700" b="1">
                <a:solidFill>
                  <a:srgbClr val="F4F7FB"/>
                </a:solidFill>
                <a:latin typeface="Arial"/>
                <a:ea typeface="Arial"/>
                <a:cs typeface="Arial"/>
              </a:defRPr>
            </a:pPr>
            <a:r>
              <a:rPr sz="2700" b="1">
                <a:solidFill>
                  <a:srgbClr val="F4F7FB"/>
                </a:solidFill>
                <a:latin typeface="Arial"/>
                <a:ea typeface="Arial"/>
                <a:cs typeface="Arial"/>
              </a:rPr>
              <a:t>diterima</a:t>
            </a:r>
          </a:p>
        </p:txBody>
      </p:sp>
      <p:sp>
        <p:nvSpPr>
          <p:cNvPr id="12" name="3">
            <a:extLst xmlns:a="http://schemas.openxmlformats.org/drawingml/2006/main">
              <a:ext uri="{FF2B5EF4-FFF2-40B4-BE49-F238E27FC236}">
                <a16:creationId xmlns:a16="http://schemas.microsoft.com/office/drawing/2014/main" id="{70478676-31C7-40C2-A149-5309C7280DC1}"/>
              </a:ext>
            </a:extLst>
          </p:cNvPr>
          <p:cNvSpPr>
            <a:spLocks xmlns:a="http://schemas.openxmlformats.org/drawingml/2006/main" noGrp="1"/>
          </p:cNvSpPr>
          <p:nvPr/>
        </p:nvSpPr>
        <p:spPr>
          <a:xfrm xmlns:a="http://schemas.openxmlformats.org/drawingml/2006/main">
            <a:off x="8143875" y="2838450"/>
            <a:ext cx="95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67D9FF"/>
                </a:solidFill>
                <a:latin typeface="Arial"/>
                <a:ea typeface="Arial"/>
                <a:cs typeface="Arial"/>
              </a:defRPr>
            </a:pPr>
            <a:r>
              <a:rPr sz="3525" b="1">
                <a:solidFill>
                  <a:srgbClr val="67D9FF"/>
                </a:solidFill>
                <a:latin typeface="Arial"/>
                <a:ea typeface="Arial"/>
                <a:cs typeface="Arial"/>
              </a:rPr>
              <a:t>3</a:t>
            </a:r>
          </a:p>
        </p:txBody>
      </p:sp>
      <p:sp>
        <p:nvSpPr>
          <p:cNvPr id="13" name="Kebutuhan&#10;diperiksa tim">
            <a:extLst xmlns:a="http://schemas.openxmlformats.org/drawingml/2006/main">
              <a:ext uri="{FF2B5EF4-FFF2-40B4-BE49-F238E27FC236}">
                <a16:creationId xmlns:a16="http://schemas.microsoft.com/office/drawing/2014/main" id="{4E7FEE6C-ED28-40BF-94E3-D84B1873F3F8}"/>
              </a:ext>
            </a:extLst>
          </p:cNvPr>
          <p:cNvSpPr>
            <a:spLocks xmlns:a="http://schemas.openxmlformats.org/drawingml/2006/main" noGrp="1"/>
          </p:cNvSpPr>
          <p:nvPr/>
        </p:nvSpPr>
        <p:spPr>
          <a:xfrm xmlns:a="http://schemas.openxmlformats.org/drawingml/2006/main">
            <a:off x="8143875" y="3667125"/>
            <a:ext cx="31623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4F7FB"/>
                </a:solidFill>
                <a:latin typeface="Arial"/>
                <a:ea typeface="Arial"/>
                <a:cs typeface="Arial"/>
              </a:defRPr>
            </a:pPr>
            <a:r>
              <a:rPr sz="2700" b="1">
                <a:solidFill>
                  <a:srgbClr val="F4F7FB"/>
                </a:solidFill>
                <a:latin typeface="Arial"/>
                <a:ea typeface="Arial"/>
                <a:cs typeface="Arial"/>
              </a:rPr>
              <a:t>Kebutuhan</a:t>
            </a:r>
          </a:p>
          <a:p xmlns:a="http://schemas.openxmlformats.org/drawingml/2006/main">
            <a:pPr algn="l">
              <a:defRPr sz="2700" b="1">
                <a:solidFill>
                  <a:srgbClr val="F4F7FB"/>
                </a:solidFill>
                <a:latin typeface="Arial"/>
                <a:ea typeface="Arial"/>
                <a:cs typeface="Arial"/>
              </a:defRPr>
            </a:pPr>
            <a:r>
              <a:rPr sz="2700" b="1">
                <a:solidFill>
                  <a:srgbClr val="F4F7FB"/>
                </a:solidFill>
                <a:latin typeface="Arial"/>
                <a:ea typeface="Arial"/>
                <a:cs typeface="Arial"/>
              </a:rPr>
              <a:t>diperiksa tim</a:t>
            </a:r>
          </a:p>
        </p:txBody>
      </p:sp>
      <p:cxnSp>
        <p:nvCxnSpPr>
          <p:cNvPr id="30" name=""/>
          <p:cNvCxnSpPr>
            <a:stCxn xmlns:a="http://schemas.openxmlformats.org/drawingml/2006/main" id="9" idx="3"/>
            <a:endCxn xmlns:a="http://schemas.openxmlformats.org/drawingml/2006/main" id="11" idx="1"/>
          </p:cNvCxnSpPr>
          <p:nvPr/>
        </p:nvCxnSpPr>
        <p:spPr>
          <a:xfrm xmlns:a="http://schemas.openxmlformats.org/drawingml/2006/main">
            <a:off x="3781425" y="4243388"/>
            <a:ext cx="600075" cy="0"/>
          </a:xfrm>
          <a:prstGeom xmlns:a="http://schemas.openxmlformats.org/drawingml/2006/main" prst="straightConnector1">
            <a:avLst/>
          </a:prstGeom>
          <a:ln xmlns:a="http://schemas.openxmlformats.org/drawingml/2006/main" w="19050">
            <a:solidFill>
              <a:srgbClr val="67D9FF"/>
            </a:solidFill>
            <a:tailEnd type="triangle" w="sm" len="sm"/>
          </a:ln>
        </p:spPr>
      </p:cxnSp>
      <p:cxnSp>
        <p:nvCxnSpPr>
          <p:cNvPr id="31" name=""/>
          <p:cNvCxnSpPr>
            <a:stCxn xmlns:a="http://schemas.openxmlformats.org/drawingml/2006/main" id="11" idx="3"/>
            <a:endCxn xmlns:a="http://schemas.openxmlformats.org/drawingml/2006/main" id="13" idx="1"/>
          </p:cNvCxnSpPr>
          <p:nvPr/>
        </p:nvCxnSpPr>
        <p:spPr>
          <a:xfrm xmlns:a="http://schemas.openxmlformats.org/drawingml/2006/main">
            <a:off x="7543800" y="4243388"/>
            <a:ext cx="600075" cy="0"/>
          </a:xfrm>
          <a:prstGeom xmlns:a="http://schemas.openxmlformats.org/drawingml/2006/main" prst="straightConnector1">
            <a:avLst/>
          </a:prstGeom>
          <a:ln xmlns:a="http://schemas.openxmlformats.org/drawingml/2006/main" w="19050">
            <a:solidFill>
              <a:srgbClr val="67D9FF"/>
            </a:solidFill>
            <a:tailEnd type="triangle" w="sm" len="sm"/>
          </a:ln>
        </p:spPr>
      </p:cxnSp>
      <p:sp>
        <p:nvSpPr>
          <p:cNvPr id="16" name="Key event mencatat tindakan penting">
            <a:extLst xmlns:a="http://schemas.openxmlformats.org/drawingml/2006/main">
              <a:ext uri="{FF2B5EF4-FFF2-40B4-BE49-F238E27FC236}">
                <a16:creationId xmlns:a16="http://schemas.microsoft.com/office/drawing/2014/main" id="{9F93EC7C-3267-4B9C-8303-192781DEC3D1}"/>
              </a:ext>
            </a:extLst>
          </p:cNvPr>
          <p:cNvSpPr>
            <a:spLocks xmlns:a="http://schemas.openxmlformats.org/drawingml/2006/main" noGrp="1"/>
          </p:cNvSpPr>
          <p:nvPr/>
        </p:nvSpPr>
        <p:spPr>
          <a:xfrm xmlns:a="http://schemas.openxmlformats.org/drawingml/2006/main">
            <a:off x="619125" y="5391150"/>
            <a:ext cx="1095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C9D3DF"/>
                </a:solidFill>
                <a:latin typeface="Arial"/>
                <a:ea typeface="Arial"/>
                <a:cs typeface="Arial"/>
              </a:defRPr>
            </a:pPr>
            <a:r>
              <a:rPr sz="2325" b="0">
                <a:solidFill>
                  <a:srgbClr val="C9D3DF"/>
                </a:solidFill>
                <a:latin typeface="Arial"/>
                <a:ea typeface="Arial"/>
                <a:cs typeface="Arial"/>
              </a:rPr>
              <a:t>Key event mencatat tindakan penting,</a:t>
            </a:r>
          </a:p>
          <a:p xmlns:a="http://schemas.openxmlformats.org/drawingml/2006/main">
            <a:pPr algn="l">
              <a:defRPr sz="2325" b="0">
                <a:solidFill>
                  <a:srgbClr val="C9D3DF"/>
                </a:solidFill>
                <a:latin typeface="Arial"/>
                <a:ea typeface="Arial"/>
                <a:cs typeface="Arial"/>
              </a:defRPr>
            </a:pPr>
            <a:r>
              <a:rPr sz="2325" b="0">
                <a:solidFill>
                  <a:srgbClr val="C9D3DF"/>
                </a:solidFill>
                <a:latin typeface="Arial"/>
                <a:ea typeface="Arial"/>
                <a:cs typeface="Arial"/>
              </a:rPr>
              <a:t>bukan otomatis peluang yang sesuai</a:t>
            </a:r>
          </a:p>
        </p:txBody>
      </p:sp>
    </p:spTree>
    <p:extLst>
      <p:ext uri="{BB962C8B-B14F-4D97-AF65-F5344CB8AC3E}">
        <p14:creationId xmlns:p14="http://schemas.microsoft.com/office/powerpoint/2010/main" val="297481671"/>
      </p:ext>
    </p:extLst>
  </p:cSld>
</p:sld>
</file>

<file path=ppt/slides/slide8.xml><?xml version="1.0" encoding="utf-8"?>
<p:sld xmlns:p="http://schemas.openxmlformats.org/presentationml/2006/main">
  <p:cSld>
    <p:bg>
      <p:bgPr>
        <a:solidFill xmlns:a="http://schemas.openxmlformats.org/drawingml/2006/main">
          <a:srgbClr val="070B12"/>
        </a:solidFill>
      </p:bgPr>
    </p:bg>
    <p:spTree>
      <p:nvGrpSpPr>
        <p:cNvPr id="1" name=""/>
        <p:cNvGrpSpPr/>
        <p:nvPr/>
      </p:nvGrpSpPr>
      <p:grpSpPr>
        <a:xfrm xmlns:a="http://schemas.openxmlformats.org/drawingml/2006/main"/>
      </p:grpSpPr>
      <p:sp>
        <p:nvSpPr>
          <p:cNvPr id="14" name="KULTIVATE LEARN">
            <a:extLst xmlns:a="http://schemas.openxmlformats.org/drawingml/2006/main">
              <a:ext uri="{FF2B5EF4-FFF2-40B4-BE49-F238E27FC236}">
                <a16:creationId xmlns:a16="http://schemas.microsoft.com/office/drawing/2014/main" id="{D4742F27-A2AA-445A-9650-9B24DCBEE8C3}"/>
              </a:ext>
            </a:extLst>
          </p:cNvPr>
          <p:cNvSpPr>
            <a:spLocks xmlns:a="http://schemas.openxmlformats.org/drawingml/2006/main" noGrp="1"/>
          </p:cNvSpPr>
          <p:nvPr/>
        </p:nvSpPr>
        <p:spPr>
          <a:xfrm xmlns:a="http://schemas.openxmlformats.org/drawingml/2006/main">
            <a:off x="609600" y="304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C9D3DF"/>
                </a:solidFill>
                <a:latin typeface="Arial"/>
                <a:ea typeface="Arial"/>
                <a:cs typeface="Arial"/>
              </a:defRPr>
            </a:pPr>
            <a:r>
              <a:rPr sz="1350" b="1">
                <a:solidFill>
                  <a:srgbClr val="C9D3DF"/>
                </a:solidFill>
                <a:latin typeface="Arial"/>
                <a:ea typeface="Arial"/>
                <a:cs typeface="Arial"/>
              </a:rPr>
              <a:t>KULTIVATE LEARN</a:t>
            </a:r>
          </a:p>
        </p:txBody>
      </p:sp>
      <p:sp>
        <p:nvSpPr>
          <p:cNvPr id="2" name="COURSE 01  /  LESSON 01">
            <a:extLst xmlns:a="http://schemas.openxmlformats.org/drawingml/2006/main">
              <a:ext uri="{FF2B5EF4-FFF2-40B4-BE49-F238E27FC236}">
                <a16:creationId xmlns:a16="http://schemas.microsoft.com/office/drawing/2014/main" id="{204EE3A9-7ED7-4712-A27A-E6DA57310E40}"/>
              </a:ext>
            </a:extLst>
          </p:cNvPr>
          <p:cNvSpPr>
            <a:spLocks xmlns:a="http://schemas.openxmlformats.org/drawingml/2006/main" noGrp="1"/>
          </p:cNvSpPr>
          <p:nvPr/>
        </p:nvSpPr>
        <p:spPr>
          <a:xfrm xmlns:a="http://schemas.openxmlformats.org/drawingml/2006/main">
            <a:off x="7620000" y="304800"/>
            <a:ext cx="3962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9D3DF"/>
                </a:solidFill>
                <a:latin typeface="Arial"/>
                <a:ea typeface="Arial"/>
                <a:cs typeface="Arial"/>
              </a:defRPr>
            </a:pPr>
            <a:r>
              <a:rPr sz="1350" b="0">
                <a:solidFill>
                  <a:srgbClr val="C9D3DF"/>
                </a:solidFill>
                <a:latin typeface="Arial"/>
                <a:ea typeface="Arial"/>
                <a:cs typeface="Arial"/>
              </a:rPr>
              <a:t>COURSE 01  /  LESSON 01</a:t>
            </a:r>
          </a:p>
        </p:txBody>
      </p:sp>
      <p:sp>
        <p:nvSpPr>
          <p:cNvPr id="3" name="slide-title">
            <a:extLst xmlns:a="http://schemas.openxmlformats.org/drawingml/2006/main">
              <a:ext uri="{FF2B5EF4-FFF2-40B4-BE49-F238E27FC236}">
                <a16:creationId xmlns:a16="http://schemas.microsoft.com/office/drawing/2014/main" id="{CF342089-A43C-4E4F-BEE6-7643E7101F6D}"/>
              </a:ext>
            </a:extLst>
          </p:cNvPr>
          <p:cNvSpPr>
            <a:spLocks xmlns:a="http://schemas.openxmlformats.org/drawingml/2006/main" noGrp="1"/>
          </p:cNvSpPr>
          <p:nvPr/>
        </p:nvSpPr>
        <p:spPr>
          <a:xfrm xmlns:a="http://schemas.openxmlformats.org/drawingml/2006/main">
            <a:off x="609600" y="942975"/>
            <a:ext cx="10934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F4F7FB"/>
                </a:solidFill>
                <a:latin typeface="Arial"/>
                <a:ea typeface="Arial"/>
                <a:cs typeface="Arial"/>
              </a:defRPr>
            </a:pPr>
            <a:r>
              <a:rPr sz="3675" b="1">
                <a:solidFill>
                  <a:srgbClr val="F4F7FB"/>
                </a:solidFill>
                <a:latin typeface="Arial"/>
                <a:ea typeface="Arial"/>
                <a:cs typeface="Arial"/>
              </a:rPr>
              <a:t>Contoh perawatan AC kantor</a:t>
            </a:r>
          </a:p>
        </p:txBody>
      </p:sp>
      <p:sp>
        <p:nvSpPr>
          <p:cNvPr id="4" name="Contoh hipotetis  •  Bukan keyword ">
            <a:extLst xmlns:a="http://schemas.openxmlformats.org/drawingml/2006/main">
              <a:ext uri="{FF2B5EF4-FFF2-40B4-BE49-F238E27FC236}">
                <a16:creationId xmlns:a16="http://schemas.microsoft.com/office/drawing/2014/main" id="{58F3F50B-8975-446F-AD56-4A51642393B3}"/>
              </a:ext>
            </a:extLst>
          </p:cNvPr>
          <p:cNvSpPr>
            <a:spLocks xmlns:a="http://schemas.openxmlformats.org/drawingml/2006/main" noGrp="1"/>
          </p:cNvSpPr>
          <p:nvPr/>
        </p:nvSpPr>
        <p:spPr>
          <a:xfrm xmlns:a="http://schemas.openxmlformats.org/drawingml/2006/main">
            <a:off x="609600" y="20955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7D9FF"/>
                </a:solidFill>
                <a:latin typeface="Arial"/>
                <a:ea typeface="Arial"/>
                <a:cs typeface="Arial"/>
              </a:defRPr>
            </a:pPr>
            <a:r>
              <a:rPr sz="1650" b="0">
                <a:solidFill>
                  <a:srgbClr val="67D9FF"/>
                </a:solidFill>
                <a:latin typeface="Arial"/>
                <a:ea typeface="Arial"/>
                <a:cs typeface="Arial"/>
              </a:rPr>
              <a:t>Contoh hipotetis  •  Bukan keyword hasil riset</a:t>
            </a:r>
          </a:p>
        </p:txBody>
      </p:sp>
      <p:sp>
        <p:nvSpPr>
          <p:cNvPr id="5" name="separator">
            <a:extLst xmlns:a="http://schemas.openxmlformats.org/drawingml/2006/main">
              <a:ext uri="{FF2B5EF4-FFF2-40B4-BE49-F238E27FC236}">
                <a16:creationId xmlns:a16="http://schemas.microsoft.com/office/drawing/2014/main" id="{FFA69AFC-AECB-44C7-A889-5FCA46DD8978}"/>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273244"/>
            </a:solidFill>
          </a:ln>
        </p:spPr>
      </p:sp>
      <p:sp>
        <p:nvSpPr>
          <p:cNvPr id="6" name="SEO for Business Growth: From Searc">
            <a:extLst xmlns:a="http://schemas.openxmlformats.org/drawingml/2006/main">
              <a:ext uri="{FF2B5EF4-FFF2-40B4-BE49-F238E27FC236}">
                <a16:creationId xmlns:a16="http://schemas.microsoft.com/office/drawing/2014/main" id="{613A7333-4964-4274-884A-B0E41E6B1970}"/>
              </a:ext>
            </a:extLst>
          </p:cNvPr>
          <p:cNvSpPr>
            <a:spLocks xmlns:a="http://schemas.openxmlformats.org/drawingml/2006/main" noGrp="1"/>
          </p:cNvSpPr>
          <p:nvPr/>
        </p:nvSpPr>
        <p:spPr>
          <a:xfrm xmlns:a="http://schemas.openxmlformats.org/drawingml/2006/main">
            <a:off x="609600" y="64674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9D3DF"/>
                </a:solidFill>
                <a:latin typeface="Arial"/>
                <a:ea typeface="Arial"/>
                <a:cs typeface="Arial"/>
              </a:defRPr>
            </a:pPr>
            <a:r>
              <a:rPr sz="1200" b="0">
                <a:solidFill>
                  <a:srgbClr val="C9D3DF"/>
                </a:solidFill>
                <a:latin typeface="Arial"/>
                <a:ea typeface="Arial"/>
                <a:cs typeface="Arial"/>
              </a:rPr>
              <a:t>SEO for Business Growth: From Search to Sales</a:t>
            </a:r>
          </a:p>
        </p:txBody>
      </p:sp>
      <p:sp>
        <p:nvSpPr>
          <p:cNvPr id="7" name="08">
            <a:extLst xmlns:a="http://schemas.openxmlformats.org/drawingml/2006/main">
              <a:ext uri="{FF2B5EF4-FFF2-40B4-BE49-F238E27FC236}">
                <a16:creationId xmlns:a16="http://schemas.microsoft.com/office/drawing/2014/main" id="{C6AAAA2D-7530-4150-936E-008982C7EA1E}"/>
              </a:ext>
            </a:extLst>
          </p:cNvPr>
          <p:cNvSpPr>
            <a:spLocks xmlns:a="http://schemas.openxmlformats.org/drawingml/2006/main" noGrp="1"/>
          </p:cNvSpPr>
          <p:nvPr/>
        </p:nvSpPr>
        <p:spPr>
          <a:xfrm xmlns:a="http://schemas.openxmlformats.org/drawingml/2006/main">
            <a:off x="11049000" y="64293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C9D3DF"/>
                </a:solidFill>
                <a:latin typeface="Arial"/>
                <a:ea typeface="Arial"/>
                <a:cs typeface="Arial"/>
              </a:defRPr>
            </a:pPr>
            <a:r>
              <a:rPr sz="1500" b="0">
                <a:solidFill>
                  <a:srgbClr val="C9D3DF"/>
                </a:solidFill>
                <a:latin typeface="Arial"/>
                <a:ea typeface="Arial"/>
                <a:cs typeface="Arial"/>
              </a:rPr>
              <a:t>08</a:t>
            </a:r>
          </a:p>
        </p:txBody>
      </p:sp>
      <p:sp>
        <p:nvSpPr>
          <p:cNvPr id="8" name="01  DISCOVER">
            <a:extLst xmlns:a="http://schemas.openxmlformats.org/drawingml/2006/main">
              <a:ext uri="{FF2B5EF4-FFF2-40B4-BE49-F238E27FC236}">
                <a16:creationId xmlns:a16="http://schemas.microsoft.com/office/drawing/2014/main" id="{903E50A3-156B-4887-93E7-9CD773A5CFB3}"/>
              </a:ext>
            </a:extLst>
          </p:cNvPr>
          <p:cNvSpPr>
            <a:spLocks xmlns:a="http://schemas.openxmlformats.org/drawingml/2006/main" noGrp="1"/>
          </p:cNvSpPr>
          <p:nvPr/>
        </p:nvSpPr>
        <p:spPr>
          <a:xfrm xmlns:a="http://schemas.openxmlformats.org/drawingml/2006/main">
            <a:off x="619125" y="28575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67D9FF"/>
                </a:solidFill>
                <a:latin typeface="Arial"/>
                <a:ea typeface="Arial"/>
                <a:cs typeface="Arial"/>
              </a:defRPr>
            </a:pPr>
            <a:r>
              <a:rPr sz="1725" b="1">
                <a:solidFill>
                  <a:srgbClr val="67D9FF"/>
                </a:solidFill>
                <a:latin typeface="Arial"/>
                <a:ea typeface="Arial"/>
                <a:cs typeface="Arial"/>
              </a:rPr>
              <a:t>01  DISCOVER</a:t>
            </a:r>
          </a:p>
        </p:txBody>
      </p:sp>
      <p:sp>
        <p:nvSpPr>
          <p:cNvPr id="9" name="AC kantor&#10;sering bermasalah">
            <a:extLst xmlns:a="http://schemas.openxmlformats.org/drawingml/2006/main">
              <a:ext uri="{FF2B5EF4-FFF2-40B4-BE49-F238E27FC236}">
                <a16:creationId xmlns:a16="http://schemas.microsoft.com/office/drawing/2014/main" id="{F296FB91-1DE2-455D-9723-16B0BA8E3A20}"/>
              </a:ext>
            </a:extLst>
          </p:cNvPr>
          <p:cNvSpPr>
            <a:spLocks xmlns:a="http://schemas.openxmlformats.org/drawingml/2006/main" noGrp="1"/>
          </p:cNvSpPr>
          <p:nvPr/>
        </p:nvSpPr>
        <p:spPr>
          <a:xfrm xmlns:a="http://schemas.openxmlformats.org/drawingml/2006/main">
            <a:off x="619125" y="3448050"/>
            <a:ext cx="4857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4F7FB"/>
                </a:solidFill>
                <a:latin typeface="Arial"/>
                <a:ea typeface="Arial"/>
                <a:cs typeface="Arial"/>
              </a:defRPr>
            </a:pPr>
            <a:r>
              <a:rPr sz="3225" b="1">
                <a:solidFill>
                  <a:srgbClr val="F4F7FB"/>
                </a:solidFill>
                <a:latin typeface="Arial"/>
                <a:ea typeface="Arial"/>
                <a:cs typeface="Arial"/>
              </a:rPr>
              <a:t>AC kantor</a:t>
            </a:r>
          </a:p>
          <a:p xmlns:a="http://schemas.openxmlformats.org/drawingml/2006/main">
            <a:pPr algn="l">
              <a:defRPr sz="3225" b="1">
                <a:solidFill>
                  <a:srgbClr val="F4F7FB"/>
                </a:solidFill>
                <a:latin typeface="Arial"/>
                <a:ea typeface="Arial"/>
                <a:cs typeface="Arial"/>
              </a:defRPr>
            </a:pPr>
            <a:r>
              <a:rPr sz="3225" b="1">
                <a:solidFill>
                  <a:srgbClr val="F4F7FB"/>
                </a:solidFill>
                <a:latin typeface="Arial"/>
                <a:ea typeface="Arial"/>
                <a:cs typeface="Arial"/>
              </a:rPr>
              <a:t>sering bermasalah</a:t>
            </a:r>
          </a:p>
        </p:txBody>
      </p:sp>
      <p:sp>
        <p:nvSpPr>
          <p:cNvPr id="10" name="Perlu memahami masalah">
            <a:extLst xmlns:a="http://schemas.openxmlformats.org/drawingml/2006/main">
              <a:ext uri="{FF2B5EF4-FFF2-40B4-BE49-F238E27FC236}">
                <a16:creationId xmlns:a16="http://schemas.microsoft.com/office/drawing/2014/main" id="{6C5B691B-0A24-4AB6-9807-927D439BE650}"/>
              </a:ext>
            </a:extLst>
          </p:cNvPr>
          <p:cNvSpPr>
            <a:spLocks xmlns:a="http://schemas.openxmlformats.org/drawingml/2006/main" noGrp="1"/>
          </p:cNvSpPr>
          <p:nvPr/>
        </p:nvSpPr>
        <p:spPr>
          <a:xfrm xmlns:a="http://schemas.openxmlformats.org/drawingml/2006/main">
            <a:off x="619125" y="5019675"/>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C9D3DF"/>
                </a:solidFill>
                <a:latin typeface="Arial"/>
                <a:ea typeface="Arial"/>
                <a:cs typeface="Arial"/>
              </a:defRPr>
            </a:pPr>
            <a:r>
              <a:rPr sz="2175" b="0">
                <a:solidFill>
                  <a:srgbClr val="C9D3DF"/>
                </a:solidFill>
                <a:latin typeface="Arial"/>
                <a:ea typeface="Arial"/>
                <a:cs typeface="Arial"/>
              </a:rPr>
              <a:t>Perlu memahami masalah</a:t>
            </a:r>
          </a:p>
        </p:txBody>
      </p:sp>
      <p:sp>
        <p:nvSpPr>
          <p:cNvPr id="11" name="02  LEARN">
            <a:extLst xmlns:a="http://schemas.openxmlformats.org/drawingml/2006/main">
              <a:ext uri="{FF2B5EF4-FFF2-40B4-BE49-F238E27FC236}">
                <a16:creationId xmlns:a16="http://schemas.microsoft.com/office/drawing/2014/main" id="{E44B049D-C2E1-4A0C-A3FB-0D712C7162A0}"/>
              </a:ext>
            </a:extLst>
          </p:cNvPr>
          <p:cNvSpPr>
            <a:spLocks xmlns:a="http://schemas.openxmlformats.org/drawingml/2006/main" noGrp="1"/>
          </p:cNvSpPr>
          <p:nvPr/>
        </p:nvSpPr>
        <p:spPr>
          <a:xfrm xmlns:a="http://schemas.openxmlformats.org/drawingml/2006/main">
            <a:off x="6572250" y="28575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67D9FF"/>
                </a:solidFill>
                <a:latin typeface="Arial"/>
                <a:ea typeface="Arial"/>
                <a:cs typeface="Arial"/>
              </a:defRPr>
            </a:pPr>
            <a:r>
              <a:rPr sz="1725" b="1">
                <a:solidFill>
                  <a:srgbClr val="67D9FF"/>
                </a:solidFill>
                <a:latin typeface="Arial"/>
                <a:ea typeface="Arial"/>
                <a:cs typeface="Arial"/>
              </a:rPr>
              <a:t>02  LEARN</a:t>
            </a:r>
          </a:p>
        </p:txBody>
      </p:sp>
      <p:sp>
        <p:nvSpPr>
          <p:cNvPr id="12" name="Perawatan berkala&#10;mencakup apa">
            <a:extLst xmlns:a="http://schemas.openxmlformats.org/drawingml/2006/main">
              <a:ext uri="{FF2B5EF4-FFF2-40B4-BE49-F238E27FC236}">
                <a16:creationId xmlns:a16="http://schemas.microsoft.com/office/drawing/2014/main" id="{3DFDB6A7-48FC-4F07-B230-F3A28EAEE8C4}"/>
              </a:ext>
            </a:extLst>
          </p:cNvPr>
          <p:cNvSpPr>
            <a:spLocks xmlns:a="http://schemas.openxmlformats.org/drawingml/2006/main" noGrp="1"/>
          </p:cNvSpPr>
          <p:nvPr/>
        </p:nvSpPr>
        <p:spPr>
          <a:xfrm xmlns:a="http://schemas.openxmlformats.org/drawingml/2006/main">
            <a:off x="6572250" y="3448050"/>
            <a:ext cx="4857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4F7FB"/>
                </a:solidFill>
                <a:latin typeface="Arial"/>
                <a:ea typeface="Arial"/>
                <a:cs typeface="Arial"/>
              </a:defRPr>
            </a:pPr>
            <a:r>
              <a:rPr sz="3225" b="1">
                <a:solidFill>
                  <a:srgbClr val="F4F7FB"/>
                </a:solidFill>
                <a:latin typeface="Arial"/>
                <a:ea typeface="Arial"/>
                <a:cs typeface="Arial"/>
              </a:rPr>
              <a:t>Perawatan berkala</a:t>
            </a:r>
          </a:p>
          <a:p xmlns:a="http://schemas.openxmlformats.org/drawingml/2006/main">
            <a:pPr algn="l">
              <a:defRPr sz="3225" b="1">
                <a:solidFill>
                  <a:srgbClr val="F4F7FB"/>
                </a:solidFill>
                <a:latin typeface="Arial"/>
                <a:ea typeface="Arial"/>
                <a:cs typeface="Arial"/>
              </a:defRPr>
            </a:pPr>
            <a:r>
              <a:rPr sz="3225" b="1">
                <a:solidFill>
                  <a:srgbClr val="F4F7FB"/>
                </a:solidFill>
                <a:latin typeface="Arial"/>
                <a:ea typeface="Arial"/>
                <a:cs typeface="Arial"/>
              </a:rPr>
              <a:t>mencakup apa</a:t>
            </a:r>
          </a:p>
        </p:txBody>
      </p:sp>
      <p:sp>
        <p:nvSpPr>
          <p:cNvPr id="13" name="Perlu memahami lingkup layanan">
            <a:extLst xmlns:a="http://schemas.openxmlformats.org/drawingml/2006/main">
              <a:ext uri="{FF2B5EF4-FFF2-40B4-BE49-F238E27FC236}">
                <a16:creationId xmlns:a16="http://schemas.microsoft.com/office/drawing/2014/main" id="{ACED037E-FB94-4E2F-ADDD-1482CEBB951D}"/>
              </a:ext>
            </a:extLst>
          </p:cNvPr>
          <p:cNvSpPr>
            <a:spLocks xmlns:a="http://schemas.openxmlformats.org/drawingml/2006/main" noGrp="1"/>
          </p:cNvSpPr>
          <p:nvPr/>
        </p:nvSpPr>
        <p:spPr>
          <a:xfrm xmlns:a="http://schemas.openxmlformats.org/drawingml/2006/main">
            <a:off x="6572250" y="5019675"/>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C9D3DF"/>
                </a:solidFill>
                <a:latin typeface="Arial"/>
                <a:ea typeface="Arial"/>
                <a:cs typeface="Arial"/>
              </a:defRPr>
            </a:pPr>
            <a:r>
              <a:rPr sz="2175" b="0">
                <a:solidFill>
                  <a:srgbClr val="C9D3DF"/>
                </a:solidFill>
                <a:latin typeface="Arial"/>
                <a:ea typeface="Arial"/>
                <a:cs typeface="Arial"/>
              </a:rPr>
              <a:t>Perlu memahami lingkup layanan</a:t>
            </a:r>
          </a:p>
        </p:txBody>
      </p:sp>
    </p:spTree>
    <p:extLst>
      <p:ext uri="{BB962C8B-B14F-4D97-AF65-F5344CB8AC3E}">
        <p14:creationId xmlns:p14="http://schemas.microsoft.com/office/powerpoint/2010/main" val="141075601"/>
      </p:ext>
    </p:extLst>
  </p:cSld>
</p:sld>
</file>

<file path=ppt/slides/slide9.xml><?xml version="1.0" encoding="utf-8"?>
<p:sld xmlns:p="http://schemas.openxmlformats.org/presentationml/2006/main">
  <p:cSld>
    <p:bg>
      <p:bgPr>
        <a:solidFill xmlns:a="http://schemas.openxmlformats.org/drawingml/2006/main">
          <a:srgbClr val="070B12"/>
        </a:solidFill>
      </p:bgPr>
    </p:bg>
    <p:spTree>
      <p:nvGrpSpPr>
        <p:cNvPr id="1" name=""/>
        <p:cNvGrpSpPr/>
        <p:nvPr/>
      </p:nvGrpSpPr>
      <p:grpSpPr>
        <a:xfrm xmlns:a="http://schemas.openxmlformats.org/drawingml/2006/main"/>
      </p:grpSpPr>
      <p:sp>
        <p:nvSpPr>
          <p:cNvPr id="14" name="KULTIVATE LEARN">
            <a:extLst xmlns:a="http://schemas.openxmlformats.org/drawingml/2006/main">
              <a:ext uri="{FF2B5EF4-FFF2-40B4-BE49-F238E27FC236}">
                <a16:creationId xmlns:a16="http://schemas.microsoft.com/office/drawing/2014/main" id="{F6D71684-E1D1-415C-8740-A6960E06F48E}"/>
              </a:ext>
            </a:extLst>
          </p:cNvPr>
          <p:cNvSpPr>
            <a:spLocks xmlns:a="http://schemas.openxmlformats.org/drawingml/2006/main" noGrp="1"/>
          </p:cNvSpPr>
          <p:nvPr/>
        </p:nvSpPr>
        <p:spPr>
          <a:xfrm xmlns:a="http://schemas.openxmlformats.org/drawingml/2006/main">
            <a:off x="609600" y="304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C9D3DF"/>
                </a:solidFill>
                <a:latin typeface="Arial"/>
                <a:ea typeface="Arial"/>
                <a:cs typeface="Arial"/>
              </a:defRPr>
            </a:pPr>
            <a:r>
              <a:rPr sz="1350" b="1">
                <a:solidFill>
                  <a:srgbClr val="C9D3DF"/>
                </a:solidFill>
                <a:latin typeface="Arial"/>
                <a:ea typeface="Arial"/>
                <a:cs typeface="Arial"/>
              </a:rPr>
              <a:t>KULTIVATE LEARN</a:t>
            </a:r>
          </a:p>
        </p:txBody>
      </p:sp>
      <p:sp>
        <p:nvSpPr>
          <p:cNvPr id="2" name="COURSE 01  /  LESSON 01">
            <a:extLst xmlns:a="http://schemas.openxmlformats.org/drawingml/2006/main">
              <a:ext uri="{FF2B5EF4-FFF2-40B4-BE49-F238E27FC236}">
                <a16:creationId xmlns:a16="http://schemas.microsoft.com/office/drawing/2014/main" id="{FEDF3568-672B-4513-8A41-8888F60D03A9}"/>
              </a:ext>
            </a:extLst>
          </p:cNvPr>
          <p:cNvSpPr>
            <a:spLocks xmlns:a="http://schemas.openxmlformats.org/drawingml/2006/main" noGrp="1"/>
          </p:cNvSpPr>
          <p:nvPr/>
        </p:nvSpPr>
        <p:spPr>
          <a:xfrm xmlns:a="http://schemas.openxmlformats.org/drawingml/2006/main">
            <a:off x="7620000" y="304800"/>
            <a:ext cx="3962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9D3DF"/>
                </a:solidFill>
                <a:latin typeface="Arial"/>
                <a:ea typeface="Arial"/>
                <a:cs typeface="Arial"/>
              </a:defRPr>
            </a:pPr>
            <a:r>
              <a:rPr sz="1350" b="0">
                <a:solidFill>
                  <a:srgbClr val="C9D3DF"/>
                </a:solidFill>
                <a:latin typeface="Arial"/>
                <a:ea typeface="Arial"/>
                <a:cs typeface="Arial"/>
              </a:rPr>
              <a:t>COURSE 01  /  LESSON 01</a:t>
            </a:r>
          </a:p>
        </p:txBody>
      </p:sp>
      <p:sp>
        <p:nvSpPr>
          <p:cNvPr id="3" name="slide-title">
            <a:extLst xmlns:a="http://schemas.openxmlformats.org/drawingml/2006/main">
              <a:ext uri="{FF2B5EF4-FFF2-40B4-BE49-F238E27FC236}">
                <a16:creationId xmlns:a16="http://schemas.microsoft.com/office/drawing/2014/main" id="{C642F7FF-EDF3-4DF6-8E34-8241747BE046}"/>
              </a:ext>
            </a:extLst>
          </p:cNvPr>
          <p:cNvSpPr>
            <a:spLocks xmlns:a="http://schemas.openxmlformats.org/drawingml/2006/main" noGrp="1"/>
          </p:cNvSpPr>
          <p:nvPr/>
        </p:nvSpPr>
        <p:spPr>
          <a:xfrm xmlns:a="http://schemas.openxmlformats.org/drawingml/2006/main">
            <a:off x="609600" y="942975"/>
            <a:ext cx="10934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F4F7FB"/>
                </a:solidFill>
                <a:latin typeface="Arial"/>
                <a:ea typeface="Arial"/>
                <a:cs typeface="Arial"/>
              </a:defRPr>
            </a:pPr>
            <a:r>
              <a:rPr sz="3675" b="1">
                <a:solidFill>
                  <a:srgbClr val="F4F7FB"/>
                </a:solidFill>
                <a:latin typeface="Arial"/>
                <a:ea typeface="Arial"/>
                <a:cs typeface="Arial"/>
              </a:rPr>
              <a:t>Kecocokan diperiksa sebelum menjadi peluang</a:t>
            </a:r>
          </a:p>
        </p:txBody>
      </p:sp>
      <p:sp>
        <p:nvSpPr>
          <p:cNvPr id="4" name="Contoh hipotetis">
            <a:extLst xmlns:a="http://schemas.openxmlformats.org/drawingml/2006/main">
              <a:ext uri="{FF2B5EF4-FFF2-40B4-BE49-F238E27FC236}">
                <a16:creationId xmlns:a16="http://schemas.microsoft.com/office/drawing/2014/main" id="{D669C70B-6892-45EB-B8AE-FEB775E3463B}"/>
              </a:ext>
            </a:extLst>
          </p:cNvPr>
          <p:cNvSpPr>
            <a:spLocks xmlns:a="http://schemas.openxmlformats.org/drawingml/2006/main" noGrp="1"/>
          </p:cNvSpPr>
          <p:nvPr/>
        </p:nvSpPr>
        <p:spPr>
          <a:xfrm xmlns:a="http://schemas.openxmlformats.org/drawingml/2006/main">
            <a:off x="609600" y="20955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7D9FF"/>
                </a:solidFill>
                <a:latin typeface="Arial"/>
                <a:ea typeface="Arial"/>
                <a:cs typeface="Arial"/>
              </a:defRPr>
            </a:pPr>
            <a:r>
              <a:rPr sz="1650" b="0">
                <a:solidFill>
                  <a:srgbClr val="67D9FF"/>
                </a:solidFill>
                <a:latin typeface="Arial"/>
                <a:ea typeface="Arial"/>
                <a:cs typeface="Arial"/>
              </a:rPr>
              <a:t>Contoh hipotetis</a:t>
            </a:r>
          </a:p>
        </p:txBody>
      </p:sp>
      <p:sp>
        <p:nvSpPr>
          <p:cNvPr id="5" name="separator">
            <a:extLst xmlns:a="http://schemas.openxmlformats.org/drawingml/2006/main">
              <a:ext uri="{FF2B5EF4-FFF2-40B4-BE49-F238E27FC236}">
                <a16:creationId xmlns:a16="http://schemas.microsoft.com/office/drawing/2014/main" id="{B6F834ED-0AA3-4A22-A3BC-8230662E0369}"/>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273244"/>
            </a:solidFill>
          </a:ln>
        </p:spPr>
      </p:sp>
      <p:sp>
        <p:nvSpPr>
          <p:cNvPr id="6" name="SEO for Business Growth: From Searc">
            <a:extLst xmlns:a="http://schemas.openxmlformats.org/drawingml/2006/main">
              <a:ext uri="{FF2B5EF4-FFF2-40B4-BE49-F238E27FC236}">
                <a16:creationId xmlns:a16="http://schemas.microsoft.com/office/drawing/2014/main" id="{94F42F41-F8E2-482C-8EE6-AA35F85A6DAF}"/>
              </a:ext>
            </a:extLst>
          </p:cNvPr>
          <p:cNvSpPr>
            <a:spLocks xmlns:a="http://schemas.openxmlformats.org/drawingml/2006/main" noGrp="1"/>
          </p:cNvSpPr>
          <p:nvPr/>
        </p:nvSpPr>
        <p:spPr>
          <a:xfrm xmlns:a="http://schemas.openxmlformats.org/drawingml/2006/main">
            <a:off x="609600" y="64674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9D3DF"/>
                </a:solidFill>
                <a:latin typeface="Arial"/>
                <a:ea typeface="Arial"/>
                <a:cs typeface="Arial"/>
              </a:defRPr>
            </a:pPr>
            <a:r>
              <a:rPr sz="1200" b="0">
                <a:solidFill>
                  <a:srgbClr val="C9D3DF"/>
                </a:solidFill>
                <a:latin typeface="Arial"/>
                <a:ea typeface="Arial"/>
                <a:cs typeface="Arial"/>
              </a:rPr>
              <a:t>SEO for Business Growth: From Search to Sales</a:t>
            </a:r>
          </a:p>
        </p:txBody>
      </p:sp>
      <p:sp>
        <p:nvSpPr>
          <p:cNvPr id="7" name="09">
            <a:extLst xmlns:a="http://schemas.openxmlformats.org/drawingml/2006/main">
              <a:ext uri="{FF2B5EF4-FFF2-40B4-BE49-F238E27FC236}">
                <a16:creationId xmlns:a16="http://schemas.microsoft.com/office/drawing/2014/main" id="{6D5AD998-D55F-4DBA-A165-7514EBFFB99C}"/>
              </a:ext>
            </a:extLst>
          </p:cNvPr>
          <p:cNvSpPr>
            <a:spLocks xmlns:a="http://schemas.openxmlformats.org/drawingml/2006/main" noGrp="1"/>
          </p:cNvSpPr>
          <p:nvPr/>
        </p:nvSpPr>
        <p:spPr>
          <a:xfrm xmlns:a="http://schemas.openxmlformats.org/drawingml/2006/main">
            <a:off x="11049000" y="64293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C9D3DF"/>
                </a:solidFill>
                <a:latin typeface="Arial"/>
                <a:ea typeface="Arial"/>
                <a:cs typeface="Arial"/>
              </a:defRPr>
            </a:pPr>
            <a:r>
              <a:rPr sz="1500" b="0">
                <a:solidFill>
                  <a:srgbClr val="C9D3DF"/>
                </a:solidFill>
                <a:latin typeface="Arial"/>
                <a:ea typeface="Arial"/>
                <a:cs typeface="Arial"/>
              </a:rPr>
              <a:t>09</a:t>
            </a:r>
          </a:p>
        </p:txBody>
      </p:sp>
      <p:sp>
        <p:nvSpPr>
          <p:cNvPr id="8" name="03  COMPARE / VALIDATE">
            <a:extLst xmlns:a="http://schemas.openxmlformats.org/drawingml/2006/main">
              <a:ext uri="{FF2B5EF4-FFF2-40B4-BE49-F238E27FC236}">
                <a16:creationId xmlns:a16="http://schemas.microsoft.com/office/drawing/2014/main" id="{431F02CD-8CA3-4FF6-B366-4A339ECD50B2}"/>
              </a:ext>
            </a:extLst>
          </p:cNvPr>
          <p:cNvSpPr>
            <a:spLocks xmlns:a="http://schemas.openxmlformats.org/drawingml/2006/main" noGrp="1"/>
          </p:cNvSpPr>
          <p:nvPr/>
        </p:nvSpPr>
        <p:spPr>
          <a:xfrm xmlns:a="http://schemas.openxmlformats.org/drawingml/2006/main">
            <a:off x="619125" y="2895600"/>
            <a:ext cx="547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67D9FF"/>
                </a:solidFill>
                <a:latin typeface="Arial"/>
                <a:ea typeface="Arial"/>
                <a:cs typeface="Arial"/>
              </a:defRPr>
            </a:pPr>
            <a:r>
              <a:rPr sz="1650" b="1">
                <a:solidFill>
                  <a:srgbClr val="67D9FF"/>
                </a:solidFill>
                <a:latin typeface="Arial"/>
                <a:ea typeface="Arial"/>
                <a:cs typeface="Arial"/>
              </a:rPr>
              <a:t>03  COMPARE / VALIDATE</a:t>
            </a:r>
          </a:p>
        </p:txBody>
      </p:sp>
      <p:sp>
        <p:nvSpPr>
          <p:cNvPr id="9" name="Area layanan&#10;Cakupan pekerjaan&#10;Bukt">
            <a:extLst xmlns:a="http://schemas.openxmlformats.org/drawingml/2006/main">
              <a:ext uri="{FF2B5EF4-FFF2-40B4-BE49-F238E27FC236}">
                <a16:creationId xmlns:a16="http://schemas.microsoft.com/office/drawing/2014/main" id="{D4C4137B-FB5C-4F48-953B-6B89C4D5404A}"/>
              </a:ext>
            </a:extLst>
          </p:cNvPr>
          <p:cNvSpPr>
            <a:spLocks xmlns:a="http://schemas.openxmlformats.org/drawingml/2006/main" noGrp="1"/>
          </p:cNvSpPr>
          <p:nvPr/>
        </p:nvSpPr>
        <p:spPr>
          <a:xfrm xmlns:a="http://schemas.openxmlformats.org/drawingml/2006/main">
            <a:off x="619125" y="3514725"/>
            <a:ext cx="50387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4F7FB"/>
                </a:solidFill>
                <a:latin typeface="Arial"/>
                <a:ea typeface="Arial"/>
                <a:cs typeface="Arial"/>
              </a:defRPr>
            </a:pPr>
            <a:r>
              <a:rPr sz="2700" b="1">
                <a:solidFill>
                  <a:srgbClr val="F4F7FB"/>
                </a:solidFill>
                <a:latin typeface="Arial"/>
                <a:ea typeface="Arial"/>
                <a:cs typeface="Arial"/>
              </a:rPr>
              <a:t>Area layanan</a:t>
            </a:r>
          </a:p>
          <a:p xmlns:a="http://schemas.openxmlformats.org/drawingml/2006/main">
            <a:pPr algn="l">
              <a:defRPr sz="2700" b="1">
                <a:solidFill>
                  <a:srgbClr val="F4F7FB"/>
                </a:solidFill>
                <a:latin typeface="Arial"/>
                <a:ea typeface="Arial"/>
                <a:cs typeface="Arial"/>
              </a:defRPr>
            </a:pPr>
            <a:r>
              <a:rPr sz="2700" b="1">
                <a:solidFill>
                  <a:srgbClr val="F4F7FB"/>
                </a:solidFill>
                <a:latin typeface="Arial"/>
                <a:ea typeface="Arial"/>
                <a:cs typeface="Arial"/>
              </a:rPr>
              <a:t>Cakupan pekerjaan</a:t>
            </a:r>
          </a:p>
          <a:p xmlns:a="http://schemas.openxmlformats.org/drawingml/2006/main">
            <a:pPr algn="l">
              <a:defRPr sz="2700" b="1">
                <a:solidFill>
                  <a:srgbClr val="F4F7FB"/>
                </a:solidFill>
                <a:latin typeface="Arial"/>
                <a:ea typeface="Arial"/>
                <a:cs typeface="Arial"/>
              </a:defRPr>
            </a:pPr>
            <a:r>
              <a:rPr sz="2700" b="1">
                <a:solidFill>
                  <a:srgbClr val="F4F7FB"/>
                </a:solidFill>
                <a:latin typeface="Arial"/>
                <a:ea typeface="Arial"/>
                <a:cs typeface="Arial"/>
              </a:rPr>
              <a:t>Bukti relevan</a:t>
            </a:r>
          </a:p>
        </p:txBody>
      </p:sp>
      <p:sp>
        <p:nvSpPr>
          <p:cNvPr id="10" name="04  ACT">
            <a:extLst xmlns:a="http://schemas.openxmlformats.org/drawingml/2006/main">
              <a:ext uri="{FF2B5EF4-FFF2-40B4-BE49-F238E27FC236}">
                <a16:creationId xmlns:a16="http://schemas.microsoft.com/office/drawing/2014/main" id="{8C68854C-D54A-440C-9E45-672600565A3B}"/>
              </a:ext>
            </a:extLst>
          </p:cNvPr>
          <p:cNvSpPr>
            <a:spLocks xmlns:a="http://schemas.openxmlformats.org/drawingml/2006/main" noGrp="1"/>
          </p:cNvSpPr>
          <p:nvPr/>
        </p:nvSpPr>
        <p:spPr>
          <a:xfrm xmlns:a="http://schemas.openxmlformats.org/drawingml/2006/main">
            <a:off x="6991350" y="28956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67D9FF"/>
                </a:solidFill>
                <a:latin typeface="Arial"/>
                <a:ea typeface="Arial"/>
                <a:cs typeface="Arial"/>
              </a:defRPr>
            </a:pPr>
            <a:r>
              <a:rPr sz="1650" b="1">
                <a:solidFill>
                  <a:srgbClr val="67D9FF"/>
                </a:solidFill>
                <a:latin typeface="Arial"/>
                <a:ea typeface="Arial"/>
                <a:cs typeface="Arial"/>
              </a:rPr>
              <a:t>04  ACT</a:t>
            </a:r>
          </a:p>
        </p:txBody>
      </p:sp>
      <p:sp>
        <p:nvSpPr>
          <p:cNvPr id="11" name="Kirim kebutuhan&#10;Pahami tindak lanju">
            <a:extLst xmlns:a="http://schemas.openxmlformats.org/drawingml/2006/main">
              <a:ext uri="{FF2B5EF4-FFF2-40B4-BE49-F238E27FC236}">
                <a16:creationId xmlns:a16="http://schemas.microsoft.com/office/drawing/2014/main" id="{AD61F9A8-D3CB-432A-926B-00808F383AC3}"/>
              </a:ext>
            </a:extLst>
          </p:cNvPr>
          <p:cNvSpPr>
            <a:spLocks xmlns:a="http://schemas.openxmlformats.org/drawingml/2006/main" noGrp="1"/>
          </p:cNvSpPr>
          <p:nvPr/>
        </p:nvSpPr>
        <p:spPr>
          <a:xfrm xmlns:a="http://schemas.openxmlformats.org/drawingml/2006/main">
            <a:off x="6991350" y="3514725"/>
            <a:ext cx="4476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4F7FB"/>
                </a:solidFill>
                <a:latin typeface="Arial"/>
                <a:ea typeface="Arial"/>
                <a:cs typeface="Arial"/>
              </a:defRPr>
            </a:pPr>
            <a:r>
              <a:rPr sz="2700" b="1">
                <a:solidFill>
                  <a:srgbClr val="F4F7FB"/>
                </a:solidFill>
                <a:latin typeface="Arial"/>
                <a:ea typeface="Arial"/>
                <a:cs typeface="Arial"/>
              </a:rPr>
              <a:t>Kirim kebutuhan</a:t>
            </a:r>
          </a:p>
          <a:p xmlns:a="http://schemas.openxmlformats.org/drawingml/2006/main">
            <a:pPr algn="l">
              <a:defRPr sz="2700" b="1">
                <a:solidFill>
                  <a:srgbClr val="F4F7FB"/>
                </a:solidFill>
                <a:latin typeface="Arial"/>
                <a:ea typeface="Arial"/>
                <a:cs typeface="Arial"/>
              </a:defRPr>
            </a:pPr>
            <a:r>
              <a:rPr sz="2700" b="1">
                <a:solidFill>
                  <a:srgbClr val="F4F7FB"/>
                </a:solidFill>
                <a:latin typeface="Arial"/>
                <a:ea typeface="Arial"/>
                <a:cs typeface="Arial"/>
              </a:rPr>
              <a:t>Pahami tindak lanjut</a:t>
            </a:r>
          </a:p>
        </p:txBody>
      </p:sp>
      <p:sp>
        <p:nvSpPr>
          <p:cNvPr id="12" name="separator">
            <a:extLst xmlns:a="http://schemas.openxmlformats.org/drawingml/2006/main">
              <a:ext uri="{FF2B5EF4-FFF2-40B4-BE49-F238E27FC236}">
                <a16:creationId xmlns:a16="http://schemas.microsoft.com/office/drawing/2014/main" id="{68D43D26-9B36-4480-B38D-873F294DA7D1}"/>
              </a:ext>
            </a:extLst>
          </p:cNvPr>
          <p:cNvSpPr>
            <a:spLocks xmlns:a="http://schemas.openxmlformats.org/drawingml/2006/main" noGrp="1"/>
          </p:cNvSpPr>
          <p:nvPr/>
        </p:nvSpPr>
        <p:spPr>
          <a:xfrm xmlns:a="http://schemas.openxmlformats.org/drawingml/2006/main">
            <a:off x="619125" y="5324475"/>
            <a:ext cx="10820400" cy="0"/>
          </a:xfrm>
          <a:prstGeom xmlns:a="http://schemas.openxmlformats.org/drawingml/2006/main" prst="line">
            <a:avLst/>
          </a:prstGeom>
          <a:noFill xmlns:a="http://schemas.openxmlformats.org/drawingml/2006/main"/>
          <a:ln xmlns:a="http://schemas.openxmlformats.org/drawingml/2006/main" w="19050">
            <a:solidFill>
              <a:srgbClr val="273244"/>
            </a:solidFill>
          </a:ln>
        </p:spPr>
      </p:sp>
      <p:sp>
        <p:nvSpPr>
          <p:cNvPr id="13" name="Permintaan masuk masih perlu diperi">
            <a:extLst xmlns:a="http://schemas.openxmlformats.org/drawingml/2006/main">
              <a:ext uri="{FF2B5EF4-FFF2-40B4-BE49-F238E27FC236}">
                <a16:creationId xmlns:a16="http://schemas.microsoft.com/office/drawing/2014/main" id="{E4EEC191-C203-46BD-9B54-11B9E60319EA}"/>
              </a:ext>
            </a:extLst>
          </p:cNvPr>
          <p:cNvSpPr>
            <a:spLocks xmlns:a="http://schemas.openxmlformats.org/drawingml/2006/main" noGrp="1"/>
          </p:cNvSpPr>
          <p:nvPr/>
        </p:nvSpPr>
        <p:spPr>
          <a:xfrm xmlns:a="http://schemas.openxmlformats.org/drawingml/2006/main">
            <a:off x="619125" y="56292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C9D3DF"/>
                </a:solidFill>
                <a:latin typeface="Arial"/>
                <a:ea typeface="Arial"/>
                <a:cs typeface="Arial"/>
              </a:defRPr>
            </a:pPr>
            <a:r>
              <a:rPr sz="2325" b="0">
                <a:solidFill>
                  <a:srgbClr val="C9D3DF"/>
                </a:solidFill>
                <a:latin typeface="Arial"/>
                <a:ea typeface="Arial"/>
                <a:cs typeface="Arial"/>
              </a:rPr>
              <a:t>Permintaan masuk masih perlu diperiksa kecocokannya</a:t>
            </a:r>
          </a:p>
        </p:txBody>
      </p:sp>
    </p:spTree>
    <p:extLst>
      <p:ext uri="{BB962C8B-B14F-4D97-AF65-F5344CB8AC3E}">
        <p14:creationId xmlns:p14="http://schemas.microsoft.com/office/powerpoint/2010/main" val="371561759"/>
      </p:ext>
    </p:extLst>
  </p:cSld>
</p:sld>
</file>

<file path=ppt/slides/slide10.xml><?xml version="1.0" encoding="utf-8"?>
<p:sld xmlns:p="http://schemas.openxmlformats.org/presentationml/2006/main">
  <p:cSld>
    <p:bg>
      <p:bgPr>
        <a:solidFill xmlns:a="http://schemas.openxmlformats.org/drawingml/2006/main">
          <a:srgbClr val="070B12"/>
        </a:solidFill>
      </p:bgPr>
    </p:bg>
    <p:spTree>
      <p:nvGrpSpPr>
        <p:cNvPr id="1" name=""/>
        <p:cNvGrpSpPr/>
        <p:nvPr/>
      </p:nvGrpSpPr>
      <p:grpSpPr>
        <a:xfrm xmlns:a="http://schemas.openxmlformats.org/drawingml/2006/main"/>
      </p:grpSpPr>
      <p:sp>
        <p:nvSpPr>
          <p:cNvPr id="16" name="KULTIVATE LEARN">
            <a:extLst xmlns:a="http://schemas.openxmlformats.org/drawingml/2006/main">
              <a:ext uri="{FF2B5EF4-FFF2-40B4-BE49-F238E27FC236}">
                <a16:creationId xmlns:a16="http://schemas.microsoft.com/office/drawing/2014/main" id="{A91562B8-8CC5-4EC9-BF13-6A92D0E7826E}"/>
              </a:ext>
            </a:extLst>
          </p:cNvPr>
          <p:cNvSpPr>
            <a:spLocks xmlns:a="http://schemas.openxmlformats.org/drawingml/2006/main" noGrp="1"/>
          </p:cNvSpPr>
          <p:nvPr/>
        </p:nvSpPr>
        <p:spPr>
          <a:xfrm xmlns:a="http://schemas.openxmlformats.org/drawingml/2006/main">
            <a:off x="609600" y="304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C9D3DF"/>
                </a:solidFill>
                <a:latin typeface="Arial"/>
                <a:ea typeface="Arial"/>
                <a:cs typeface="Arial"/>
              </a:defRPr>
            </a:pPr>
            <a:r>
              <a:rPr sz="1350" b="1">
                <a:solidFill>
                  <a:srgbClr val="C9D3DF"/>
                </a:solidFill>
                <a:latin typeface="Arial"/>
                <a:ea typeface="Arial"/>
                <a:cs typeface="Arial"/>
              </a:rPr>
              <a:t>KULTIVATE LEARN</a:t>
            </a:r>
          </a:p>
        </p:txBody>
      </p:sp>
      <p:sp>
        <p:nvSpPr>
          <p:cNvPr id="2" name="COURSE 01  /  LESSON 01">
            <a:extLst xmlns:a="http://schemas.openxmlformats.org/drawingml/2006/main">
              <a:ext uri="{FF2B5EF4-FFF2-40B4-BE49-F238E27FC236}">
                <a16:creationId xmlns:a16="http://schemas.microsoft.com/office/drawing/2014/main" id="{0D0B6207-DBEC-4672-A7D8-7225301290B9}"/>
              </a:ext>
            </a:extLst>
          </p:cNvPr>
          <p:cNvSpPr>
            <a:spLocks xmlns:a="http://schemas.openxmlformats.org/drawingml/2006/main" noGrp="1"/>
          </p:cNvSpPr>
          <p:nvPr/>
        </p:nvSpPr>
        <p:spPr>
          <a:xfrm xmlns:a="http://schemas.openxmlformats.org/drawingml/2006/main">
            <a:off x="7620000" y="304800"/>
            <a:ext cx="3962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9D3DF"/>
                </a:solidFill>
                <a:latin typeface="Arial"/>
                <a:ea typeface="Arial"/>
                <a:cs typeface="Arial"/>
              </a:defRPr>
            </a:pPr>
            <a:r>
              <a:rPr sz="1350" b="0">
                <a:solidFill>
                  <a:srgbClr val="C9D3DF"/>
                </a:solidFill>
                <a:latin typeface="Arial"/>
                <a:ea typeface="Arial"/>
                <a:cs typeface="Arial"/>
              </a:rPr>
              <a:t>COURSE 01  /  LESSON 01</a:t>
            </a:r>
          </a:p>
        </p:txBody>
      </p:sp>
      <p:sp>
        <p:nvSpPr>
          <p:cNvPr id="3" name="slide-title">
            <a:extLst xmlns:a="http://schemas.openxmlformats.org/drawingml/2006/main">
              <a:ext uri="{FF2B5EF4-FFF2-40B4-BE49-F238E27FC236}">
                <a16:creationId xmlns:a16="http://schemas.microsoft.com/office/drawing/2014/main" id="{50846CC8-2A24-4DE6-8E74-568A883B04A1}"/>
              </a:ext>
            </a:extLst>
          </p:cNvPr>
          <p:cNvSpPr>
            <a:spLocks xmlns:a="http://schemas.openxmlformats.org/drawingml/2006/main" noGrp="1"/>
          </p:cNvSpPr>
          <p:nvPr/>
        </p:nvSpPr>
        <p:spPr>
          <a:xfrm xmlns:a="http://schemas.openxmlformats.org/drawingml/2006/main">
            <a:off x="609600" y="942975"/>
            <a:ext cx="10934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F4F7FB"/>
                </a:solidFill>
                <a:latin typeface="Arial"/>
                <a:ea typeface="Arial"/>
                <a:cs typeface="Arial"/>
              </a:defRPr>
            </a:pPr>
            <a:r>
              <a:rPr sz="3675" b="1">
                <a:solidFill>
                  <a:srgbClr val="F4F7FB"/>
                </a:solidFill>
                <a:latin typeface="Arial"/>
                <a:ea typeface="Arial"/>
                <a:cs typeface="Arial"/>
              </a:rPr>
              <a:t>Observasi dan hipotesis</a:t>
            </a:r>
          </a:p>
        </p:txBody>
      </p:sp>
      <p:sp>
        <p:nvSpPr>
          <p:cNvPr id="4" name="Contoh hipotetis">
            <a:extLst xmlns:a="http://schemas.openxmlformats.org/drawingml/2006/main">
              <a:ext uri="{FF2B5EF4-FFF2-40B4-BE49-F238E27FC236}">
                <a16:creationId xmlns:a16="http://schemas.microsoft.com/office/drawing/2014/main" id="{982C318A-A8E8-40F4-BBEB-F17D4A98F577}"/>
              </a:ext>
            </a:extLst>
          </p:cNvPr>
          <p:cNvSpPr>
            <a:spLocks xmlns:a="http://schemas.openxmlformats.org/drawingml/2006/main" noGrp="1"/>
          </p:cNvSpPr>
          <p:nvPr/>
        </p:nvSpPr>
        <p:spPr>
          <a:xfrm xmlns:a="http://schemas.openxmlformats.org/drawingml/2006/main">
            <a:off x="609600" y="20955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7D9FF"/>
                </a:solidFill>
                <a:latin typeface="Arial"/>
                <a:ea typeface="Arial"/>
                <a:cs typeface="Arial"/>
              </a:defRPr>
            </a:pPr>
            <a:r>
              <a:rPr sz="1650" b="0">
                <a:solidFill>
                  <a:srgbClr val="67D9FF"/>
                </a:solidFill>
                <a:latin typeface="Arial"/>
                <a:ea typeface="Arial"/>
                <a:cs typeface="Arial"/>
              </a:rPr>
              <a:t>Contoh hipotetis</a:t>
            </a:r>
          </a:p>
        </p:txBody>
      </p:sp>
      <p:sp>
        <p:nvSpPr>
          <p:cNvPr id="5" name="separator">
            <a:extLst xmlns:a="http://schemas.openxmlformats.org/drawingml/2006/main">
              <a:ext uri="{FF2B5EF4-FFF2-40B4-BE49-F238E27FC236}">
                <a16:creationId xmlns:a16="http://schemas.microsoft.com/office/drawing/2014/main" id="{03EFE08A-3108-4E25-BCA0-0E59D763C3CA}"/>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273244"/>
            </a:solidFill>
          </a:ln>
        </p:spPr>
      </p:sp>
      <p:sp>
        <p:nvSpPr>
          <p:cNvPr id="6" name="SEO for Business Growth: From Searc">
            <a:extLst xmlns:a="http://schemas.openxmlformats.org/drawingml/2006/main">
              <a:ext uri="{FF2B5EF4-FFF2-40B4-BE49-F238E27FC236}">
                <a16:creationId xmlns:a16="http://schemas.microsoft.com/office/drawing/2014/main" id="{B5375177-83ED-4495-95FE-F21ED9367CD9}"/>
              </a:ext>
            </a:extLst>
          </p:cNvPr>
          <p:cNvSpPr>
            <a:spLocks xmlns:a="http://schemas.openxmlformats.org/drawingml/2006/main" noGrp="1"/>
          </p:cNvSpPr>
          <p:nvPr/>
        </p:nvSpPr>
        <p:spPr>
          <a:xfrm xmlns:a="http://schemas.openxmlformats.org/drawingml/2006/main">
            <a:off x="609600" y="64674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9D3DF"/>
                </a:solidFill>
                <a:latin typeface="Arial"/>
                <a:ea typeface="Arial"/>
                <a:cs typeface="Arial"/>
              </a:defRPr>
            </a:pPr>
            <a:r>
              <a:rPr sz="1200" b="0">
                <a:solidFill>
                  <a:srgbClr val="C9D3DF"/>
                </a:solidFill>
                <a:latin typeface="Arial"/>
                <a:ea typeface="Arial"/>
                <a:cs typeface="Arial"/>
              </a:rPr>
              <a:t>SEO for Business Growth: From Search to Sales</a:t>
            </a:r>
          </a:p>
        </p:txBody>
      </p:sp>
      <p:sp>
        <p:nvSpPr>
          <p:cNvPr id="7" name="10">
            <a:extLst xmlns:a="http://schemas.openxmlformats.org/drawingml/2006/main">
              <a:ext uri="{FF2B5EF4-FFF2-40B4-BE49-F238E27FC236}">
                <a16:creationId xmlns:a16="http://schemas.microsoft.com/office/drawing/2014/main" id="{C378F1BF-6494-40C2-A341-77D6CD35D584}"/>
              </a:ext>
            </a:extLst>
          </p:cNvPr>
          <p:cNvSpPr>
            <a:spLocks xmlns:a="http://schemas.openxmlformats.org/drawingml/2006/main" noGrp="1"/>
          </p:cNvSpPr>
          <p:nvPr/>
        </p:nvSpPr>
        <p:spPr>
          <a:xfrm xmlns:a="http://schemas.openxmlformats.org/drawingml/2006/main">
            <a:off x="11049000" y="64293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C9D3DF"/>
                </a:solidFill>
                <a:latin typeface="Arial"/>
                <a:ea typeface="Arial"/>
                <a:cs typeface="Arial"/>
              </a:defRPr>
            </a:pPr>
            <a:r>
              <a:rPr sz="1500" b="0">
                <a:solidFill>
                  <a:srgbClr val="C9D3DF"/>
                </a:solidFill>
                <a:latin typeface="Arial"/>
                <a:ea typeface="Arial"/>
                <a:cs typeface="Arial"/>
              </a:rPr>
              <a:t>10</a:t>
            </a:r>
          </a:p>
        </p:txBody>
      </p:sp>
      <p:sp>
        <p:nvSpPr>
          <p:cNvPr id="8" name="OBSERVASI">
            <a:extLst xmlns:a="http://schemas.openxmlformats.org/drawingml/2006/main">
              <a:ext uri="{FF2B5EF4-FFF2-40B4-BE49-F238E27FC236}">
                <a16:creationId xmlns:a16="http://schemas.microsoft.com/office/drawing/2014/main" id="{DCA04322-060D-4C2F-AC4E-F97BFF1A3486}"/>
              </a:ext>
            </a:extLst>
          </p:cNvPr>
          <p:cNvSpPr>
            <a:spLocks xmlns:a="http://schemas.openxmlformats.org/drawingml/2006/main" noGrp="1"/>
          </p:cNvSpPr>
          <p:nvPr/>
        </p:nvSpPr>
        <p:spPr>
          <a:xfrm xmlns:a="http://schemas.openxmlformats.org/drawingml/2006/main">
            <a:off x="619125" y="2905125"/>
            <a:ext cx="2943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67D9FF"/>
                </a:solidFill>
                <a:latin typeface="Arial"/>
                <a:ea typeface="Arial"/>
                <a:cs typeface="Arial"/>
              </a:defRPr>
            </a:pPr>
            <a:r>
              <a:rPr sz="1650" b="1">
                <a:solidFill>
                  <a:srgbClr val="67D9FF"/>
                </a:solidFill>
                <a:latin typeface="Arial"/>
                <a:ea typeface="Arial"/>
                <a:cs typeface="Arial"/>
              </a:rPr>
              <a:t>OBSERVASI</a:t>
            </a:r>
          </a:p>
        </p:txBody>
      </p:sp>
      <p:sp>
        <p:nvSpPr>
          <p:cNvPr id="9" name="Area layanan tidak tercantum di hal">
            <a:extLst xmlns:a="http://schemas.openxmlformats.org/drawingml/2006/main">
              <a:ext uri="{FF2B5EF4-FFF2-40B4-BE49-F238E27FC236}">
                <a16:creationId xmlns:a16="http://schemas.microsoft.com/office/drawing/2014/main" id="{DFD686CE-79F4-41E1-BAAB-187D746A7516}"/>
              </a:ext>
            </a:extLst>
          </p:cNvPr>
          <p:cNvSpPr>
            <a:spLocks xmlns:a="http://schemas.openxmlformats.org/drawingml/2006/main" noGrp="1"/>
          </p:cNvSpPr>
          <p:nvPr/>
        </p:nvSpPr>
        <p:spPr>
          <a:xfrm xmlns:a="http://schemas.openxmlformats.org/drawingml/2006/main">
            <a:off x="3714750" y="2876550"/>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4F7FB"/>
                </a:solidFill>
                <a:latin typeface="Arial"/>
                <a:ea typeface="Arial"/>
                <a:cs typeface="Arial"/>
              </a:defRPr>
            </a:pPr>
            <a:r>
              <a:rPr sz="2400" b="0">
                <a:solidFill>
                  <a:srgbClr val="F4F7FB"/>
                </a:solidFill>
                <a:latin typeface="Arial"/>
                <a:ea typeface="Arial"/>
                <a:cs typeface="Arial"/>
              </a:rPr>
              <a:t>Area layanan tidak tercantum di halaman</a:t>
            </a:r>
          </a:p>
        </p:txBody>
      </p:sp>
      <p:sp>
        <p:nvSpPr>
          <p:cNvPr id="10" name="separator">
            <a:extLst xmlns:a="http://schemas.openxmlformats.org/drawingml/2006/main">
              <a:ext uri="{FF2B5EF4-FFF2-40B4-BE49-F238E27FC236}">
                <a16:creationId xmlns:a16="http://schemas.microsoft.com/office/drawing/2014/main" id="{EAEDB816-932F-412D-8C6E-8F5EECA02FCE}"/>
              </a:ext>
            </a:extLst>
          </p:cNvPr>
          <p:cNvSpPr>
            <a:spLocks xmlns:a="http://schemas.openxmlformats.org/drawingml/2006/main" noGrp="1"/>
          </p:cNvSpPr>
          <p:nvPr/>
        </p:nvSpPr>
        <p:spPr>
          <a:xfrm xmlns:a="http://schemas.openxmlformats.org/drawingml/2006/main">
            <a:off x="619125" y="3686175"/>
            <a:ext cx="10810875" cy="0"/>
          </a:xfrm>
          <a:prstGeom xmlns:a="http://schemas.openxmlformats.org/drawingml/2006/main" prst="line">
            <a:avLst/>
          </a:prstGeom>
          <a:noFill xmlns:a="http://schemas.openxmlformats.org/drawingml/2006/main"/>
          <a:ln xmlns:a="http://schemas.openxmlformats.org/drawingml/2006/main" w="9525">
            <a:solidFill>
              <a:srgbClr val="273244"/>
            </a:solidFill>
          </a:ln>
        </p:spPr>
      </p:sp>
      <p:sp>
        <p:nvSpPr>
          <p:cNvPr id="11" name="HIPOTESIS">
            <a:extLst xmlns:a="http://schemas.openxmlformats.org/drawingml/2006/main">
              <a:ext uri="{FF2B5EF4-FFF2-40B4-BE49-F238E27FC236}">
                <a16:creationId xmlns:a16="http://schemas.microsoft.com/office/drawing/2014/main" id="{040E79D1-E998-40A7-8BBA-1BF493AA3D9E}"/>
              </a:ext>
            </a:extLst>
          </p:cNvPr>
          <p:cNvSpPr>
            <a:spLocks xmlns:a="http://schemas.openxmlformats.org/drawingml/2006/main" noGrp="1"/>
          </p:cNvSpPr>
          <p:nvPr/>
        </p:nvSpPr>
        <p:spPr>
          <a:xfrm xmlns:a="http://schemas.openxmlformats.org/drawingml/2006/main">
            <a:off x="619125" y="3924300"/>
            <a:ext cx="2943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67D9FF"/>
                </a:solidFill>
                <a:latin typeface="Arial"/>
                <a:ea typeface="Arial"/>
                <a:cs typeface="Arial"/>
              </a:defRPr>
            </a:pPr>
            <a:r>
              <a:rPr sz="1650" b="1">
                <a:solidFill>
                  <a:srgbClr val="67D9FF"/>
                </a:solidFill>
                <a:latin typeface="Arial"/>
                <a:ea typeface="Arial"/>
                <a:cs typeface="Arial"/>
              </a:rPr>
              <a:t>HIPOTESIS</a:t>
            </a:r>
          </a:p>
        </p:txBody>
      </p:sp>
      <p:sp>
        <p:nvSpPr>
          <p:cNvPr id="12" name="Calon pembeli ragu lalu batal mengh">
            <a:extLst xmlns:a="http://schemas.openxmlformats.org/drawingml/2006/main">
              <a:ext uri="{FF2B5EF4-FFF2-40B4-BE49-F238E27FC236}">
                <a16:creationId xmlns:a16="http://schemas.microsoft.com/office/drawing/2014/main" id="{7B8BB67F-26C6-40DC-9A93-E225CA403266}"/>
              </a:ext>
            </a:extLst>
          </p:cNvPr>
          <p:cNvSpPr>
            <a:spLocks xmlns:a="http://schemas.openxmlformats.org/drawingml/2006/main" noGrp="1"/>
          </p:cNvSpPr>
          <p:nvPr/>
        </p:nvSpPr>
        <p:spPr>
          <a:xfrm xmlns:a="http://schemas.openxmlformats.org/drawingml/2006/main">
            <a:off x="3714750" y="389572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4F7FB"/>
                </a:solidFill>
                <a:latin typeface="Arial"/>
                <a:ea typeface="Arial"/>
                <a:cs typeface="Arial"/>
              </a:defRPr>
            </a:pPr>
            <a:r>
              <a:rPr sz="2400" b="0">
                <a:solidFill>
                  <a:srgbClr val="F4F7FB"/>
                </a:solidFill>
                <a:latin typeface="Arial"/>
                <a:ea typeface="Arial"/>
                <a:cs typeface="Arial"/>
              </a:rPr>
              <a:t>Calon pembeli ragu lalu batal menghubungi</a:t>
            </a:r>
          </a:p>
        </p:txBody>
      </p:sp>
      <p:sp>
        <p:nvSpPr>
          <p:cNvPr id="13" name="separator">
            <a:extLst xmlns:a="http://schemas.openxmlformats.org/drawingml/2006/main">
              <a:ext uri="{FF2B5EF4-FFF2-40B4-BE49-F238E27FC236}">
                <a16:creationId xmlns:a16="http://schemas.microsoft.com/office/drawing/2014/main" id="{082E3E3E-E4A8-494B-842F-EA87E0970C82}"/>
              </a:ext>
            </a:extLst>
          </p:cNvPr>
          <p:cNvSpPr>
            <a:spLocks xmlns:a="http://schemas.openxmlformats.org/drawingml/2006/main" noGrp="1"/>
          </p:cNvSpPr>
          <p:nvPr/>
        </p:nvSpPr>
        <p:spPr>
          <a:xfrm xmlns:a="http://schemas.openxmlformats.org/drawingml/2006/main">
            <a:off x="619125" y="4705350"/>
            <a:ext cx="10810875" cy="0"/>
          </a:xfrm>
          <a:prstGeom xmlns:a="http://schemas.openxmlformats.org/drawingml/2006/main" prst="line">
            <a:avLst/>
          </a:prstGeom>
          <a:noFill xmlns:a="http://schemas.openxmlformats.org/drawingml/2006/main"/>
          <a:ln xmlns:a="http://schemas.openxmlformats.org/drawingml/2006/main" w="9525">
            <a:solidFill>
              <a:srgbClr val="273244"/>
            </a:solidFill>
          </a:ln>
        </p:spPr>
      </p:sp>
      <p:sp>
        <p:nvSpPr>
          <p:cNvPr id="14" name="BUKTI BERIKUTNYA">
            <a:extLst xmlns:a="http://schemas.openxmlformats.org/drawingml/2006/main">
              <a:ext uri="{FF2B5EF4-FFF2-40B4-BE49-F238E27FC236}">
                <a16:creationId xmlns:a16="http://schemas.microsoft.com/office/drawing/2014/main" id="{1058FE4F-05FE-47E7-B3F5-587D2ADED850}"/>
              </a:ext>
            </a:extLst>
          </p:cNvPr>
          <p:cNvSpPr>
            <a:spLocks xmlns:a="http://schemas.openxmlformats.org/drawingml/2006/main" noGrp="1"/>
          </p:cNvSpPr>
          <p:nvPr/>
        </p:nvSpPr>
        <p:spPr>
          <a:xfrm xmlns:a="http://schemas.openxmlformats.org/drawingml/2006/main">
            <a:off x="619125" y="4943475"/>
            <a:ext cx="2943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67D9FF"/>
                </a:solidFill>
                <a:latin typeface="Arial"/>
                <a:ea typeface="Arial"/>
                <a:cs typeface="Arial"/>
              </a:defRPr>
            </a:pPr>
            <a:r>
              <a:rPr sz="1650" b="1">
                <a:solidFill>
                  <a:srgbClr val="67D9FF"/>
                </a:solidFill>
                <a:latin typeface="Arial"/>
                <a:ea typeface="Arial"/>
                <a:cs typeface="Arial"/>
              </a:rPr>
              <a:t>BUKTI BERIKUTNYA</a:t>
            </a:r>
          </a:p>
        </p:txBody>
      </p:sp>
      <p:sp>
        <p:nvSpPr>
          <p:cNvPr id="15" name="Periksa pertanyaan lokasi dalam inq">
            <a:extLst xmlns:a="http://schemas.openxmlformats.org/drawingml/2006/main">
              <a:ext uri="{FF2B5EF4-FFF2-40B4-BE49-F238E27FC236}">
                <a16:creationId xmlns:a16="http://schemas.microsoft.com/office/drawing/2014/main" id="{F7E90C73-CDA4-4B61-859D-02335AE30C36}"/>
              </a:ext>
            </a:extLst>
          </p:cNvPr>
          <p:cNvSpPr>
            <a:spLocks xmlns:a="http://schemas.openxmlformats.org/drawingml/2006/main" noGrp="1"/>
          </p:cNvSpPr>
          <p:nvPr/>
        </p:nvSpPr>
        <p:spPr>
          <a:xfrm xmlns:a="http://schemas.openxmlformats.org/drawingml/2006/main">
            <a:off x="3714750" y="4914900"/>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4F7FB"/>
                </a:solidFill>
                <a:latin typeface="Arial"/>
                <a:ea typeface="Arial"/>
                <a:cs typeface="Arial"/>
              </a:defRPr>
            </a:pPr>
            <a:r>
              <a:rPr sz="2400" b="0">
                <a:solidFill>
                  <a:srgbClr val="F4F7FB"/>
                </a:solidFill>
                <a:latin typeface="Arial"/>
                <a:ea typeface="Arial"/>
                <a:cs typeface="Arial"/>
              </a:rPr>
              <a:t>Periksa pertanyaan lokasi dalam inquiry</a:t>
            </a:r>
          </a:p>
        </p:txBody>
      </p:sp>
    </p:spTree>
    <p:extLst>
      <p:ext uri="{BB962C8B-B14F-4D97-AF65-F5344CB8AC3E}">
        <p14:creationId xmlns:p14="http://schemas.microsoft.com/office/powerpoint/2010/main" val="1776958958"/>
      </p:ext>
    </p:extLst>
  </p:cSld>
</p:sld>
</file>

<file path=ppt/slides/slide11.xml><?xml version="1.0" encoding="utf-8"?>
<p:sld xmlns:p="http://schemas.openxmlformats.org/presentationml/2006/main">
  <p:cSld>
    <p:bg>
      <p:bgPr>
        <a:solidFill xmlns:a="http://schemas.openxmlformats.org/drawingml/2006/main">
          <a:srgbClr val="070B12"/>
        </a:solidFill>
      </p:bgPr>
    </p:bg>
    <p:spTree>
      <p:nvGrpSpPr>
        <p:cNvPr id="1" name=""/>
        <p:cNvGrpSpPr/>
        <p:nvPr/>
      </p:nvGrpSpPr>
      <p:grpSpPr>
        <a:xfrm xmlns:a="http://schemas.openxmlformats.org/drawingml/2006/main"/>
      </p:grpSpPr>
      <p:sp>
        <p:nvSpPr>
          <p:cNvPr id="21" name="KULTIVATE LEARN">
            <a:extLst xmlns:a="http://schemas.openxmlformats.org/drawingml/2006/main">
              <a:ext uri="{FF2B5EF4-FFF2-40B4-BE49-F238E27FC236}">
                <a16:creationId xmlns:a16="http://schemas.microsoft.com/office/drawing/2014/main" id="{66BB16CE-1F91-4160-BCF1-37FB4755DADB}"/>
              </a:ext>
            </a:extLst>
          </p:cNvPr>
          <p:cNvSpPr>
            <a:spLocks xmlns:a="http://schemas.openxmlformats.org/drawingml/2006/main" noGrp="1"/>
          </p:cNvSpPr>
          <p:nvPr/>
        </p:nvSpPr>
        <p:spPr>
          <a:xfrm xmlns:a="http://schemas.openxmlformats.org/drawingml/2006/main">
            <a:off x="609600" y="304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C9D3DF"/>
                </a:solidFill>
                <a:latin typeface="Arial"/>
                <a:ea typeface="Arial"/>
                <a:cs typeface="Arial"/>
              </a:defRPr>
            </a:pPr>
            <a:r>
              <a:rPr sz="1350" b="1">
                <a:solidFill>
                  <a:srgbClr val="C9D3DF"/>
                </a:solidFill>
                <a:latin typeface="Arial"/>
                <a:ea typeface="Arial"/>
                <a:cs typeface="Arial"/>
              </a:rPr>
              <a:t>KULTIVATE LEARN</a:t>
            </a:r>
          </a:p>
        </p:txBody>
      </p:sp>
      <p:sp>
        <p:nvSpPr>
          <p:cNvPr id="2" name="COURSE 01  /  LESSON 01">
            <a:extLst xmlns:a="http://schemas.openxmlformats.org/drawingml/2006/main">
              <a:ext uri="{FF2B5EF4-FFF2-40B4-BE49-F238E27FC236}">
                <a16:creationId xmlns:a16="http://schemas.microsoft.com/office/drawing/2014/main" id="{6C9CDCFB-000E-4A05-95FB-EC57B223F06C}"/>
              </a:ext>
            </a:extLst>
          </p:cNvPr>
          <p:cNvSpPr>
            <a:spLocks xmlns:a="http://schemas.openxmlformats.org/drawingml/2006/main" noGrp="1"/>
          </p:cNvSpPr>
          <p:nvPr/>
        </p:nvSpPr>
        <p:spPr>
          <a:xfrm xmlns:a="http://schemas.openxmlformats.org/drawingml/2006/main">
            <a:off x="7620000" y="304800"/>
            <a:ext cx="3962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9D3DF"/>
                </a:solidFill>
                <a:latin typeface="Arial"/>
                <a:ea typeface="Arial"/>
                <a:cs typeface="Arial"/>
              </a:defRPr>
            </a:pPr>
            <a:r>
              <a:rPr sz="1350" b="0">
                <a:solidFill>
                  <a:srgbClr val="C9D3DF"/>
                </a:solidFill>
                <a:latin typeface="Arial"/>
                <a:ea typeface="Arial"/>
                <a:cs typeface="Arial"/>
              </a:rPr>
              <a:t>COURSE 01  /  LESSON 01</a:t>
            </a:r>
          </a:p>
        </p:txBody>
      </p:sp>
      <p:sp>
        <p:nvSpPr>
          <p:cNvPr id="3" name="slide-title">
            <a:extLst xmlns:a="http://schemas.openxmlformats.org/drawingml/2006/main">
              <a:ext uri="{FF2B5EF4-FFF2-40B4-BE49-F238E27FC236}">
                <a16:creationId xmlns:a16="http://schemas.microsoft.com/office/drawing/2014/main" id="{869717E4-85AC-4D46-89E0-B73800BFB780}"/>
              </a:ext>
            </a:extLst>
          </p:cNvPr>
          <p:cNvSpPr>
            <a:spLocks xmlns:a="http://schemas.openxmlformats.org/drawingml/2006/main" noGrp="1"/>
          </p:cNvSpPr>
          <p:nvPr/>
        </p:nvSpPr>
        <p:spPr>
          <a:xfrm xmlns:a="http://schemas.openxmlformats.org/drawingml/2006/main">
            <a:off x="609600" y="942975"/>
            <a:ext cx="10934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F4F7FB"/>
                </a:solidFill>
                <a:latin typeface="Arial"/>
                <a:ea typeface="Arial"/>
                <a:cs typeface="Arial"/>
              </a:defRPr>
            </a:pPr>
            <a:r>
              <a:rPr sz="3675" b="1">
                <a:solidFill>
                  <a:srgbClr val="F4F7FB"/>
                </a:solidFill>
                <a:latin typeface="Arial"/>
                <a:ea typeface="Arial"/>
                <a:cs typeface="Arial"/>
              </a:rPr>
              <a:t>Peta awal untuk layanan Anda</a:t>
            </a:r>
          </a:p>
        </p:txBody>
      </p:sp>
      <p:sp>
        <p:nvSpPr>
          <p:cNvPr id="4" name="Search-to-Sales Mapping Worksheet  ">
            <a:extLst xmlns:a="http://schemas.openxmlformats.org/drawingml/2006/main">
              <a:ext uri="{FF2B5EF4-FFF2-40B4-BE49-F238E27FC236}">
                <a16:creationId xmlns:a16="http://schemas.microsoft.com/office/drawing/2014/main" id="{A5CFA1EF-728B-4BB3-9CA0-5C4989B70BB7}"/>
              </a:ext>
            </a:extLst>
          </p:cNvPr>
          <p:cNvSpPr>
            <a:spLocks xmlns:a="http://schemas.openxmlformats.org/drawingml/2006/main" noGrp="1"/>
          </p:cNvSpPr>
          <p:nvPr/>
        </p:nvSpPr>
        <p:spPr>
          <a:xfrm xmlns:a="http://schemas.openxmlformats.org/drawingml/2006/main">
            <a:off x="609600" y="20955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7D9FF"/>
                </a:solidFill>
                <a:latin typeface="Arial"/>
                <a:ea typeface="Arial"/>
                <a:cs typeface="Arial"/>
              </a:defRPr>
            </a:pPr>
            <a:r>
              <a:rPr sz="1650" b="0">
                <a:solidFill>
                  <a:srgbClr val="67D9FF"/>
                </a:solidFill>
                <a:latin typeface="Arial"/>
                <a:ea typeface="Arial"/>
                <a:cs typeface="Arial"/>
              </a:rPr>
              <a:t>Search-to-Sales Mapping Worksheet  •  Bagian C01L01</a:t>
            </a:r>
          </a:p>
        </p:txBody>
      </p:sp>
      <p:sp>
        <p:nvSpPr>
          <p:cNvPr id="5" name="separator">
            <a:extLst xmlns:a="http://schemas.openxmlformats.org/drawingml/2006/main">
              <a:ext uri="{FF2B5EF4-FFF2-40B4-BE49-F238E27FC236}">
                <a16:creationId xmlns:a16="http://schemas.microsoft.com/office/drawing/2014/main" id="{7AC11905-59B2-44D0-8D2F-682C5FE27B42}"/>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273244"/>
            </a:solidFill>
          </a:ln>
        </p:spPr>
      </p:sp>
      <p:sp>
        <p:nvSpPr>
          <p:cNvPr id="6" name="SEO for Business Growth: From Searc">
            <a:extLst xmlns:a="http://schemas.openxmlformats.org/drawingml/2006/main">
              <a:ext uri="{FF2B5EF4-FFF2-40B4-BE49-F238E27FC236}">
                <a16:creationId xmlns:a16="http://schemas.microsoft.com/office/drawing/2014/main" id="{535E1B94-F713-4846-95EC-97BCFA8BFC0B}"/>
              </a:ext>
            </a:extLst>
          </p:cNvPr>
          <p:cNvSpPr>
            <a:spLocks xmlns:a="http://schemas.openxmlformats.org/drawingml/2006/main" noGrp="1"/>
          </p:cNvSpPr>
          <p:nvPr/>
        </p:nvSpPr>
        <p:spPr>
          <a:xfrm xmlns:a="http://schemas.openxmlformats.org/drawingml/2006/main">
            <a:off x="609600" y="64674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9D3DF"/>
                </a:solidFill>
                <a:latin typeface="Arial"/>
                <a:ea typeface="Arial"/>
                <a:cs typeface="Arial"/>
              </a:defRPr>
            </a:pPr>
            <a:r>
              <a:rPr sz="1200" b="0">
                <a:solidFill>
                  <a:srgbClr val="C9D3DF"/>
                </a:solidFill>
                <a:latin typeface="Arial"/>
                <a:ea typeface="Arial"/>
                <a:cs typeface="Arial"/>
              </a:rPr>
              <a:t>SEO for Business Growth: From Search to Sales</a:t>
            </a:r>
          </a:p>
        </p:txBody>
      </p:sp>
      <p:sp>
        <p:nvSpPr>
          <p:cNvPr id="7" name="11">
            <a:extLst xmlns:a="http://schemas.openxmlformats.org/drawingml/2006/main">
              <a:ext uri="{FF2B5EF4-FFF2-40B4-BE49-F238E27FC236}">
                <a16:creationId xmlns:a16="http://schemas.microsoft.com/office/drawing/2014/main" id="{5C3E14D0-7D95-4B17-98EB-D500A79311B9}"/>
              </a:ext>
            </a:extLst>
          </p:cNvPr>
          <p:cNvSpPr>
            <a:spLocks xmlns:a="http://schemas.openxmlformats.org/drawingml/2006/main" noGrp="1"/>
          </p:cNvSpPr>
          <p:nvPr/>
        </p:nvSpPr>
        <p:spPr>
          <a:xfrm xmlns:a="http://schemas.openxmlformats.org/drawingml/2006/main">
            <a:off x="11049000" y="64293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C9D3DF"/>
                </a:solidFill>
                <a:latin typeface="Arial"/>
                <a:ea typeface="Arial"/>
                <a:cs typeface="Arial"/>
              </a:defRPr>
            </a:pPr>
            <a:r>
              <a:rPr sz="1500" b="0">
                <a:solidFill>
                  <a:srgbClr val="C9D3DF"/>
                </a:solidFill>
                <a:latin typeface="Arial"/>
                <a:ea typeface="Arial"/>
                <a:cs typeface="Arial"/>
              </a:rPr>
              <a:t>11</a:t>
            </a:r>
          </a:p>
        </p:txBody>
      </p:sp>
      <p:sp>
        <p:nvSpPr>
          <p:cNvPr id="8" name="01">
            <a:extLst xmlns:a="http://schemas.openxmlformats.org/drawingml/2006/main">
              <a:ext uri="{FF2B5EF4-FFF2-40B4-BE49-F238E27FC236}">
                <a16:creationId xmlns:a16="http://schemas.microsoft.com/office/drawing/2014/main" id="{A38A214A-AC6D-4A16-8CDE-A04E0F16C7C8}"/>
              </a:ext>
            </a:extLst>
          </p:cNvPr>
          <p:cNvSpPr>
            <a:spLocks xmlns:a="http://schemas.openxmlformats.org/drawingml/2006/main" noGrp="1"/>
          </p:cNvSpPr>
          <p:nvPr/>
        </p:nvSpPr>
        <p:spPr>
          <a:xfrm xmlns:a="http://schemas.openxmlformats.org/drawingml/2006/main">
            <a:off x="619125" y="2886075"/>
            <a:ext cx="581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7D9FF"/>
                </a:solidFill>
                <a:latin typeface="Arial"/>
                <a:ea typeface="Arial"/>
                <a:cs typeface="Arial"/>
              </a:defRPr>
            </a:pPr>
            <a:r>
              <a:rPr sz="1875" b="0">
                <a:solidFill>
                  <a:srgbClr val="67D9FF"/>
                </a:solidFill>
                <a:latin typeface="Arial"/>
                <a:ea typeface="Arial"/>
                <a:cs typeface="Arial"/>
              </a:rPr>
              <a:t>01</a:t>
            </a:r>
          </a:p>
        </p:txBody>
      </p:sp>
      <p:sp>
        <p:nvSpPr>
          <p:cNvPr id="9" name="Pilih satu layanan">
            <a:extLst xmlns:a="http://schemas.openxmlformats.org/drawingml/2006/main">
              <a:ext uri="{FF2B5EF4-FFF2-40B4-BE49-F238E27FC236}">
                <a16:creationId xmlns:a16="http://schemas.microsoft.com/office/drawing/2014/main" id="{DBD870BB-EAF9-4E89-8ACA-B70EA55E4536}"/>
              </a:ext>
            </a:extLst>
          </p:cNvPr>
          <p:cNvSpPr>
            <a:spLocks xmlns:a="http://schemas.openxmlformats.org/drawingml/2006/main" noGrp="1"/>
          </p:cNvSpPr>
          <p:nvPr/>
        </p:nvSpPr>
        <p:spPr>
          <a:xfrm xmlns:a="http://schemas.openxmlformats.org/drawingml/2006/main">
            <a:off x="1362075" y="2876550"/>
            <a:ext cx="57435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F4F7FB"/>
                </a:solidFill>
                <a:latin typeface="Arial"/>
                <a:ea typeface="Arial"/>
                <a:cs typeface="Arial"/>
              </a:defRPr>
            </a:pPr>
            <a:r>
              <a:rPr sz="2250" b="0">
                <a:solidFill>
                  <a:srgbClr val="F4F7FB"/>
                </a:solidFill>
                <a:latin typeface="Arial"/>
                <a:ea typeface="Arial"/>
                <a:cs typeface="Arial"/>
              </a:rPr>
              <a:t>Pilih satu layanan</a:t>
            </a:r>
          </a:p>
        </p:txBody>
      </p:sp>
      <p:sp>
        <p:nvSpPr>
          <p:cNvPr id="10" name="02">
            <a:extLst xmlns:a="http://schemas.openxmlformats.org/drawingml/2006/main">
              <a:ext uri="{FF2B5EF4-FFF2-40B4-BE49-F238E27FC236}">
                <a16:creationId xmlns:a16="http://schemas.microsoft.com/office/drawing/2014/main" id="{37793095-EEA7-479F-B1F8-BB9BCE7540D7}"/>
              </a:ext>
            </a:extLst>
          </p:cNvPr>
          <p:cNvSpPr>
            <a:spLocks xmlns:a="http://schemas.openxmlformats.org/drawingml/2006/main" noGrp="1"/>
          </p:cNvSpPr>
          <p:nvPr/>
        </p:nvSpPr>
        <p:spPr>
          <a:xfrm xmlns:a="http://schemas.openxmlformats.org/drawingml/2006/main">
            <a:off x="619125" y="3609975"/>
            <a:ext cx="581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7D9FF"/>
                </a:solidFill>
                <a:latin typeface="Arial"/>
                <a:ea typeface="Arial"/>
                <a:cs typeface="Arial"/>
              </a:defRPr>
            </a:pPr>
            <a:r>
              <a:rPr sz="1875" b="0">
                <a:solidFill>
                  <a:srgbClr val="67D9FF"/>
                </a:solidFill>
                <a:latin typeface="Arial"/>
                <a:ea typeface="Arial"/>
                <a:cs typeface="Arial"/>
              </a:rPr>
              <a:t>02</a:t>
            </a:r>
          </a:p>
        </p:txBody>
      </p:sp>
      <p:sp>
        <p:nvSpPr>
          <p:cNvPr id="11" name="Jawab empat pertanyaan pembeli">
            <a:extLst xmlns:a="http://schemas.openxmlformats.org/drawingml/2006/main">
              <a:ext uri="{FF2B5EF4-FFF2-40B4-BE49-F238E27FC236}">
                <a16:creationId xmlns:a16="http://schemas.microsoft.com/office/drawing/2014/main" id="{DE192C00-CECD-40A4-A092-5A72BB5EDCB2}"/>
              </a:ext>
            </a:extLst>
          </p:cNvPr>
          <p:cNvSpPr>
            <a:spLocks xmlns:a="http://schemas.openxmlformats.org/drawingml/2006/main" noGrp="1"/>
          </p:cNvSpPr>
          <p:nvPr/>
        </p:nvSpPr>
        <p:spPr>
          <a:xfrm xmlns:a="http://schemas.openxmlformats.org/drawingml/2006/main">
            <a:off x="1362075" y="3600450"/>
            <a:ext cx="57435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F4F7FB"/>
                </a:solidFill>
                <a:latin typeface="Arial"/>
                <a:ea typeface="Arial"/>
                <a:cs typeface="Arial"/>
              </a:defRPr>
            </a:pPr>
            <a:r>
              <a:rPr sz="2250" b="0">
                <a:solidFill>
                  <a:srgbClr val="F4F7FB"/>
                </a:solidFill>
                <a:latin typeface="Arial"/>
                <a:ea typeface="Arial"/>
                <a:cs typeface="Arial"/>
              </a:rPr>
              <a:t>Jawab empat pertanyaan pembeli</a:t>
            </a:r>
          </a:p>
        </p:txBody>
      </p:sp>
      <p:sp>
        <p:nvSpPr>
          <p:cNvPr id="12" name="03">
            <a:extLst xmlns:a="http://schemas.openxmlformats.org/drawingml/2006/main">
              <a:ext uri="{FF2B5EF4-FFF2-40B4-BE49-F238E27FC236}">
                <a16:creationId xmlns:a16="http://schemas.microsoft.com/office/drawing/2014/main" id="{6E0DC65F-A186-45C7-AFF2-8FE2DAB3661D}"/>
              </a:ext>
            </a:extLst>
          </p:cNvPr>
          <p:cNvSpPr>
            <a:spLocks xmlns:a="http://schemas.openxmlformats.org/drawingml/2006/main" noGrp="1"/>
          </p:cNvSpPr>
          <p:nvPr/>
        </p:nvSpPr>
        <p:spPr>
          <a:xfrm xmlns:a="http://schemas.openxmlformats.org/drawingml/2006/main">
            <a:off x="619125" y="4333875"/>
            <a:ext cx="581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7D9FF"/>
                </a:solidFill>
                <a:latin typeface="Arial"/>
                <a:ea typeface="Arial"/>
                <a:cs typeface="Arial"/>
              </a:defRPr>
            </a:pPr>
            <a:r>
              <a:rPr sz="1875" b="0">
                <a:solidFill>
                  <a:srgbClr val="67D9FF"/>
                </a:solidFill>
                <a:latin typeface="Arial"/>
                <a:ea typeface="Arial"/>
                <a:cs typeface="Arial"/>
              </a:rPr>
              <a:t>03</a:t>
            </a:r>
          </a:p>
        </p:txBody>
      </p:sp>
      <p:sp>
        <p:nvSpPr>
          <p:cNvPr id="13" name="Catat satu gap atau unknown">
            <a:extLst xmlns:a="http://schemas.openxmlformats.org/drawingml/2006/main">
              <a:ext uri="{FF2B5EF4-FFF2-40B4-BE49-F238E27FC236}">
                <a16:creationId xmlns:a16="http://schemas.microsoft.com/office/drawing/2014/main" id="{E9D727A4-E000-4881-BF71-A821C72F2C9D}"/>
              </a:ext>
            </a:extLst>
          </p:cNvPr>
          <p:cNvSpPr>
            <a:spLocks xmlns:a="http://schemas.openxmlformats.org/drawingml/2006/main" noGrp="1"/>
          </p:cNvSpPr>
          <p:nvPr/>
        </p:nvSpPr>
        <p:spPr>
          <a:xfrm xmlns:a="http://schemas.openxmlformats.org/drawingml/2006/main">
            <a:off x="1362075" y="4324350"/>
            <a:ext cx="57435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F4F7FB"/>
                </a:solidFill>
                <a:latin typeface="Arial"/>
                <a:ea typeface="Arial"/>
                <a:cs typeface="Arial"/>
              </a:defRPr>
            </a:pPr>
            <a:r>
              <a:rPr sz="2250" b="0">
                <a:solidFill>
                  <a:srgbClr val="F4F7FB"/>
                </a:solidFill>
                <a:latin typeface="Arial"/>
                <a:ea typeface="Arial"/>
                <a:cs typeface="Arial"/>
              </a:rPr>
              <a:t>Catat satu gap atau unknown</a:t>
            </a:r>
          </a:p>
        </p:txBody>
      </p:sp>
      <p:sp>
        <p:nvSpPr>
          <p:cNvPr id="14" name="04">
            <a:extLst xmlns:a="http://schemas.openxmlformats.org/drawingml/2006/main">
              <a:ext uri="{FF2B5EF4-FFF2-40B4-BE49-F238E27FC236}">
                <a16:creationId xmlns:a16="http://schemas.microsoft.com/office/drawing/2014/main" id="{C4E43837-04F3-47CF-92DE-EDA67E837AE7}"/>
              </a:ext>
            </a:extLst>
          </p:cNvPr>
          <p:cNvSpPr>
            <a:spLocks xmlns:a="http://schemas.openxmlformats.org/drawingml/2006/main" noGrp="1"/>
          </p:cNvSpPr>
          <p:nvPr/>
        </p:nvSpPr>
        <p:spPr>
          <a:xfrm xmlns:a="http://schemas.openxmlformats.org/drawingml/2006/main">
            <a:off x="619125" y="5057775"/>
            <a:ext cx="581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7D9FF"/>
                </a:solidFill>
                <a:latin typeface="Arial"/>
                <a:ea typeface="Arial"/>
                <a:cs typeface="Arial"/>
              </a:defRPr>
            </a:pPr>
            <a:r>
              <a:rPr sz="1875" b="0">
                <a:solidFill>
                  <a:srgbClr val="67D9FF"/>
                </a:solidFill>
                <a:latin typeface="Arial"/>
                <a:ea typeface="Arial"/>
                <a:cs typeface="Arial"/>
              </a:rPr>
              <a:t>04</a:t>
            </a:r>
          </a:p>
        </p:txBody>
      </p:sp>
      <p:sp>
        <p:nvSpPr>
          <p:cNvPr id="15" name="Tentukan bukti berikutnya">
            <a:extLst xmlns:a="http://schemas.openxmlformats.org/drawingml/2006/main">
              <a:ext uri="{FF2B5EF4-FFF2-40B4-BE49-F238E27FC236}">
                <a16:creationId xmlns:a16="http://schemas.microsoft.com/office/drawing/2014/main" id="{B122196C-5E40-40BF-889A-83DFB3B2213A}"/>
              </a:ext>
            </a:extLst>
          </p:cNvPr>
          <p:cNvSpPr>
            <a:spLocks xmlns:a="http://schemas.openxmlformats.org/drawingml/2006/main" noGrp="1"/>
          </p:cNvSpPr>
          <p:nvPr/>
        </p:nvSpPr>
        <p:spPr>
          <a:xfrm xmlns:a="http://schemas.openxmlformats.org/drawingml/2006/main">
            <a:off x="1362075" y="5048250"/>
            <a:ext cx="57435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4F7FB"/>
                </a:solidFill>
                <a:latin typeface="Arial"/>
                <a:ea typeface="Arial"/>
                <a:cs typeface="Arial"/>
              </a:defRPr>
            </a:pPr>
            <a:r>
              <a:rPr sz="2250" b="1">
                <a:solidFill>
                  <a:srgbClr val="F4F7FB"/>
                </a:solidFill>
                <a:latin typeface="Arial"/>
                <a:ea typeface="Arial"/>
                <a:cs typeface="Arial"/>
              </a:rPr>
              <a:t>Tentukan bukti berikutnya</a:t>
            </a:r>
          </a:p>
        </p:txBody>
      </p:sp>
      <p:sp>
        <p:nvSpPr>
          <p:cNvPr id="16" name="">
            <a:extLst xmlns:a="http://schemas.openxmlformats.org/drawingml/2006/main">
              <a:ext uri="{FF2B5EF4-FFF2-40B4-BE49-F238E27FC236}">
                <a16:creationId xmlns:a16="http://schemas.microsoft.com/office/drawing/2014/main" id="{EA46E753-1F9C-4FAF-9990-55D5DBA41F20}"/>
              </a:ext>
            </a:extLst>
          </p:cNvPr>
          <p:cNvSpPr>
            <a:spLocks xmlns:a="http://schemas.openxmlformats.org/drawingml/2006/main" noGrp="1"/>
          </p:cNvSpPr>
          <p:nvPr/>
        </p:nvSpPr>
        <p:spPr>
          <a:xfrm xmlns:a="http://schemas.openxmlformats.org/drawingml/2006/main">
            <a:off x="7572375" y="2762250"/>
            <a:ext cx="0" cy="3124200"/>
          </a:xfrm>
          <a:prstGeom xmlns:a="http://schemas.openxmlformats.org/drawingml/2006/main" prst="line">
            <a:avLst/>
          </a:prstGeom>
          <a:ln xmlns:a="http://schemas.openxmlformats.org/drawingml/2006/main" w="19050">
            <a:solidFill>
              <a:srgbClr val="273244"/>
            </a:solidFill>
          </a:ln>
        </p:spPr>
      </p:sp>
      <p:sp>
        <p:nvSpPr>
          <p:cNvPr id="17" name="Belum tahu&#10;perilaku search?">
            <a:extLst xmlns:a="http://schemas.openxmlformats.org/drawingml/2006/main">
              <a:ext uri="{FF2B5EF4-FFF2-40B4-BE49-F238E27FC236}">
                <a16:creationId xmlns:a16="http://schemas.microsoft.com/office/drawing/2014/main" id="{B51D73CE-8A4E-442A-A087-3FB22F3618F9}"/>
              </a:ext>
            </a:extLst>
          </p:cNvPr>
          <p:cNvSpPr>
            <a:spLocks xmlns:a="http://schemas.openxmlformats.org/drawingml/2006/main" noGrp="1"/>
          </p:cNvSpPr>
          <p:nvPr/>
        </p:nvSpPr>
        <p:spPr>
          <a:xfrm xmlns:a="http://schemas.openxmlformats.org/drawingml/2006/main">
            <a:off x="8115300" y="2914650"/>
            <a:ext cx="33623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4F7FB"/>
                </a:solidFill>
                <a:latin typeface="Arial"/>
                <a:ea typeface="Arial"/>
                <a:cs typeface="Arial"/>
              </a:defRPr>
            </a:pPr>
            <a:r>
              <a:rPr sz="2250" b="1">
                <a:solidFill>
                  <a:srgbClr val="F4F7FB"/>
                </a:solidFill>
                <a:latin typeface="Arial"/>
                <a:ea typeface="Arial"/>
                <a:cs typeface="Arial"/>
              </a:rPr>
              <a:t>Belum tahu</a:t>
            </a:r>
          </a:p>
          <a:p xmlns:a="http://schemas.openxmlformats.org/drawingml/2006/main">
            <a:pPr algn="l">
              <a:defRPr sz="2250" b="1">
                <a:solidFill>
                  <a:srgbClr val="F4F7FB"/>
                </a:solidFill>
                <a:latin typeface="Arial"/>
                <a:ea typeface="Arial"/>
                <a:cs typeface="Arial"/>
              </a:defRPr>
            </a:pPr>
            <a:r>
              <a:rPr sz="2250" b="1">
                <a:solidFill>
                  <a:srgbClr val="F4F7FB"/>
                </a:solidFill>
                <a:latin typeface="Arial"/>
                <a:ea typeface="Arial"/>
                <a:cs typeface="Arial"/>
              </a:rPr>
              <a:t>perilaku search?</a:t>
            </a:r>
          </a:p>
        </p:txBody>
      </p:sp>
      <p:sp>
        <p:nvSpPr>
          <p:cNvPr id="18" name="Periksa dahulu.">
            <a:extLst xmlns:a="http://schemas.openxmlformats.org/drawingml/2006/main">
              <a:ext uri="{FF2B5EF4-FFF2-40B4-BE49-F238E27FC236}">
                <a16:creationId xmlns:a16="http://schemas.microsoft.com/office/drawing/2014/main" id="{544BA245-5634-4354-A269-A15E0416D4F9}"/>
              </a:ext>
            </a:extLst>
          </p:cNvPr>
          <p:cNvSpPr>
            <a:spLocks xmlns:a="http://schemas.openxmlformats.org/drawingml/2006/main" noGrp="1"/>
          </p:cNvSpPr>
          <p:nvPr/>
        </p:nvSpPr>
        <p:spPr>
          <a:xfrm xmlns:a="http://schemas.openxmlformats.org/drawingml/2006/main">
            <a:off x="8115300" y="3848100"/>
            <a:ext cx="33623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7D9FF"/>
                </a:solidFill>
                <a:latin typeface="Arial"/>
                <a:ea typeface="Arial"/>
                <a:cs typeface="Arial"/>
              </a:defRPr>
            </a:pPr>
            <a:r>
              <a:rPr sz="2025" b="0">
                <a:solidFill>
                  <a:srgbClr val="67D9FF"/>
                </a:solidFill>
                <a:latin typeface="Arial"/>
                <a:ea typeface="Arial"/>
                <a:cs typeface="Arial"/>
              </a:rPr>
              <a:t>Periksa dahulu.</a:t>
            </a:r>
          </a:p>
        </p:txBody>
      </p:sp>
      <p:sp>
        <p:nvSpPr>
          <p:cNvPr id="19" name="Inquiry relevan&#10;terlambat ditangani">
            <a:extLst xmlns:a="http://schemas.openxmlformats.org/drawingml/2006/main">
              <a:ext uri="{FF2B5EF4-FFF2-40B4-BE49-F238E27FC236}">
                <a16:creationId xmlns:a16="http://schemas.microsoft.com/office/drawing/2014/main" id="{AB9E6A7D-634A-4F60-81A1-ED5330991EAD}"/>
              </a:ext>
            </a:extLst>
          </p:cNvPr>
          <p:cNvSpPr>
            <a:spLocks xmlns:a="http://schemas.openxmlformats.org/drawingml/2006/main" noGrp="1"/>
          </p:cNvSpPr>
          <p:nvPr/>
        </p:nvSpPr>
        <p:spPr>
          <a:xfrm xmlns:a="http://schemas.openxmlformats.org/drawingml/2006/main">
            <a:off x="8115300" y="4562475"/>
            <a:ext cx="33623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4F7FB"/>
                </a:solidFill>
                <a:latin typeface="Arial"/>
                <a:ea typeface="Arial"/>
                <a:cs typeface="Arial"/>
              </a:defRPr>
            </a:pPr>
            <a:r>
              <a:rPr sz="2100" b="1">
                <a:solidFill>
                  <a:srgbClr val="F4F7FB"/>
                </a:solidFill>
                <a:latin typeface="Arial"/>
                <a:ea typeface="Arial"/>
                <a:cs typeface="Arial"/>
              </a:rPr>
              <a:t>Inquiry relevan</a:t>
            </a:r>
          </a:p>
          <a:p xmlns:a="http://schemas.openxmlformats.org/drawingml/2006/main">
            <a:pPr algn="l">
              <a:defRPr sz="2100" b="1">
                <a:solidFill>
                  <a:srgbClr val="F4F7FB"/>
                </a:solidFill>
                <a:latin typeface="Arial"/>
                <a:ea typeface="Arial"/>
                <a:cs typeface="Arial"/>
              </a:defRPr>
            </a:pPr>
            <a:r>
              <a:rPr sz="2100" b="1">
                <a:solidFill>
                  <a:srgbClr val="F4F7FB"/>
                </a:solidFill>
                <a:latin typeface="Arial"/>
                <a:ea typeface="Arial"/>
                <a:cs typeface="Arial"/>
              </a:rPr>
              <a:t>terlambat ditangani?</a:t>
            </a:r>
          </a:p>
        </p:txBody>
      </p:sp>
      <p:sp>
        <p:nvSpPr>
          <p:cNvPr id="20" name="Periksa tindak lanjut.">
            <a:extLst xmlns:a="http://schemas.openxmlformats.org/drawingml/2006/main">
              <a:ext uri="{FF2B5EF4-FFF2-40B4-BE49-F238E27FC236}">
                <a16:creationId xmlns:a16="http://schemas.microsoft.com/office/drawing/2014/main" id="{DE0FE276-EDC7-4C24-A299-58DD69DA1494}"/>
              </a:ext>
            </a:extLst>
          </p:cNvPr>
          <p:cNvSpPr>
            <a:spLocks xmlns:a="http://schemas.openxmlformats.org/drawingml/2006/main" noGrp="1"/>
          </p:cNvSpPr>
          <p:nvPr/>
        </p:nvSpPr>
        <p:spPr>
          <a:xfrm xmlns:a="http://schemas.openxmlformats.org/drawingml/2006/main">
            <a:off x="8115300" y="5543550"/>
            <a:ext cx="3362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7D9FF"/>
                </a:solidFill>
                <a:latin typeface="Arial"/>
                <a:ea typeface="Arial"/>
                <a:cs typeface="Arial"/>
              </a:defRPr>
            </a:pPr>
            <a:r>
              <a:rPr sz="1875" b="0">
                <a:solidFill>
                  <a:srgbClr val="67D9FF"/>
                </a:solidFill>
                <a:latin typeface="Arial"/>
                <a:ea typeface="Arial"/>
                <a:cs typeface="Arial"/>
              </a:rPr>
              <a:t>Periksa tindak lanjut.</a:t>
            </a:r>
          </a:p>
        </p:txBody>
      </p:sp>
    </p:spTree>
    <p:extLst>
      <p:ext uri="{BB962C8B-B14F-4D97-AF65-F5344CB8AC3E}">
        <p14:creationId xmlns:p14="http://schemas.microsoft.com/office/powerpoint/2010/main" val="1972312083"/>
      </p:ext>
    </p:extLst>
  </p:cSld>
</p:sld>
</file>

<file path=ppt/slides/slide12.xml><?xml version="1.0" encoding="utf-8"?>
<p:sld xmlns:p="http://schemas.openxmlformats.org/presentationml/2006/main">
  <p:cSld>
    <p:bg>
      <p:bgPr>
        <a:solidFill xmlns:a="http://schemas.openxmlformats.org/drawingml/2006/main">
          <a:srgbClr val="070B12"/>
        </a:solidFill>
      </p:bgPr>
    </p:bg>
    <p:spTree>
      <p:nvGrpSpPr>
        <p:cNvPr id="1" name=""/>
        <p:cNvGrpSpPr/>
        <p:nvPr/>
      </p:nvGrpSpPr>
      <p:grpSpPr>
        <a:xfrm xmlns:a="http://schemas.openxmlformats.org/drawingml/2006/main"/>
      </p:grpSpPr>
      <p:sp>
        <p:nvSpPr>
          <p:cNvPr id="13" name="KULTIVATE LEARN">
            <a:extLst xmlns:a="http://schemas.openxmlformats.org/drawingml/2006/main">
              <a:ext uri="{FF2B5EF4-FFF2-40B4-BE49-F238E27FC236}">
                <a16:creationId xmlns:a16="http://schemas.microsoft.com/office/drawing/2014/main" id="{78DCE515-C50A-4B93-B25D-6D259F076674}"/>
              </a:ext>
            </a:extLst>
          </p:cNvPr>
          <p:cNvSpPr>
            <a:spLocks xmlns:a="http://schemas.openxmlformats.org/drawingml/2006/main" noGrp="1"/>
          </p:cNvSpPr>
          <p:nvPr/>
        </p:nvSpPr>
        <p:spPr>
          <a:xfrm xmlns:a="http://schemas.openxmlformats.org/drawingml/2006/main">
            <a:off x="609600" y="304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C9D3DF"/>
                </a:solidFill>
                <a:latin typeface="Arial"/>
                <a:ea typeface="Arial"/>
                <a:cs typeface="Arial"/>
              </a:defRPr>
            </a:pPr>
            <a:r>
              <a:rPr sz="1350" b="1">
                <a:solidFill>
                  <a:srgbClr val="C9D3DF"/>
                </a:solidFill>
                <a:latin typeface="Arial"/>
                <a:ea typeface="Arial"/>
                <a:cs typeface="Arial"/>
              </a:rPr>
              <a:t>KULTIVATE LEARN</a:t>
            </a:r>
          </a:p>
        </p:txBody>
      </p:sp>
      <p:sp>
        <p:nvSpPr>
          <p:cNvPr id="2" name="COURSE 01  /  LESSON 01">
            <a:extLst xmlns:a="http://schemas.openxmlformats.org/drawingml/2006/main">
              <a:ext uri="{FF2B5EF4-FFF2-40B4-BE49-F238E27FC236}">
                <a16:creationId xmlns:a16="http://schemas.microsoft.com/office/drawing/2014/main" id="{4D761EB8-703C-41FB-A94F-CE0136D1A048}"/>
              </a:ext>
            </a:extLst>
          </p:cNvPr>
          <p:cNvSpPr>
            <a:spLocks xmlns:a="http://schemas.openxmlformats.org/drawingml/2006/main" noGrp="1"/>
          </p:cNvSpPr>
          <p:nvPr/>
        </p:nvSpPr>
        <p:spPr>
          <a:xfrm xmlns:a="http://schemas.openxmlformats.org/drawingml/2006/main">
            <a:off x="7620000" y="304800"/>
            <a:ext cx="3962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9D3DF"/>
                </a:solidFill>
                <a:latin typeface="Arial"/>
                <a:ea typeface="Arial"/>
                <a:cs typeface="Arial"/>
              </a:defRPr>
            </a:pPr>
            <a:r>
              <a:rPr sz="1350" b="0">
                <a:solidFill>
                  <a:srgbClr val="C9D3DF"/>
                </a:solidFill>
                <a:latin typeface="Arial"/>
                <a:ea typeface="Arial"/>
                <a:cs typeface="Arial"/>
              </a:rPr>
              <a:t>COURSE 01  /  LESSON 01</a:t>
            </a:r>
          </a:p>
        </p:txBody>
      </p:sp>
      <p:sp>
        <p:nvSpPr>
          <p:cNvPr id="3" name="separator">
            <a:extLst xmlns:a="http://schemas.openxmlformats.org/drawingml/2006/main">
              <a:ext uri="{FF2B5EF4-FFF2-40B4-BE49-F238E27FC236}">
                <a16:creationId xmlns:a16="http://schemas.microsoft.com/office/drawing/2014/main" id="{C23AABDC-D3DF-44D4-99BB-77C9D78A4590}"/>
              </a:ext>
            </a:extLst>
          </p:cNvPr>
          <p:cNvSpPr>
            <a:spLocks xmlns:a="http://schemas.openxmlformats.org/drawingml/2006/main" noGrp="1"/>
          </p:cNvSpPr>
          <p:nvPr/>
        </p:nvSpPr>
        <p:spPr>
          <a:xfrm xmlns:a="http://schemas.openxmlformats.org/drawingml/2006/main">
            <a:off x="609600" y="6315075"/>
            <a:ext cx="10972800" cy="0"/>
          </a:xfrm>
          <a:prstGeom xmlns:a="http://schemas.openxmlformats.org/drawingml/2006/main" prst="line">
            <a:avLst/>
          </a:prstGeom>
          <a:noFill xmlns:a="http://schemas.openxmlformats.org/drawingml/2006/main"/>
          <a:ln xmlns:a="http://schemas.openxmlformats.org/drawingml/2006/main" w="9525">
            <a:solidFill>
              <a:srgbClr val="273244"/>
            </a:solidFill>
          </a:ln>
        </p:spPr>
      </p:sp>
      <p:sp>
        <p:nvSpPr>
          <p:cNvPr id="4" name="SEO for Business Growth: From Searc">
            <a:extLst xmlns:a="http://schemas.openxmlformats.org/drawingml/2006/main">
              <a:ext uri="{FF2B5EF4-FFF2-40B4-BE49-F238E27FC236}">
                <a16:creationId xmlns:a16="http://schemas.microsoft.com/office/drawing/2014/main" id="{DE54F542-CA00-4881-B73F-8749CDB47104}"/>
              </a:ext>
            </a:extLst>
          </p:cNvPr>
          <p:cNvSpPr>
            <a:spLocks xmlns:a="http://schemas.openxmlformats.org/drawingml/2006/main" noGrp="1"/>
          </p:cNvSpPr>
          <p:nvPr/>
        </p:nvSpPr>
        <p:spPr>
          <a:xfrm xmlns:a="http://schemas.openxmlformats.org/drawingml/2006/main">
            <a:off x="609600" y="64674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9D3DF"/>
                </a:solidFill>
                <a:latin typeface="Arial"/>
                <a:ea typeface="Arial"/>
                <a:cs typeface="Arial"/>
              </a:defRPr>
            </a:pPr>
            <a:r>
              <a:rPr sz="1200" b="0">
                <a:solidFill>
                  <a:srgbClr val="C9D3DF"/>
                </a:solidFill>
                <a:latin typeface="Arial"/>
                <a:ea typeface="Arial"/>
                <a:cs typeface="Arial"/>
              </a:rPr>
              <a:t>SEO for Business Growth: From Search to Sales</a:t>
            </a:r>
          </a:p>
        </p:txBody>
      </p:sp>
      <p:sp>
        <p:nvSpPr>
          <p:cNvPr id="5" name="12">
            <a:extLst xmlns:a="http://schemas.openxmlformats.org/drawingml/2006/main">
              <a:ext uri="{FF2B5EF4-FFF2-40B4-BE49-F238E27FC236}">
                <a16:creationId xmlns:a16="http://schemas.microsoft.com/office/drawing/2014/main" id="{85E406F6-42A0-43C9-832A-65BE137DF5AA}"/>
              </a:ext>
            </a:extLst>
          </p:cNvPr>
          <p:cNvSpPr>
            <a:spLocks xmlns:a="http://schemas.openxmlformats.org/drawingml/2006/main" noGrp="1"/>
          </p:cNvSpPr>
          <p:nvPr/>
        </p:nvSpPr>
        <p:spPr>
          <a:xfrm xmlns:a="http://schemas.openxmlformats.org/drawingml/2006/main">
            <a:off x="11049000" y="64293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C9D3DF"/>
                </a:solidFill>
                <a:latin typeface="Arial"/>
                <a:ea typeface="Arial"/>
                <a:cs typeface="Arial"/>
              </a:defRPr>
            </a:pPr>
            <a:r>
              <a:rPr sz="1500" b="0">
                <a:solidFill>
                  <a:srgbClr val="C9D3DF"/>
                </a:solidFill>
                <a:latin typeface="Arial"/>
                <a:ea typeface="Arial"/>
                <a:cs typeface="Arial"/>
              </a:rPr>
              <a:t>12</a:t>
            </a:r>
          </a:p>
        </p:txBody>
      </p:sp>
      <p:sp>
        <p:nvSpPr>
          <p:cNvPr id="6" name="slide-title">
            <a:extLst xmlns:a="http://schemas.openxmlformats.org/drawingml/2006/main">
              <a:ext uri="{FF2B5EF4-FFF2-40B4-BE49-F238E27FC236}">
                <a16:creationId xmlns:a16="http://schemas.microsoft.com/office/drawing/2014/main" id="{4B72059F-0841-4AFD-B080-08CB80B05981}"/>
              </a:ext>
            </a:extLst>
          </p:cNvPr>
          <p:cNvSpPr>
            <a:spLocks xmlns:a="http://schemas.openxmlformats.org/drawingml/2006/main" noGrp="1"/>
          </p:cNvSpPr>
          <p:nvPr/>
        </p:nvSpPr>
        <p:spPr>
          <a:xfrm xmlns:a="http://schemas.openxmlformats.org/drawingml/2006/main">
            <a:off x="609600" y="127635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F4F7FB"/>
                </a:solidFill>
                <a:latin typeface="Arial"/>
                <a:ea typeface="Arial"/>
                <a:cs typeface="Arial"/>
              </a:defRPr>
            </a:pPr>
            <a:r>
              <a:rPr sz="4275" b="1">
                <a:solidFill>
                  <a:srgbClr val="F4F7FB"/>
                </a:solidFill>
                <a:latin typeface="Arial"/>
                <a:ea typeface="Arial"/>
                <a:cs typeface="Arial"/>
              </a:rPr>
              <a:t>Search dinilai lewat</a:t>
            </a:r>
          </a:p>
          <a:p xmlns:a="http://schemas.openxmlformats.org/drawingml/2006/main">
            <a:pPr algn="l">
              <a:defRPr sz="4275" b="1">
                <a:solidFill>
                  <a:srgbClr val="F4F7FB"/>
                </a:solidFill>
                <a:latin typeface="Arial"/>
                <a:ea typeface="Arial"/>
                <a:cs typeface="Arial"/>
              </a:defRPr>
            </a:pPr>
            <a:r>
              <a:rPr sz="4275" b="1">
                <a:solidFill>
                  <a:srgbClr val="F4F7FB"/>
                </a:solidFill>
                <a:latin typeface="Arial"/>
                <a:ea typeface="Arial"/>
                <a:cs typeface="Arial"/>
              </a:rPr>
              <a:t>keputusan yang dibantunya</a:t>
            </a:r>
          </a:p>
        </p:txBody>
      </p:sp>
      <p:sp>
        <p:nvSpPr>
          <p:cNvPr id="7" name="Periksa bukti menuju inquiry yang s">
            <a:extLst xmlns:a="http://schemas.openxmlformats.org/drawingml/2006/main">
              <a:ext uri="{FF2B5EF4-FFF2-40B4-BE49-F238E27FC236}">
                <a16:creationId xmlns:a16="http://schemas.microsoft.com/office/drawing/2014/main" id="{26EEC5D1-8FDB-4222-B5C3-7C6D4A2B54FD}"/>
              </a:ext>
            </a:extLst>
          </p:cNvPr>
          <p:cNvSpPr>
            <a:spLocks xmlns:a="http://schemas.openxmlformats.org/drawingml/2006/main" noGrp="1"/>
          </p:cNvSpPr>
          <p:nvPr/>
        </p:nvSpPr>
        <p:spPr>
          <a:xfrm xmlns:a="http://schemas.openxmlformats.org/drawingml/2006/main">
            <a:off x="609600" y="32194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67D9FF"/>
                </a:solidFill>
                <a:latin typeface="Arial"/>
                <a:ea typeface="Arial"/>
                <a:cs typeface="Arial"/>
              </a:defRPr>
            </a:pPr>
            <a:r>
              <a:rPr sz="2775" b="0">
                <a:solidFill>
                  <a:srgbClr val="67D9FF"/>
                </a:solidFill>
                <a:latin typeface="Arial"/>
                <a:ea typeface="Arial"/>
                <a:cs typeface="Arial"/>
              </a:rPr>
              <a:t>Periksa bukti menuju inquiry yang sesuai.</a:t>
            </a:r>
          </a:p>
        </p:txBody>
      </p:sp>
      <p:sp>
        <p:nvSpPr>
          <p:cNvPr id="8" name="Traffic saja belum membuktikan pelu">
            <a:extLst xmlns:a="http://schemas.openxmlformats.org/drawingml/2006/main">
              <a:ext uri="{FF2B5EF4-FFF2-40B4-BE49-F238E27FC236}">
                <a16:creationId xmlns:a16="http://schemas.microsoft.com/office/drawing/2014/main" id="{E826FCD8-9F1B-4DC3-B84A-8FE6065582C5}"/>
              </a:ext>
            </a:extLst>
          </p:cNvPr>
          <p:cNvSpPr>
            <a:spLocks xmlns:a="http://schemas.openxmlformats.org/drawingml/2006/main" noGrp="1"/>
          </p:cNvSpPr>
          <p:nvPr/>
        </p:nvSpPr>
        <p:spPr>
          <a:xfrm xmlns:a="http://schemas.openxmlformats.org/drawingml/2006/main">
            <a:off x="609600" y="3905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C9D3DF"/>
                </a:solidFill>
                <a:latin typeface="Arial"/>
                <a:ea typeface="Arial"/>
                <a:cs typeface="Arial"/>
              </a:defRPr>
            </a:pPr>
            <a:r>
              <a:rPr sz="2400" b="0">
                <a:solidFill>
                  <a:srgbClr val="C9D3DF"/>
                </a:solidFill>
                <a:latin typeface="Arial"/>
                <a:ea typeface="Arial"/>
                <a:cs typeface="Arial"/>
              </a:rPr>
              <a:t>Traffic saja belum membuktikan peluang bisnis.</a:t>
            </a:r>
          </a:p>
        </p:txBody>
      </p:sp>
      <p:sp>
        <p:nvSpPr>
          <p:cNvPr id="9" name="separator">
            <a:extLst xmlns:a="http://schemas.openxmlformats.org/drawingml/2006/main">
              <a:ext uri="{FF2B5EF4-FFF2-40B4-BE49-F238E27FC236}">
                <a16:creationId xmlns:a16="http://schemas.microsoft.com/office/drawing/2014/main" id="{90C27697-9CDF-4AFA-A501-B6B11DCC6D02}"/>
              </a:ext>
            </a:extLst>
          </p:cNvPr>
          <p:cNvSpPr>
            <a:spLocks xmlns:a="http://schemas.openxmlformats.org/drawingml/2006/main" noGrp="1"/>
          </p:cNvSpPr>
          <p:nvPr/>
        </p:nvSpPr>
        <p:spPr>
          <a:xfrm xmlns:a="http://schemas.openxmlformats.org/drawingml/2006/main">
            <a:off x="609600" y="4943475"/>
            <a:ext cx="10820400" cy="0"/>
          </a:xfrm>
          <a:prstGeom xmlns:a="http://schemas.openxmlformats.org/drawingml/2006/main" prst="line">
            <a:avLst/>
          </a:prstGeom>
          <a:noFill xmlns:a="http://schemas.openxmlformats.org/drawingml/2006/main"/>
          <a:ln xmlns:a="http://schemas.openxmlformats.org/drawingml/2006/main" w="9525">
            <a:solidFill>
              <a:srgbClr val="273244"/>
            </a:solidFill>
          </a:ln>
        </p:spPr>
      </p:sp>
      <p:sp>
        <p:nvSpPr>
          <p:cNvPr id="10" name="BERIKUTNYA  /  LESSON 02">
            <a:extLst xmlns:a="http://schemas.openxmlformats.org/drawingml/2006/main">
              <a:ext uri="{FF2B5EF4-FFF2-40B4-BE49-F238E27FC236}">
                <a16:creationId xmlns:a16="http://schemas.microsoft.com/office/drawing/2014/main" id="{412C13A6-32AC-4531-9E68-02077D9F40DB}"/>
              </a:ext>
            </a:extLst>
          </p:cNvPr>
          <p:cNvSpPr>
            <a:spLocks xmlns:a="http://schemas.openxmlformats.org/drawingml/2006/main" noGrp="1"/>
          </p:cNvSpPr>
          <p:nvPr/>
        </p:nvSpPr>
        <p:spPr>
          <a:xfrm xmlns:a="http://schemas.openxmlformats.org/drawingml/2006/main">
            <a:off x="609600" y="523875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C9D3DF"/>
                </a:solidFill>
                <a:latin typeface="Arial"/>
                <a:ea typeface="Arial"/>
                <a:cs typeface="Arial"/>
              </a:defRPr>
            </a:pPr>
            <a:r>
              <a:rPr sz="1500" b="1">
                <a:solidFill>
                  <a:srgbClr val="C9D3DF"/>
                </a:solidFill>
                <a:latin typeface="Arial"/>
                <a:ea typeface="Arial"/>
                <a:cs typeface="Arial"/>
              </a:rPr>
              <a:t>BERIKUTNYA  /  LESSON 02</a:t>
            </a:r>
          </a:p>
        </p:txBody>
      </p:sp>
      <p:sp>
        <p:nvSpPr>
          <p:cNvPr id="11" name="Map Customer Demand Before Choosing">
            <a:extLst xmlns:a="http://schemas.openxmlformats.org/drawingml/2006/main">
              <a:ext uri="{FF2B5EF4-FFF2-40B4-BE49-F238E27FC236}">
                <a16:creationId xmlns:a16="http://schemas.microsoft.com/office/drawing/2014/main" id="{8ABADD78-B024-441A-99BA-236D1AD9D94E}"/>
              </a:ext>
            </a:extLst>
          </p:cNvPr>
          <p:cNvSpPr>
            <a:spLocks xmlns:a="http://schemas.openxmlformats.org/drawingml/2006/main" noGrp="1"/>
          </p:cNvSpPr>
          <p:nvPr/>
        </p:nvSpPr>
        <p:spPr>
          <a:xfrm xmlns:a="http://schemas.openxmlformats.org/drawingml/2006/main">
            <a:off x="609600" y="5648325"/>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4F7FB"/>
                </a:solidFill>
                <a:latin typeface="Arial"/>
                <a:ea typeface="Arial"/>
                <a:cs typeface="Arial"/>
              </a:defRPr>
            </a:pPr>
            <a:r>
              <a:rPr sz="2175" b="1">
                <a:solidFill>
                  <a:srgbClr val="F4F7FB"/>
                </a:solidFill>
                <a:latin typeface="Arial"/>
                <a:ea typeface="Arial"/>
                <a:cs typeface="Arial"/>
              </a:rPr>
              <a:t>Map Customer Demand Before Choosing Keywords</a:t>
            </a:r>
          </a:p>
        </p:txBody>
      </p:sp>
      <p:sp>
        <p:nvSpPr>
          <p:cNvPr id="12" name="Worksheet C01L01 bersifat opsional">
            <a:extLst xmlns:a="http://schemas.openxmlformats.org/drawingml/2006/main">
              <a:ext uri="{FF2B5EF4-FFF2-40B4-BE49-F238E27FC236}">
                <a16:creationId xmlns:a16="http://schemas.microsoft.com/office/drawing/2014/main" id="{49149489-7119-4466-8715-918ED521FDAD}"/>
              </a:ext>
            </a:extLst>
          </p:cNvPr>
          <p:cNvSpPr>
            <a:spLocks xmlns:a="http://schemas.openxmlformats.org/drawingml/2006/main" noGrp="1"/>
          </p:cNvSpPr>
          <p:nvPr/>
        </p:nvSpPr>
        <p:spPr>
          <a:xfrm xmlns:a="http://schemas.openxmlformats.org/drawingml/2006/main">
            <a:off x="609600" y="61341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C9D3DF"/>
                </a:solidFill>
                <a:latin typeface="Arial"/>
                <a:ea typeface="Arial"/>
                <a:cs typeface="Arial"/>
              </a:defRPr>
            </a:pPr>
            <a:r>
              <a:rPr sz="1275" b="0">
                <a:solidFill>
                  <a:srgbClr val="C9D3DF"/>
                </a:solidFill>
                <a:latin typeface="Arial"/>
                <a:ea typeface="Arial"/>
                <a:cs typeface="Arial"/>
              </a:rPr>
              <a:t>Worksheet C01L01 bersifat opsional</a:t>
            </a:r>
          </a:p>
        </p:txBody>
      </p:sp>
    </p:spTree>
    <p:extLst>
      <p:ext uri="{BB962C8B-B14F-4D97-AF65-F5344CB8AC3E}">
        <p14:creationId xmlns:p14="http://schemas.microsoft.com/office/powerpoint/2010/main" val="15715987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2026-09-14T05:14:25.1930000Z</dcterms:created>
  <dcterms:modified xsi:type="dcterms:W3CDTF">2026-09-14T05:14:25.1930000Z</dcterms:modified>
</coreProperties>
</file>