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1cf5d2334e41f7" /><Relationship Type="http://schemas.openxmlformats.org/officeDocument/2006/relationships/extended-properties" Target="/docProps/app.xml" Id="R9dbd995f52d24b22" /><Relationship Type="http://schemas.openxmlformats.org/officeDocument/2006/relationships/officeDocument" Target="/ppt/presentation.xml" Id="Re1c5cc01c6d049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2141aa057c404a"/>
  </p:sldMasterIdLst>
  <p:notesMasterIdLst>
    <p:notesMasterId xmlns:r="http://schemas.openxmlformats.org/officeDocument/2006/relationships" r:id="R7be623413ba94276"/>
  </p:notesMasterIdLst>
  <p:sldIdLst>
    <p:sldId xmlns:r="http://schemas.openxmlformats.org/officeDocument/2006/relationships" id="256" r:id="R0ff47ea50dd54054"/>
    <p:sldId xmlns:r="http://schemas.openxmlformats.org/officeDocument/2006/relationships" id="257" r:id="R375485a2141c4615"/>
    <p:sldId xmlns:r="http://schemas.openxmlformats.org/officeDocument/2006/relationships" id="258" r:id="R6085135492df4a95"/>
    <p:sldId xmlns:r="http://schemas.openxmlformats.org/officeDocument/2006/relationships" id="259" r:id="Re6376ff842a84c70"/>
    <p:sldId xmlns:r="http://schemas.openxmlformats.org/officeDocument/2006/relationships" id="260" r:id="R2fbc93509dbb4d3f"/>
    <p:sldId xmlns:r="http://schemas.openxmlformats.org/officeDocument/2006/relationships" id="261" r:id="Rb6655ff03ffb4729"/>
    <p:sldId xmlns:r="http://schemas.openxmlformats.org/officeDocument/2006/relationships" id="262" r:id="R0956ccd7981c4e4d"/>
    <p:sldId xmlns:r="http://schemas.openxmlformats.org/officeDocument/2006/relationships" id="263" r:id="Rfe9d2c60de734aa2"/>
    <p:sldId xmlns:r="http://schemas.openxmlformats.org/officeDocument/2006/relationships" id="264" r:id="Rdd9b3cae06824067"/>
    <p:sldId xmlns:r="http://schemas.openxmlformats.org/officeDocument/2006/relationships" id="265" r:id="R039e6b63b9024c5a"/>
    <p:sldId xmlns:r="http://schemas.openxmlformats.org/officeDocument/2006/relationships" id="266" r:id="R720c6b4b06544b67"/>
    <p:sldId xmlns:r="http://schemas.openxmlformats.org/officeDocument/2006/relationships" id="267" r:id="Rd873148b5ccf4d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0e389f93e44b0e" /><Relationship Type="http://schemas.openxmlformats.org/officeDocument/2006/relationships/slideMaster" Target="/ppt/slideMasters/slideMaster1.xml" Id="Rbf2141aa057c404a" /><Relationship Type="http://schemas.openxmlformats.org/officeDocument/2006/relationships/notesMaster" Target="/ppt/notesMasters/notesMaster1.xml" Id="R7be623413ba94276" /><Relationship Type="http://schemas.openxmlformats.org/officeDocument/2006/relationships/presProps" Target="/ppt/presProps.xml" Id="Re1cd9ab07927416e" /><Relationship Type="http://schemas.openxmlformats.org/officeDocument/2006/relationships/tableStyles" Target="/ppt/tableStyles.xml" Id="R710e53f852dc48e7" /><Relationship Type="http://schemas.openxmlformats.org/officeDocument/2006/relationships/slide" Target="/ppt/slides/slide1.xml" Id="R0ff47ea50dd54054" /><Relationship Type="http://schemas.openxmlformats.org/officeDocument/2006/relationships/slide" Target="/ppt/slides/slide2.xml" Id="R375485a2141c4615" /><Relationship Type="http://schemas.openxmlformats.org/officeDocument/2006/relationships/slide" Target="/ppt/slides/slide3.xml" Id="R6085135492df4a95" /><Relationship Type="http://schemas.openxmlformats.org/officeDocument/2006/relationships/slide" Target="/ppt/slides/slide4.xml" Id="Re6376ff842a84c70" /><Relationship Type="http://schemas.openxmlformats.org/officeDocument/2006/relationships/slide" Target="/ppt/slides/slide5.xml" Id="R2fbc93509dbb4d3f" /><Relationship Type="http://schemas.openxmlformats.org/officeDocument/2006/relationships/slide" Target="/ppt/slides/slide6.xml" Id="Rb6655ff03ffb4729" /><Relationship Type="http://schemas.openxmlformats.org/officeDocument/2006/relationships/slide" Target="/ppt/slides/slide7.xml" Id="R0956ccd7981c4e4d" /><Relationship Type="http://schemas.openxmlformats.org/officeDocument/2006/relationships/slide" Target="/ppt/slides/slide8.xml" Id="Rfe9d2c60de734aa2" /><Relationship Type="http://schemas.openxmlformats.org/officeDocument/2006/relationships/slide" Target="/ppt/slides/slide9.xml" Id="Rdd9b3cae06824067" /><Relationship Type="http://schemas.openxmlformats.org/officeDocument/2006/relationships/slide" Target="/ppt/slides/slide10.xml" Id="R039e6b63b9024c5a" /><Relationship Type="http://schemas.openxmlformats.org/officeDocument/2006/relationships/slide" Target="/ppt/slides/slide11.xml" Id="R720c6b4b06544b67" /><Relationship Type="http://schemas.openxmlformats.org/officeDocument/2006/relationships/slide" Target="/ppt/slides/slide12.xml" Id="Rd873148b5ccf4d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1462f533434f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18880e663a48f8" /><Relationship Type="http://schemas.openxmlformats.org/officeDocument/2006/relationships/notesMaster" Target="/ppt/notesMasters/notesMaster1.xml" Id="Rd635be6f752347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0d883777104480" /><Relationship Type="http://schemas.openxmlformats.org/officeDocument/2006/relationships/notesMaster" Target="/ppt/notesMasters/notesMaster1.xml" Id="R59d8d9da693d4a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98c0dcf5964f30" /><Relationship Type="http://schemas.openxmlformats.org/officeDocument/2006/relationships/notesMaster" Target="/ppt/notesMasters/notesMaster1.xml" Id="R2cad0f6a96ce4d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6cd75b51704d7c" /><Relationship Type="http://schemas.openxmlformats.org/officeDocument/2006/relationships/notesMaster" Target="/ppt/notesMasters/notesMaster1.xml" Id="R188ecab2a2634a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e9665595f841af" /><Relationship Type="http://schemas.openxmlformats.org/officeDocument/2006/relationships/notesMaster" Target="/ppt/notesMasters/notesMaster1.xml" Id="Rd7266a14a66b49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0f492b73e44613" /><Relationship Type="http://schemas.openxmlformats.org/officeDocument/2006/relationships/notesMaster" Target="/ppt/notesMasters/notesMaster1.xml" Id="R9cfc3e63d1ba41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09d2fe452c4c34" /><Relationship Type="http://schemas.openxmlformats.org/officeDocument/2006/relationships/notesMaster" Target="/ppt/notesMasters/notesMaster1.xml" Id="R07f75063f9c748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d00e41972247d8" /><Relationship Type="http://schemas.openxmlformats.org/officeDocument/2006/relationships/notesMaster" Target="/ppt/notesMasters/notesMaster1.xml" Id="R554803f946914a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1d4a7589c4401a" /><Relationship Type="http://schemas.openxmlformats.org/officeDocument/2006/relationships/notesMaster" Target="/ppt/notesMasters/notesMaster1.xml" Id="R66405426118643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96866f195e4afb" /><Relationship Type="http://schemas.openxmlformats.org/officeDocument/2006/relationships/notesMaster" Target="/ppt/notesMasters/notesMaster1.xml" Id="Rab5e3b0aaa0940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922682cf4e4707" /><Relationship Type="http://schemas.openxmlformats.org/officeDocument/2006/relationships/notesMaster" Target="/ppt/notesMasters/notesMaster1.xml" Id="Rf52988dcb40342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1e7aff29474af6" /><Relationship Type="http://schemas.openxmlformats.org/officeDocument/2006/relationships/notesMaster" Target="/ppt/notesMasters/notesMaster1.xml" Id="R71867c746ac64f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Konteks modul: Metadata dan Posisi kita di Kultivate Learn.</a:t>
            </a:r>
          </a:p>
          <a:p xmlns:a="http://schemas.openxmlformats.org/drawingml/2006/main">
            <a:r>
              <a:t>Framework dan penjelasan Kultivate.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web diperiksa 14 September 2026. Catatan berisi referensi dan pemetaan modul, tanpa presenter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Konteks modul: Bab 1.</a:t>
            </a:r>
          </a:p>
          <a:p xmlns:a="http://schemas.openxmlformats.org/drawingml/2006/main">
            <a:r>
              <a:t>Framework dan penjelasan Kultivate.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web diperiksa 14 September 2026. Catatan berisi referensi dan pemetaan modul, tanpa presenter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Konteks modul: Bab 1.</a:t>
            </a:r>
          </a:p>
          <a:p xmlns:a="http://schemas.openxmlformats.org/drawingml/2006/main">
            <a:r>
              <a:t>Framework dan penjelasan Kultivate.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web diperiksa 14 September 2026. Catatan berisi referensi dan pemetaan modul, tanpa presenter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Konteks modul: Bab 2.</a:t>
            </a:r>
          </a:p>
          <a:p xmlns:a="http://schemas.openxmlformats.org/drawingml/2006/main">
            <a:r>
              <a:t>Framework dan penjelasan Kultivate. S4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 Think with Google — Decoding Decisions Making sense of the messy middle</a:t>
            </a:r>
          </a:p>
          <a:p xmlns:a="http://schemas.openxmlformats.org/drawingml/2006/main">
            <a:r>
              <a:t>https://www.thinkwithgoogle.com/_qs/documents/11071/DecodingDecisions_NL.pdf</a:t>
            </a:r>
          </a:p>
          <a:p xmlns:a="http://schemas.openxmlformats.org/drawingml/2006/main">
            <a:r>
              <a:t>Edisi Local Results Netherlands, halaman PDF 3, 5–6. Tanggal terbit nggak tercantum. Risetnya membahas orang yang bisa bolak-balik mencari pilihan dan menilai pilihan itu. Ini riset konsumen, jadi bukan bukti kalo semua pembeli B2B di Indonesia punya pola yang sama. Dipakai di Bab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web diperiksa 14 September 2026. Catatan berisi referensi dan pemetaan modul, tanpa presenter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Konteks modul: Bab 2.</a:t>
            </a:r>
          </a:p>
          <a:p xmlns:a="http://schemas.openxmlformats.org/drawingml/2006/main">
            <a:r>
              <a:t>Framework dan penjelasan Kultivate.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web diperiksa 14 September 2026. Catatan berisi referensi dan pemetaan modul, tanpa presenter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Konteks modul: Bab 3.</a:t>
            </a:r>
          </a:p>
          <a:p xmlns:a="http://schemas.openxmlformats.org/drawingml/2006/main">
            <a:r>
              <a:t>Framework dan penjelasan Kultivate. S2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 Google Search Console Help — What are impressions position and clicks</a:t>
            </a:r>
          </a:p>
          <a:p xmlns:a="http://schemas.openxmlformats.org/drawingml/2006/main">
            <a:r>
              <a:t>https://support.google.com/webmasters/answer/7042828?hl=en</a:t>
            </a:r>
          </a:p>
          <a:p xmlns:a="http://schemas.openxmlformats.org/drawingml/2006/main">
            <a:r>
              <a:t>Halaman ini nggak menampilkan tanggal update. Kita pakai buat bedain impressions sama clicks. Cara hitung impressions bisa beda sesuai jenis hasil pencariannya. Dipakai di Bab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web diperiksa 14 September 2026. Catatan berisi referensi dan pemetaan modul, tanpa presenter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Konteks modul: Bab 3.</a:t>
            </a:r>
          </a:p>
          <a:p xmlns:a="http://schemas.openxmlformats.org/drawingml/2006/main">
            <a:r>
              <a:t>Framework dan penjelasan Kultivate. S3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 Google Analytics Help — About key events</a:t>
            </a:r>
          </a:p>
          <a:p xmlns:a="http://schemas.openxmlformats.org/drawingml/2006/main">
            <a:r>
              <a:t>https://support.google.com/analytics/answer/9267568?hl=en</a:t>
            </a:r>
          </a:p>
          <a:p xmlns:a="http://schemas.openxmlformats.org/drawingml/2006/main">
            <a:r>
              <a:t>Halaman ini nggak menampilkan tanggal update. Key event mencatat tindakan yang dianggap penting buat bisnis. Soal calon pembelinya cocok atau nggak tetap perlu kita cek sendiri. Dipakai di Bab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web diperiksa 14 September 2026. Catatan berisi referensi dan pemetaan modul, tanpa presenter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Konteks modul: Bab 4.</a:t>
            </a:r>
          </a:p>
          <a:p xmlns:a="http://schemas.openxmlformats.org/drawingml/2006/main">
            <a:r>
              <a:t>Contoh hipotetis Kultivate.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web diperiksa 14 September 2026. Catatan berisi referensi dan pemetaan modul, tanpa presenter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Konteks modul: Bab 4.</a:t>
            </a:r>
          </a:p>
          <a:p xmlns:a="http://schemas.openxmlformats.org/drawingml/2006/main">
            <a:r>
              <a:t>Contoh hipotetis Kultivate.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web diperiksa 14 September 2026. Catatan berisi referensi dan pemetaan modul, tanpa presenter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Konteks modul: Bab 4.</a:t>
            </a:r>
          </a:p>
          <a:p xmlns:a="http://schemas.openxmlformats.org/drawingml/2006/main">
            <a:r>
              <a:t>Contoh hipotetis Kultivate.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web diperiksa 14 September 2026. Catatan berisi referensi dan pemetaan modul, tanpa presenter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Konteks modul: Bab 4 dan Worksheet.</a:t>
            </a:r>
          </a:p>
          <a:p xmlns:a="http://schemas.openxmlformats.org/drawingml/2006/main">
            <a:r>
              <a:t>Framework dan penjelasan Kultivate.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web diperiksa 14 September 2026. Catatan berisi referensi dan pemetaan modul, tanpa presenter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Konteks modul: Bab 4 bagian penutup.</a:t>
            </a:r>
          </a:p>
          <a:p xmlns:a="http://schemas.openxmlformats.org/drawingml/2006/main">
            <a:r>
              <a:t>Framework dan penjelasan Kultivate.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Sumber web diperiksa 14 September 2026. Catatan berisi referensi dan pemetaan modul, tanpa presenter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7c8b23a5b43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0f5c3ba0154b93" /><Relationship Type="http://schemas.openxmlformats.org/officeDocument/2006/relationships/slideLayout" Target="/ppt/slideLayouts/slideLayout1.xml" Id="R89358031612444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358031612444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bcfb4567b40e2" /><Relationship Type="http://schemas.openxmlformats.org/officeDocument/2006/relationships/image" Target="/ppt/media/image.jpeg" Id="R122bfd5b17154927" /><Relationship Type="http://schemas.openxmlformats.org/officeDocument/2006/relationships/notesSlide" Target="/ppt/notesSlides/notesSlide1.xml" Id="R5f90aea25a114d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6f19ff7f240c7" /><Relationship Type="http://schemas.openxmlformats.org/officeDocument/2006/relationships/notesSlide" Target="/ppt/notesSlides/notesSlide2.xml" Id="R88ccce78b5d646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583d2e8714627" /><Relationship Type="http://schemas.openxmlformats.org/officeDocument/2006/relationships/notesSlide" Target="/ppt/notesSlides/notesSlide3.xml" Id="Rdbc7cd7af99b40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59f0464054da0" /><Relationship Type="http://schemas.openxmlformats.org/officeDocument/2006/relationships/notesSlide" Target="/ppt/notesSlides/notesSlide4.xml" Id="Rd3e878b6ce6249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9dbef568d4159" /><Relationship Type="http://schemas.openxmlformats.org/officeDocument/2006/relationships/notesSlide" Target="/ppt/notesSlides/notesSlide5.xml" Id="Rf5a9df7e08a941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f1f99f71b441e" /><Relationship Type="http://schemas.openxmlformats.org/officeDocument/2006/relationships/notesSlide" Target="/ppt/notesSlides/notesSlide6.xml" Id="Rcd857b987dc34a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2bc7ff3fa44fd" /><Relationship Type="http://schemas.openxmlformats.org/officeDocument/2006/relationships/notesSlide" Target="/ppt/notesSlides/notesSlide7.xml" Id="R1cc13ffe23e247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1a097cce74112" /><Relationship Type="http://schemas.openxmlformats.org/officeDocument/2006/relationships/notesSlide" Target="/ppt/notesSlides/notesSlide8.xml" Id="R47cd7e7b9e5445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6041a986f486f" /><Relationship Type="http://schemas.openxmlformats.org/officeDocument/2006/relationships/notesSlide" Target="/ppt/notesSlides/notesSlide9.xml" Id="R7f097fb759a24c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07b831f61431f" /><Relationship Type="http://schemas.openxmlformats.org/officeDocument/2006/relationships/notesSlide" Target="/ppt/notesSlides/notesSlide10.xml" Id="R0bcd0013b1ed46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37a1e50704dad" /><Relationship Type="http://schemas.openxmlformats.org/officeDocument/2006/relationships/notesSlide" Target="/ppt/notesSlides/notesSlide11.xml" Id="R2ac583b70b4e4e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2281913e84ee0" /><Relationship Type="http://schemas.openxmlformats.org/officeDocument/2006/relationships/notesSlide" Target="/ppt/notesSlides/notesSlide12.xml" Id="Ra0c1278124304e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ULTIVATE LEARN">
            <a:extLst xmlns:a="http://schemas.openxmlformats.org/drawingml/2006/main">
              <a:ext uri="{FF2B5EF4-FFF2-40B4-BE49-F238E27FC236}">
                <a16:creationId xmlns:a16="http://schemas.microsoft.com/office/drawing/2014/main" id="{3C47EDBF-6DAA-4FA0-B7DC-C130D60F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D3DF"/>
                </a:solidFill>
                <a:latin typeface="Arial"/>
                <a:ea typeface="Arial"/>
                <a:cs typeface="Arial"/>
              </a:rPr>
              <a:t>KULTIVATE LEARN</a:t>
            </a:r>
          </a:p>
        </p:txBody>
      </p:sp>
      <p:sp>
        <p:nvSpPr>
          <p:cNvPr id="2" name="COURSE 01  /  LESSON 01">
            <a:extLst xmlns:a="http://schemas.openxmlformats.org/drawingml/2006/main">
              <a:ext uri="{FF2B5EF4-FFF2-40B4-BE49-F238E27FC236}">
                <a16:creationId xmlns:a16="http://schemas.microsoft.com/office/drawing/2014/main" id="{EE4BA8B1-87D1-4E2E-BC85-B8DE647A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COURSE 01  /  LESSON 01</a:t>
            </a:r>
          </a:p>
        </p:txBody>
      </p:sp>
      <p:sp>
        <p:nvSpPr>
          <p:cNvPr id="3" name="separator">
            <a:extLst xmlns:a="http://schemas.openxmlformats.org/drawingml/2006/main">
              <a:ext uri="{FF2B5EF4-FFF2-40B4-BE49-F238E27FC236}">
                <a16:creationId xmlns:a16="http://schemas.microsoft.com/office/drawing/2014/main" id="{E7F370DF-39B7-4315-B5DF-31FF7E46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4" name="SEO for Business Growth: From Searc">
            <a:extLst xmlns:a="http://schemas.openxmlformats.org/drawingml/2006/main">
              <a:ext uri="{FF2B5EF4-FFF2-40B4-BE49-F238E27FC236}">
                <a16:creationId xmlns:a16="http://schemas.microsoft.com/office/drawing/2014/main" id="{5FE869F9-2DD7-4710-AC53-2A029A36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SEO for Business Growth: From Search to Sales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5C02778F-479E-4C9E-A748-58BFE3F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bfd5b17154927"/>
          <a:stretch xmlns:a="http://schemas.openxmlformats.org/drawingml/2006/main"/>
        </p:blipFill>
        <p:spPr>
          <a:xfrm xmlns:a="http://schemas.openxmlformats.org/drawingml/2006/main">
            <a:off x="552450" y="867728"/>
            <a:ext cx="2809875" cy="674370"/>
          </a:xfrm>
          <a:prstGeom xmlns:a="http://schemas.openxmlformats.org/drawingml/2006/main" prst="rect">
            <a:avLst/>
          </a:prstGeom>
        </p:spPr>
      </p:pic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76D8E5-852A-4140-9027-85692832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53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Gimana pencarian bisa</a:t>
            </a:r>
          </a:p>
          <a:p xmlns:a="http://schemas.openxmlformats.org/drawingml/2006/main">
            <a:pPr algn="l">
              <a:defRPr sz="4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buka peluang bisnis</a:t>
            </a:r>
          </a:p>
        </p:txBody>
      </p:sp>
      <p:sp>
        <p:nvSpPr>
          <p:cNvPr id="8" name="Satu lesson, satu keputusan atau ca">
            <a:extLst xmlns:a="http://schemas.openxmlformats.org/drawingml/2006/main">
              <a:ext uri="{FF2B5EF4-FFF2-40B4-BE49-F238E27FC236}">
                <a16:creationId xmlns:a16="http://schemas.microsoft.com/office/drawing/2014/main" id="{CE6412D4-F7D1-4FC2-91FD-04F41887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Satu lesson, satu keputusan atau cara memahami masalah</a:t>
            </a:r>
          </a:p>
        </p:txBody>
      </p:sp>
      <p:sp>
        <p:nvSpPr>
          <p:cNvPr id="9" name="6">
            <a:extLst xmlns:a="http://schemas.openxmlformats.org/drawingml/2006/main">
              <a:ext uri="{FF2B5EF4-FFF2-40B4-BE49-F238E27FC236}">
                <a16:creationId xmlns:a16="http://schemas.microsoft.com/office/drawing/2014/main" id="{C1556A03-30D2-41CC-A597-1917E9DD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28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" name="Courses">
            <a:extLst xmlns:a="http://schemas.openxmlformats.org/drawingml/2006/main">
              <a:ext uri="{FF2B5EF4-FFF2-40B4-BE49-F238E27FC236}">
                <a16:creationId xmlns:a16="http://schemas.microsoft.com/office/drawing/2014/main" id="{14E63E08-0B94-4B72-975E-D1595700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86350"/>
            <a:ext cx="2286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Courses</a:t>
            </a:r>
          </a:p>
        </p:txBody>
      </p:sp>
      <p:sp>
        <p:nvSpPr>
          <p:cNvPr id="11" name="6">
            <a:extLst xmlns:a="http://schemas.openxmlformats.org/drawingml/2006/main">
              <a:ext uri="{FF2B5EF4-FFF2-40B4-BE49-F238E27FC236}">
                <a16:creationId xmlns:a16="http://schemas.microsoft.com/office/drawing/2014/main" id="{ED9DB854-C200-4431-8C85-0BE14F3A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857750"/>
            <a:ext cx="1028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" name="Lessons per Course">
            <a:extLst xmlns:a="http://schemas.openxmlformats.org/drawingml/2006/main">
              <a:ext uri="{FF2B5EF4-FFF2-40B4-BE49-F238E27FC236}">
                <a16:creationId xmlns:a16="http://schemas.microsoft.com/office/drawing/2014/main" id="{18F07EAC-A5F4-43E4-9CAC-F6940F0A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086350"/>
            <a:ext cx="2286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Lessons per Course</a:t>
            </a:r>
          </a:p>
        </p:txBody>
      </p:sp>
      <p:sp>
        <p:nvSpPr>
          <p:cNvPr id="13" name="36">
            <a:extLst xmlns:a="http://schemas.openxmlformats.org/drawingml/2006/main">
              <a:ext uri="{FF2B5EF4-FFF2-40B4-BE49-F238E27FC236}">
                <a16:creationId xmlns:a16="http://schemas.microsoft.com/office/drawing/2014/main" id="{0BBBA324-14EF-41E8-A3B8-57492B0E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57750"/>
            <a:ext cx="1028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4" name="Lessons total">
            <a:extLst xmlns:a="http://schemas.openxmlformats.org/drawingml/2006/main">
              <a:ext uri="{FF2B5EF4-FFF2-40B4-BE49-F238E27FC236}">
                <a16:creationId xmlns:a16="http://schemas.microsoft.com/office/drawing/2014/main" id="{EBF51DE1-7F51-4BFD-97EF-89C36737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86350"/>
            <a:ext cx="2286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Lessons total</a:t>
            </a:r>
          </a:p>
        </p:txBody>
      </p:sp>
      <p:sp>
        <p:nvSpPr>
          <p:cNvPr id="15" name="1 lesson = 1 video utama">
            <a:extLst xmlns:a="http://schemas.openxmlformats.org/drawingml/2006/main">
              <a:ext uri="{FF2B5EF4-FFF2-40B4-BE49-F238E27FC236}">
                <a16:creationId xmlns:a16="http://schemas.microsoft.com/office/drawing/2014/main" id="{2C22D89A-BCE0-4FDB-A38D-120061A5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1 lesson = 1 video utama</a:t>
            </a:r>
          </a:p>
        </p:txBody>
      </p:sp>
    </p:spTree>
    <p:extLst>
      <p:ext uri="{BB962C8B-B14F-4D97-AF65-F5344CB8AC3E}">
        <p14:creationId xmlns:p14="http://schemas.microsoft.com/office/powerpoint/2010/main" val="1514347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ULTIVATE LEARN">
            <a:extLst xmlns:a="http://schemas.openxmlformats.org/drawingml/2006/main">
              <a:ext uri="{FF2B5EF4-FFF2-40B4-BE49-F238E27FC236}">
                <a16:creationId xmlns:a16="http://schemas.microsoft.com/office/drawing/2014/main" id="{1A92C976-5F2D-426B-8A03-0BC67F0B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D3DF"/>
                </a:solidFill>
                <a:latin typeface="Arial"/>
                <a:ea typeface="Arial"/>
                <a:cs typeface="Arial"/>
              </a:rPr>
              <a:t>KULTIVATE LEARN</a:t>
            </a:r>
          </a:p>
        </p:txBody>
      </p:sp>
      <p:sp>
        <p:nvSpPr>
          <p:cNvPr id="2" name="COURSE 01  /  LESSON 01">
            <a:extLst xmlns:a="http://schemas.openxmlformats.org/drawingml/2006/main">
              <a:ext uri="{FF2B5EF4-FFF2-40B4-BE49-F238E27FC236}">
                <a16:creationId xmlns:a16="http://schemas.microsoft.com/office/drawing/2014/main" id="{B5DC18AD-2BC6-4835-9C2B-E03F91DE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COURSE 01  /  LESSON 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56F69F-D3DD-46DC-A365-484702D1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Traffic naik, peluangnya belum jelas</a:t>
            </a:r>
          </a:p>
        </p:txBody>
      </p:sp>
      <p:sp>
        <p:nvSpPr>
          <p:cNvPr id="4" name="Contoh situasi">
            <a:extLst xmlns:a="http://schemas.openxmlformats.org/drawingml/2006/main">
              <a:ext uri="{FF2B5EF4-FFF2-40B4-BE49-F238E27FC236}">
                <a16:creationId xmlns:a16="http://schemas.microsoft.com/office/drawing/2014/main" id="{9599068D-D29E-4EAE-BBFF-3ABDD73A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Contoh situasi</a:t>
            </a:r>
          </a:p>
        </p:txBody>
      </p:sp>
      <p:sp>
        <p:nvSpPr>
          <p:cNvPr id="5" name="separator">
            <a:extLst xmlns:a="http://schemas.openxmlformats.org/drawingml/2006/main">
              <a:ext uri="{FF2B5EF4-FFF2-40B4-BE49-F238E27FC236}">
                <a16:creationId xmlns:a16="http://schemas.microsoft.com/office/drawing/2014/main" id="{04CC8379-27D7-4685-A7EE-C35276B6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6" name="SEO for Business Growth: From Searc">
            <a:extLst xmlns:a="http://schemas.openxmlformats.org/drawingml/2006/main">
              <a:ext uri="{FF2B5EF4-FFF2-40B4-BE49-F238E27FC236}">
                <a16:creationId xmlns:a16="http://schemas.microsoft.com/office/drawing/2014/main" id="{6E8A6AF9-4C26-48E1-8E04-A327A8B2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SEO for Business Growth: From Search to Sales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75FDECC7-A5C2-48D6-9E9D-91326C80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YANG UDAH KELIHATAN">
            <a:extLst xmlns:a="http://schemas.openxmlformats.org/drawingml/2006/main">
              <a:ext uri="{FF2B5EF4-FFF2-40B4-BE49-F238E27FC236}">
                <a16:creationId xmlns:a16="http://schemas.microsoft.com/office/drawing/2014/main" id="{76F8160D-4ADD-492A-9D14-C0DCBF04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4800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D3DF"/>
                </a:solidFill>
                <a:latin typeface="Arial"/>
                <a:ea typeface="Arial"/>
                <a:cs typeface="Arial"/>
              </a:rPr>
              <a:t>YANG UDAH KELIHATAN</a:t>
            </a:r>
          </a:p>
        </p:txBody>
      </p:sp>
      <p:sp>
        <p:nvSpPr>
          <p:cNvPr id="9" name="Website kita makin&#10;banyak dikunjung">
            <a:extLst xmlns:a="http://schemas.openxmlformats.org/drawingml/2006/main">
              <a:ext uri="{FF2B5EF4-FFF2-40B4-BE49-F238E27FC236}">
                <a16:creationId xmlns:a16="http://schemas.microsoft.com/office/drawing/2014/main" id="{EC51F586-8DC7-4563-8DC1-EB9FA5C4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90900"/>
            <a:ext cx="4876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Website kita makin</a:t>
            </a:r>
          </a:p>
          <a:p xmlns:a="http://schemas.openxmlformats.org/drawingml/2006/main">
            <a:pPr algn="l">
              <a:defRPr sz="33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banyak dikunjungi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18FC-854A-4ECC-A92B-41A1E9AB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62250"/>
            <a:ext cx="0" cy="2590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73244"/>
            </a:solidFill>
          </a:ln>
        </p:spPr>
      </p:sp>
      <p:sp>
        <p:nvSpPr>
          <p:cNvPr id="11" name="YANG MASIH PERLU DICEK">
            <a:extLst xmlns:a="http://schemas.openxmlformats.org/drawingml/2006/main">
              <a:ext uri="{FF2B5EF4-FFF2-40B4-BE49-F238E27FC236}">
                <a16:creationId xmlns:a16="http://schemas.microsoft.com/office/drawing/2014/main" id="{5AE1CCE7-439B-45C7-90BE-B1C91B1D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57500"/>
            <a:ext cx="489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YANG MASIH PERLU DICEK</a:t>
            </a:r>
          </a:p>
        </p:txBody>
      </p:sp>
      <p:sp>
        <p:nvSpPr>
          <p:cNvPr id="12" name="Siapa yang datang,&#10;dan mereka butuh">
            <a:extLst xmlns:a="http://schemas.openxmlformats.org/drawingml/2006/main">
              <a:ext uri="{FF2B5EF4-FFF2-40B4-BE49-F238E27FC236}">
                <a16:creationId xmlns:a16="http://schemas.microsoft.com/office/drawing/2014/main" id="{C8843EED-C872-4B1E-9237-F3C75BAD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390900"/>
            <a:ext cx="48958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Siapa yang datang,</a:t>
            </a:r>
          </a:p>
          <a:p xmlns:a="http://schemas.openxmlformats.org/drawingml/2006/main">
            <a:pPr algn="l">
              <a:defRPr sz="27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dan mereka butuh apa?</a:t>
            </a:r>
          </a:p>
        </p:txBody>
      </p:sp>
      <p:sp>
        <p:nvSpPr>
          <p:cNvPr id="13" name="Inquiry yang masuk cocok nggak?">
            <a:extLst xmlns:a="http://schemas.openxmlformats.org/drawingml/2006/main">
              <a:ext uri="{FF2B5EF4-FFF2-40B4-BE49-F238E27FC236}">
                <a16:creationId xmlns:a16="http://schemas.microsoft.com/office/drawing/2014/main" id="{3E208734-3AFA-46A7-B5A7-7D119817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953000"/>
            <a:ext cx="4895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Inquiry yang masuk cocok nggak?</a:t>
            </a:r>
          </a:p>
        </p:txBody>
      </p:sp>
    </p:spTree>
    <p:extLst>
      <p:ext uri="{BB962C8B-B14F-4D97-AF65-F5344CB8AC3E}">
        <p14:creationId xmlns:p14="http://schemas.microsoft.com/office/powerpoint/2010/main" val="1072275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ULTIVATE LEARN">
            <a:extLst xmlns:a="http://schemas.openxmlformats.org/drawingml/2006/main">
              <a:ext uri="{FF2B5EF4-FFF2-40B4-BE49-F238E27FC236}">
                <a16:creationId xmlns:a16="http://schemas.microsoft.com/office/drawing/2014/main" id="{7636C448-E47A-49A6-BC01-600C8152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D3DF"/>
                </a:solidFill>
                <a:latin typeface="Arial"/>
                <a:ea typeface="Arial"/>
                <a:cs typeface="Arial"/>
              </a:rPr>
              <a:t>KULTIVATE LEARN</a:t>
            </a:r>
          </a:p>
        </p:txBody>
      </p:sp>
      <p:sp>
        <p:nvSpPr>
          <p:cNvPr id="2" name="COURSE 01  /  LESSON 01">
            <a:extLst xmlns:a="http://schemas.openxmlformats.org/drawingml/2006/main">
              <a:ext uri="{FF2B5EF4-FFF2-40B4-BE49-F238E27FC236}">
                <a16:creationId xmlns:a16="http://schemas.microsoft.com/office/drawing/2014/main" id="{F99AC0E3-D51F-489B-A18E-7CD05ABB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COURSE 01  /  LESSON 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AD620E-8853-4F9E-875A-55E5B904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Demand dan traffic</a:t>
            </a:r>
          </a:p>
        </p:txBody>
      </p:sp>
      <p:sp>
        <p:nvSpPr>
          <p:cNvPr id="4" name="separator">
            <a:extLst xmlns:a="http://schemas.openxmlformats.org/drawingml/2006/main">
              <a:ext uri="{FF2B5EF4-FFF2-40B4-BE49-F238E27FC236}">
                <a16:creationId xmlns:a16="http://schemas.microsoft.com/office/drawing/2014/main" id="{BF919975-B436-432A-918F-2D0B44DD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5" name="SEO for Business Growth: From Searc">
            <a:extLst xmlns:a="http://schemas.openxmlformats.org/drawingml/2006/main">
              <a:ext uri="{FF2B5EF4-FFF2-40B4-BE49-F238E27FC236}">
                <a16:creationId xmlns:a16="http://schemas.microsoft.com/office/drawing/2014/main" id="{76DADDEB-85AB-4CC7-AE16-19B07F88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SEO for Business Growth: From Search to Sales</a:t>
            </a:r>
          </a:p>
        </p:txBody>
      </p:sp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0C941F8E-1EA4-4287-B09E-49880361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Demand">
            <a:extLst xmlns:a="http://schemas.openxmlformats.org/drawingml/2006/main">
              <a:ext uri="{FF2B5EF4-FFF2-40B4-BE49-F238E27FC236}">
                <a16:creationId xmlns:a16="http://schemas.microsoft.com/office/drawing/2014/main" id="{040CC7EB-103D-4F47-B590-E11F6BCB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8" name="Kebutuhan orang akan solusi">
            <a:extLst xmlns:a="http://schemas.openxmlformats.org/drawingml/2006/main">
              <a:ext uri="{FF2B5EF4-FFF2-40B4-BE49-F238E27FC236}">
                <a16:creationId xmlns:a16="http://schemas.microsoft.com/office/drawing/2014/main" id="{8B7D5CD6-C71F-435C-947D-5E70CF6E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766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Kebutuhan orang akan solusi</a:t>
            </a:r>
          </a:p>
        </p:txBody>
      </p:sp>
      <p:sp>
        <p:nvSpPr>
          <p:cNvPr id="9" name="Traffic">
            <a:extLst xmlns:a="http://schemas.openxmlformats.org/drawingml/2006/main">
              <a:ext uri="{FF2B5EF4-FFF2-40B4-BE49-F238E27FC236}">
                <a16:creationId xmlns:a16="http://schemas.microsoft.com/office/drawing/2014/main" id="{F13178A6-66BE-43F3-86D2-D41DDA8C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57500"/>
            <a:ext cx="4619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Traffic</a:t>
            </a:r>
          </a:p>
        </p:txBody>
      </p:sp>
      <p:sp>
        <p:nvSpPr>
          <p:cNvPr id="10" name="Kunjungan ke website">
            <a:extLst xmlns:a="http://schemas.openxmlformats.org/drawingml/2006/main">
              <a:ext uri="{FF2B5EF4-FFF2-40B4-BE49-F238E27FC236}">
                <a16:creationId xmlns:a16="http://schemas.microsoft.com/office/drawing/2014/main" id="{8B8CF92E-91BB-4E42-9CB3-58DEF0B1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7665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Kunjungan ke website</a:t>
            </a:r>
          </a:p>
        </p:txBody>
      </p:sp>
      <p:sp>
        <p:nvSpPr>
          <p:cNvPr id="11" name="separator">
            <a:extLst xmlns:a="http://schemas.openxmlformats.org/drawingml/2006/main">
              <a:ext uri="{FF2B5EF4-FFF2-40B4-BE49-F238E27FC236}">
                <a16:creationId xmlns:a16="http://schemas.microsoft.com/office/drawing/2014/main" id="{023CD50C-C54A-4539-A449-1414FBDD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3244"/>
            </a:solidFill>
          </a:ln>
        </p:spPr>
      </p:sp>
      <p:sp>
        <p:nvSpPr>
          <p:cNvPr id="12" name="Relevansi">
            <a:extLst xmlns:a="http://schemas.openxmlformats.org/drawingml/2006/main">
              <a:ext uri="{FF2B5EF4-FFF2-40B4-BE49-F238E27FC236}">
                <a16:creationId xmlns:a16="http://schemas.microsoft.com/office/drawing/2014/main" id="{F9D430EC-EE90-40E4-9EF3-87D4837D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Relevansi</a:t>
            </a:r>
          </a:p>
        </p:txBody>
      </p:sp>
      <p:sp>
        <p:nvSpPr>
          <p:cNvPr id="13" name="Kebutuhannya cocok sama layanan kit">
            <a:extLst xmlns:a="http://schemas.openxmlformats.org/drawingml/2006/main">
              <a:ext uri="{FF2B5EF4-FFF2-40B4-BE49-F238E27FC236}">
                <a16:creationId xmlns:a16="http://schemas.microsoft.com/office/drawing/2014/main" id="{D4A9101C-6FC0-41FF-8B28-FA3EFF4C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768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Kebutuhannya cocok sama layanan kita nggak?</a:t>
            </a:r>
          </a:p>
        </p:txBody>
      </p:sp>
    </p:spTree>
    <p:extLst>
      <p:ext uri="{BB962C8B-B14F-4D97-AF65-F5344CB8AC3E}">
        <p14:creationId xmlns:p14="http://schemas.microsoft.com/office/powerpoint/2010/main" val="7839927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ULTIVATE LEARN">
            <a:extLst xmlns:a="http://schemas.openxmlformats.org/drawingml/2006/main">
              <a:ext uri="{FF2B5EF4-FFF2-40B4-BE49-F238E27FC236}">
                <a16:creationId xmlns:a16="http://schemas.microsoft.com/office/drawing/2014/main" id="{13F56D9C-E35C-491A-8A84-43727138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D3DF"/>
                </a:solidFill>
                <a:latin typeface="Arial"/>
                <a:ea typeface="Arial"/>
                <a:cs typeface="Arial"/>
              </a:rPr>
              <a:t>KULTIVATE LEARN</a:t>
            </a:r>
          </a:p>
        </p:txBody>
      </p:sp>
      <p:sp>
        <p:nvSpPr>
          <p:cNvPr id="2" name="COURSE 01  /  LESSON 01">
            <a:extLst xmlns:a="http://schemas.openxmlformats.org/drawingml/2006/main">
              <a:ext uri="{FF2B5EF4-FFF2-40B4-BE49-F238E27FC236}">
                <a16:creationId xmlns:a16="http://schemas.microsoft.com/office/drawing/2014/main" id="{A61DF7C3-CC15-42DF-9EA2-FB9694F8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COURSE 01  /  LESSON 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33DFBC-1E49-4E14-9BB2-67C0B8FC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Empat momen pencarian</a:t>
            </a:r>
          </a:p>
        </p:txBody>
      </p:sp>
      <p:sp>
        <p:nvSpPr>
          <p:cNvPr id="4" name="Kultivate framework">
            <a:extLst xmlns:a="http://schemas.openxmlformats.org/drawingml/2006/main">
              <a:ext uri="{FF2B5EF4-FFF2-40B4-BE49-F238E27FC236}">
                <a16:creationId xmlns:a16="http://schemas.microsoft.com/office/drawing/2014/main" id="{2B336A84-3E67-49E7-96D8-1112518E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Kultivate framework</a:t>
            </a:r>
          </a:p>
        </p:txBody>
      </p:sp>
      <p:sp>
        <p:nvSpPr>
          <p:cNvPr id="5" name="separator">
            <a:extLst xmlns:a="http://schemas.openxmlformats.org/drawingml/2006/main">
              <a:ext uri="{FF2B5EF4-FFF2-40B4-BE49-F238E27FC236}">
                <a16:creationId xmlns:a16="http://schemas.microsoft.com/office/drawing/2014/main" id="{D5BBF3FD-EB78-4621-B281-AEECCFB1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6" name="SEO for Business Growth: From Searc">
            <a:extLst xmlns:a="http://schemas.openxmlformats.org/drawingml/2006/main">
              <a:ext uri="{FF2B5EF4-FFF2-40B4-BE49-F238E27FC236}">
                <a16:creationId xmlns:a16="http://schemas.microsoft.com/office/drawing/2014/main" id="{D4926FC4-8643-456B-AE38-B43B844F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SEO for Business Growth: From Search to Sales</a:t>
            </a:r>
          </a:p>
        </p:txBody>
      </p:sp>
      <p:sp>
        <p:nvSpPr>
          <p:cNvPr id="7" name="04">
            <a:extLst xmlns:a="http://schemas.openxmlformats.org/drawingml/2006/main">
              <a:ext uri="{FF2B5EF4-FFF2-40B4-BE49-F238E27FC236}">
                <a16:creationId xmlns:a16="http://schemas.microsoft.com/office/drawing/2014/main" id="{02062F54-DA91-4F05-A83F-F22357DE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D5B1A023-DFE9-4D8E-B649-F10B5E34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Discover">
            <a:extLst xmlns:a="http://schemas.openxmlformats.org/drawingml/2006/main">
              <a:ext uri="{FF2B5EF4-FFF2-40B4-BE49-F238E27FC236}">
                <a16:creationId xmlns:a16="http://schemas.microsoft.com/office/drawing/2014/main" id="{7308F52B-AC6E-47ED-8A67-A41FA7FD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0" name="Kenali&#10;masalah">
            <a:extLst xmlns:a="http://schemas.openxmlformats.org/drawingml/2006/main">
              <a:ext uri="{FF2B5EF4-FFF2-40B4-BE49-F238E27FC236}">
                <a16:creationId xmlns:a16="http://schemas.microsoft.com/office/drawing/2014/main" id="{172F47D1-7F4F-4DE8-B7E2-AA4476E9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Kenali</a:t>
            </a:r>
          </a:p>
          <a:p xmlns:a="http://schemas.openxmlformats.org/drawingml/2006/main">
            <a:pPr algn="l">
              <a:defRPr sz="19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masalah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B9FB898F-04CE-40D8-9175-72E93C9A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527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Learn">
            <a:extLst xmlns:a="http://schemas.openxmlformats.org/drawingml/2006/main">
              <a:ext uri="{FF2B5EF4-FFF2-40B4-BE49-F238E27FC236}">
                <a16:creationId xmlns:a16="http://schemas.microsoft.com/office/drawing/2014/main" id="{673C86CB-68B1-499D-AAC3-9DF4635A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7185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13" name="Pahami&#10;solusinya">
            <a:extLst xmlns:a="http://schemas.openxmlformats.org/drawingml/2006/main">
              <a:ext uri="{FF2B5EF4-FFF2-40B4-BE49-F238E27FC236}">
                <a16:creationId xmlns:a16="http://schemas.microsoft.com/office/drawing/2014/main" id="{36F132E4-A4F6-41C0-8CF9-908DCC95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29125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Pahami</a:t>
            </a:r>
          </a:p>
          <a:p xmlns:a="http://schemas.openxmlformats.org/drawingml/2006/main">
            <a:pPr algn="l">
              <a:defRPr sz="19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solusinya</a:t>
            </a:r>
          </a:p>
        </p:txBody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F225882C-BC69-4F83-8101-9C71087B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Compare/&#10;Validate">
            <a:extLst xmlns:a="http://schemas.openxmlformats.org/drawingml/2006/main">
              <a:ext uri="{FF2B5EF4-FFF2-40B4-BE49-F238E27FC236}">
                <a16:creationId xmlns:a16="http://schemas.microsoft.com/office/drawing/2014/main" id="{9D08CB19-C278-417B-BE79-22E7075B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Compare/</a:t>
            </a:r>
          </a:p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6" name="Cek kecocokan&#10;dan buktinya">
            <a:extLst xmlns:a="http://schemas.openxmlformats.org/drawingml/2006/main">
              <a:ext uri="{FF2B5EF4-FFF2-40B4-BE49-F238E27FC236}">
                <a16:creationId xmlns:a16="http://schemas.microsoft.com/office/drawing/2014/main" id="{87E833F3-82F9-4124-8B5B-F8974B9B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29125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Cek kecocokan</a:t>
            </a:r>
          </a:p>
          <a:p xmlns:a="http://schemas.openxmlformats.org/drawingml/2006/main">
            <a:pPr algn="l">
              <a:defRPr sz="19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dan buktinya</a:t>
            </a:r>
          </a:p>
        </p:txBody>
      </p:sp>
      <p:sp>
        <p:nvSpPr>
          <p:cNvPr id="17" name="04">
            <a:extLst xmlns:a="http://schemas.openxmlformats.org/drawingml/2006/main">
              <a:ext uri="{FF2B5EF4-FFF2-40B4-BE49-F238E27FC236}">
                <a16:creationId xmlns:a16="http://schemas.microsoft.com/office/drawing/2014/main" id="{BE67E3EF-86B3-42DA-8978-B76AC321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Act">
            <a:extLst xmlns:a="http://schemas.openxmlformats.org/drawingml/2006/main">
              <a:ext uri="{FF2B5EF4-FFF2-40B4-BE49-F238E27FC236}">
                <a16:creationId xmlns:a16="http://schemas.microsoft.com/office/drawing/2014/main" id="{8A289684-B0F0-4395-BADE-A4AA2F85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7185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19" name="Ambil langkah&#10;berikutnya">
            <a:extLst xmlns:a="http://schemas.openxmlformats.org/drawingml/2006/main">
              <a:ext uri="{FF2B5EF4-FFF2-40B4-BE49-F238E27FC236}">
                <a16:creationId xmlns:a16="http://schemas.microsoft.com/office/drawing/2014/main" id="{2E7E2AB1-E293-44FC-AD80-5E2C88A1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29125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Ambil langkah</a:t>
            </a:r>
          </a:p>
          <a:p xmlns:a="http://schemas.openxmlformats.org/drawingml/2006/main">
            <a:pPr algn="l">
              <a:defRPr sz="19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berikutnya</a:t>
            </a:r>
          </a:p>
        </p:txBody>
      </p: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57500" y="38481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D9FF"/>
            </a:solidFill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638800" y="38481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D9FF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420100" y="38481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D9FF"/>
            </a:solidFill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5" idx="0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4514850" y="3371850"/>
            <a:ext cx="2781300" cy="0"/>
          </a:xfrm>
          <a:prstGeom xmlns:a="http://schemas.openxmlformats.org/drawingml/2006/main" prst="curvedConnector2">
            <a:avLst/>
          </a:prstGeom>
          <a:ln xmlns:a="http://schemas.openxmlformats.org/drawingml/2006/main" w="19050">
            <a:solidFill>
              <a:srgbClr val="7A8798"/>
            </a:solidFill>
            <a:tailEnd type="triangle" w="sm" len="sm"/>
          </a:ln>
        </p:spPr>
      </p:cxnSp>
      <p:sp>
        <p:nvSpPr>
          <p:cNvPr id="24" name="Orang bisa bolak-balik atau lewati ">
            <a:extLst xmlns:a="http://schemas.openxmlformats.org/drawingml/2006/main">
              <a:ext uri="{FF2B5EF4-FFF2-40B4-BE49-F238E27FC236}">
                <a16:creationId xmlns:a16="http://schemas.microsoft.com/office/drawing/2014/main" id="{14E179DD-C8D5-408C-A85E-AEBFCE6D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Orang bisa bolak-balik atau lewati beberapa momen</a:t>
            </a:r>
          </a:p>
        </p:txBody>
      </p:sp>
    </p:spTree>
    <p:extLst>
      <p:ext uri="{BB962C8B-B14F-4D97-AF65-F5344CB8AC3E}">
        <p14:creationId xmlns:p14="http://schemas.microsoft.com/office/powerpoint/2010/main" val="4724503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ULTIVATE LEARN">
            <a:extLst xmlns:a="http://schemas.openxmlformats.org/drawingml/2006/main">
              <a:ext uri="{FF2B5EF4-FFF2-40B4-BE49-F238E27FC236}">
                <a16:creationId xmlns:a16="http://schemas.microsoft.com/office/drawing/2014/main" id="{E868026D-9939-4E7A-9389-3DFD6D8D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D3DF"/>
                </a:solidFill>
                <a:latin typeface="Arial"/>
                <a:ea typeface="Arial"/>
                <a:cs typeface="Arial"/>
              </a:rPr>
              <a:t>KULTIVATE LEARN</a:t>
            </a:r>
          </a:p>
        </p:txBody>
      </p:sp>
      <p:sp>
        <p:nvSpPr>
          <p:cNvPr id="2" name="COURSE 01  /  LESSON 01">
            <a:extLst xmlns:a="http://schemas.openxmlformats.org/drawingml/2006/main">
              <a:ext uri="{FF2B5EF4-FFF2-40B4-BE49-F238E27FC236}">
                <a16:creationId xmlns:a16="http://schemas.microsoft.com/office/drawing/2014/main" id="{130EDAD9-4C3B-46C5-AC8B-F2A6686C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COURSE 01  /  LESSON 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7D8D67-965A-4DE3-99B1-5DE0D3DF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Jawaban yang calon pembeli butuhkan</a:t>
            </a:r>
          </a:p>
        </p:txBody>
      </p:sp>
      <p:sp>
        <p:nvSpPr>
          <p:cNvPr id="4" name="Kultivate framework">
            <a:extLst xmlns:a="http://schemas.openxmlformats.org/drawingml/2006/main">
              <a:ext uri="{FF2B5EF4-FFF2-40B4-BE49-F238E27FC236}">
                <a16:creationId xmlns:a16="http://schemas.microsoft.com/office/drawing/2014/main" id="{CD5FBF29-6F49-449A-909B-E7C24581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Kultivate framework</a:t>
            </a:r>
          </a:p>
        </p:txBody>
      </p:sp>
      <p:sp>
        <p:nvSpPr>
          <p:cNvPr id="5" name="separator">
            <a:extLst xmlns:a="http://schemas.openxmlformats.org/drawingml/2006/main">
              <a:ext uri="{FF2B5EF4-FFF2-40B4-BE49-F238E27FC236}">
                <a16:creationId xmlns:a16="http://schemas.microsoft.com/office/drawing/2014/main" id="{22D7EBDA-89DE-40E0-8AF1-EF2659A9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6" name="SEO for Business Growth: From Searc">
            <a:extLst xmlns:a="http://schemas.openxmlformats.org/drawingml/2006/main">
              <a:ext uri="{FF2B5EF4-FFF2-40B4-BE49-F238E27FC236}">
                <a16:creationId xmlns:a16="http://schemas.microsoft.com/office/drawing/2014/main" id="{EB36218B-4679-48B1-B57F-C0A32730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SEO for Business Growth: From Search to Sales</a:t>
            </a:r>
          </a:p>
        </p:txBody>
      </p:sp>
      <p:sp>
        <p:nvSpPr>
          <p:cNvPr id="7" name="05">
            <a:extLst xmlns:a="http://schemas.openxmlformats.org/drawingml/2006/main">
              <a:ext uri="{FF2B5EF4-FFF2-40B4-BE49-F238E27FC236}">
                <a16:creationId xmlns:a16="http://schemas.microsoft.com/office/drawing/2014/main" id="{3D198ED0-2EB9-4044-B401-2BBE3178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27622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67D9FF"/>
                          </a:solidFill>
                          <a:latin typeface="Arial"/>
                          <a:ea typeface="Arial"/>
                          <a:cs typeface="Arial"/>
                        </a:rPr>
                        <a:t>Discover</a:t>
                      </a:r>
                    </a:p>
                  </a:txBody>
                  <a:tcPr marL="171450" marR="171450" marT="114300" marB="114300" anchor="ctr">
                    <a:solidFill>
                      <a:srgbClr val="070B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Masalah apa yang perlu diberesin?</a:t>
                      </a:r>
                    </a:p>
                  </a:txBody>
                  <a:tcPr marL="171450" marR="171450" marT="114300" marB="114300" anchor="ctr">
                    <a:solidFill>
                      <a:srgbClr val="070B1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67D9FF"/>
                          </a:solidFill>
                          <a:latin typeface="Arial"/>
                          <a:ea typeface="Arial"/>
                          <a:cs typeface="Arial"/>
                        </a:rPr>
                        <a:t>Learn</a:t>
                      </a:r>
                    </a:p>
                  </a:txBody>
                  <a:tcPr marL="171450" marR="171450" marT="114300" marB="114300" anchor="ctr">
                    <a:solidFill>
                      <a:srgbClr val="070B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Solusinya kerja gimana?</a:t>
                      </a:r>
                    </a:p>
                  </a:txBody>
                  <a:tcPr marL="171450" marR="171450" marT="114300" marB="114300" anchor="ctr">
                    <a:solidFill>
                      <a:srgbClr val="070B1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67D9FF"/>
                          </a:solidFill>
                          <a:latin typeface="Arial"/>
                          <a:ea typeface="Arial"/>
                          <a:cs typeface="Arial"/>
                        </a:rPr>
                        <a:t>Compare/Validate</a:t>
                      </a:r>
                    </a:p>
                  </a:txBody>
                  <a:tcPr marL="171450" marR="171450" marT="114300" marB="114300" anchor="ctr">
                    <a:solidFill>
                      <a:srgbClr val="070B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Cocok dan bisa dipercaya nggak?</a:t>
                      </a:r>
                    </a:p>
                  </a:txBody>
                  <a:tcPr marL="171450" marR="171450" marT="114300" marB="114300" anchor="ctr">
                    <a:solidFill>
                      <a:srgbClr val="070B1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67D9FF"/>
                          </a:solidFill>
                          <a:latin typeface="Arial"/>
                          <a:ea typeface="Arial"/>
                          <a:cs typeface="Arial"/>
                        </a:rPr>
                        <a:t>Act</a:t>
                      </a:r>
                    </a:p>
                  </a:txBody>
                  <a:tcPr marL="171450" marR="171450" marT="114300" marB="114300" anchor="ctr">
                    <a:solidFill>
                      <a:srgbClr val="070B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Gimana cara mulainya?</a:t>
                      </a:r>
                    </a:p>
                  </a:txBody>
                  <a:tcPr marL="171450" marR="171450" marT="114300" marB="114300" anchor="ctr">
                    <a:solidFill>
                      <a:srgbClr val="070B12"/>
                    </a:solidFill>
                  </a:tcPr>
                </a:tc>
              </a:tr>
            </a:tbl>
          </a:graphicData>
        </a:graphic>
      </p:graphicFrame>
      <p:sp>
        <p:nvSpPr>
          <p:cNvPr id="9" name="Satu halaman bisa bantu lebih dari ">
            <a:extLst xmlns:a="http://schemas.openxmlformats.org/drawingml/2006/main">
              <a:ext uri="{FF2B5EF4-FFF2-40B4-BE49-F238E27FC236}">
                <a16:creationId xmlns:a16="http://schemas.microsoft.com/office/drawing/2014/main" id="{EA136D2F-2997-407C-818B-0790254A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Satu halaman bisa bantu lebih dari satu momen</a:t>
            </a:r>
          </a:p>
        </p:txBody>
      </p:sp>
    </p:spTree>
    <p:extLst>
      <p:ext uri="{BB962C8B-B14F-4D97-AF65-F5344CB8AC3E}">
        <p14:creationId xmlns:p14="http://schemas.microsoft.com/office/powerpoint/2010/main" val="418950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ULTIVATE LEARN">
            <a:extLst xmlns:a="http://schemas.openxmlformats.org/drawingml/2006/main">
              <a:ext uri="{FF2B5EF4-FFF2-40B4-BE49-F238E27FC236}">
                <a16:creationId xmlns:a16="http://schemas.microsoft.com/office/drawing/2014/main" id="{9B03BEEC-D140-41B5-B8F0-8630D6B3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D3DF"/>
                </a:solidFill>
                <a:latin typeface="Arial"/>
                <a:ea typeface="Arial"/>
                <a:cs typeface="Arial"/>
              </a:rPr>
              <a:t>KULTIVATE LEARN</a:t>
            </a:r>
          </a:p>
        </p:txBody>
      </p:sp>
      <p:sp>
        <p:nvSpPr>
          <p:cNvPr id="2" name="COURSE 01  /  LESSON 01">
            <a:extLst xmlns:a="http://schemas.openxmlformats.org/drawingml/2006/main">
              <a:ext uri="{FF2B5EF4-FFF2-40B4-BE49-F238E27FC236}">
                <a16:creationId xmlns:a16="http://schemas.microsoft.com/office/drawing/2014/main" id="{D3869D89-DDBF-4AE0-A2A6-552C77C0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COURSE 01  /  LESSON 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225F70-9FA2-4241-B6C7-913A8070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Dari muncul di search</a:t>
            </a:r>
          </a:p>
          <a:p xmlns:a="http://schemas.openxmlformats.org/drawingml/2006/main">
            <a:pPr algn="l">
              <a:defRPr sz="36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sampai peluang yang cocok</a:t>
            </a:r>
          </a:p>
        </p:txBody>
      </p:sp>
      <p:sp>
        <p:nvSpPr>
          <p:cNvPr id="4" name="Kultivate framework  •  Tiap bagian">
            <a:extLst xmlns:a="http://schemas.openxmlformats.org/drawingml/2006/main">
              <a:ext uri="{FF2B5EF4-FFF2-40B4-BE49-F238E27FC236}">
                <a16:creationId xmlns:a16="http://schemas.microsoft.com/office/drawing/2014/main" id="{8AFBE79A-00AE-4860-868C-3B5219D1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Kultivate framework  •  Tiap bagian perlu dicek • Bukan funnel terukur</a:t>
            </a:r>
          </a:p>
        </p:txBody>
      </p:sp>
      <p:sp>
        <p:nvSpPr>
          <p:cNvPr id="5" name="separator">
            <a:extLst xmlns:a="http://schemas.openxmlformats.org/drawingml/2006/main">
              <a:ext uri="{FF2B5EF4-FFF2-40B4-BE49-F238E27FC236}">
                <a16:creationId xmlns:a16="http://schemas.microsoft.com/office/drawing/2014/main" id="{E154D78C-66A8-40EC-965F-0989D496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6" name="SEO for Business Growth: From Searc">
            <a:extLst xmlns:a="http://schemas.openxmlformats.org/drawingml/2006/main">
              <a:ext uri="{FF2B5EF4-FFF2-40B4-BE49-F238E27FC236}">
                <a16:creationId xmlns:a16="http://schemas.microsoft.com/office/drawing/2014/main" id="{620F20FA-FC93-4C71-8973-18465972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SEO for Business Growth: From Search to Sales</a:t>
            </a:r>
          </a:p>
        </p:txBody>
      </p:sp>
      <p:sp>
        <p:nvSpPr>
          <p:cNvPr id="7" name="06">
            <a:extLst xmlns:a="http://schemas.openxmlformats.org/drawingml/2006/main">
              <a:ext uri="{FF2B5EF4-FFF2-40B4-BE49-F238E27FC236}">
                <a16:creationId xmlns:a16="http://schemas.microsoft.com/office/drawing/2014/main" id="{8BF83DC8-ACBD-45F3-AFB9-D48509BF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Visibility">
            <a:extLst xmlns:a="http://schemas.openxmlformats.org/drawingml/2006/main">
              <a:ext uri="{FF2B5EF4-FFF2-40B4-BE49-F238E27FC236}">
                <a16:creationId xmlns:a16="http://schemas.microsoft.com/office/drawing/2014/main" id="{32E78ABA-BBA2-4784-9EB1-38E94F4D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190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Visibility</a:t>
            </a:r>
          </a:p>
        </p:txBody>
      </p:sp>
      <p:sp>
        <p:nvSpPr>
          <p:cNvPr id="9" name="separator">
            <a:extLst xmlns:a="http://schemas.openxmlformats.org/drawingml/2006/main">
              <a:ext uri="{FF2B5EF4-FFF2-40B4-BE49-F238E27FC236}">
                <a16:creationId xmlns:a16="http://schemas.microsoft.com/office/drawing/2014/main" id="{3E8DD1C4-2738-458C-A38E-2D0CA5E4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D9FF"/>
            </a:solidFill>
          </a:ln>
        </p:spPr>
      </p:sp>
      <p:sp>
        <p:nvSpPr>
          <p:cNvPr id="10" name="Muncul di search">
            <a:extLst xmlns:a="http://schemas.openxmlformats.org/drawingml/2006/main">
              <a:ext uri="{FF2B5EF4-FFF2-40B4-BE49-F238E27FC236}">
                <a16:creationId xmlns:a16="http://schemas.microsoft.com/office/drawing/2014/main" id="{0467AE7E-3023-45AF-96B5-207541DD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Muncul di search</a:t>
            </a:r>
          </a:p>
        </p:txBody>
      </p:sp>
      <p:sp>
        <p:nvSpPr>
          <p:cNvPr id="11" name="Kunjungan&#10;relevan">
            <a:extLst xmlns:a="http://schemas.openxmlformats.org/drawingml/2006/main">
              <a:ext uri="{FF2B5EF4-FFF2-40B4-BE49-F238E27FC236}">
                <a16:creationId xmlns:a16="http://schemas.microsoft.com/office/drawing/2014/main" id="{B595F251-41C8-4BC7-A7BD-F6911827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09900"/>
            <a:ext cx="2190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Kunjungan</a:t>
            </a:r>
          </a:p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relevan</a:t>
            </a:r>
          </a:p>
        </p:txBody>
      </p:sp>
      <p:sp>
        <p:nvSpPr>
          <p:cNvPr id="12" name="separator">
            <a:extLst xmlns:a="http://schemas.openxmlformats.org/drawingml/2006/main">
              <a:ext uri="{FF2B5EF4-FFF2-40B4-BE49-F238E27FC236}">
                <a16:creationId xmlns:a16="http://schemas.microsoft.com/office/drawing/2014/main" id="{FA728F79-B2CE-49F8-8CCE-3D301A10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2576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D9FF"/>
            </a:solidFill>
          </a:ln>
        </p:spPr>
      </p:sp>
      <p:sp>
        <p:nvSpPr>
          <p:cNvPr id="13" name="Kebutuhannya nyambung">
            <a:extLst xmlns:a="http://schemas.openxmlformats.org/drawingml/2006/main">
              <a:ext uri="{FF2B5EF4-FFF2-40B4-BE49-F238E27FC236}">
                <a16:creationId xmlns:a16="http://schemas.microsoft.com/office/drawing/2014/main" id="{AD20AAE5-4C6C-41C9-B19F-164830EB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4958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Kebutuhannya nyambung</a:t>
            </a:r>
          </a:p>
        </p:txBody>
      </p:sp>
      <p:sp>
        <p:nvSpPr>
          <p:cNvPr id="14" name="Inquiry">
            <a:extLst xmlns:a="http://schemas.openxmlformats.org/drawingml/2006/main">
              <a:ext uri="{FF2B5EF4-FFF2-40B4-BE49-F238E27FC236}">
                <a16:creationId xmlns:a16="http://schemas.microsoft.com/office/drawing/2014/main" id="{1830425F-B530-4E43-B430-7E8019BB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2190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Inquiry</a:t>
            </a:r>
          </a:p>
        </p:txBody>
      </p:sp>
      <p:sp>
        <p:nvSpPr>
          <p:cNvPr id="15" name="separator">
            <a:extLst xmlns:a="http://schemas.openxmlformats.org/drawingml/2006/main">
              <a:ext uri="{FF2B5EF4-FFF2-40B4-BE49-F238E27FC236}">
                <a16:creationId xmlns:a16="http://schemas.microsoft.com/office/drawing/2014/main" id="{B5A7B740-B288-43E0-A2E8-065FE68D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D9FF"/>
            </a:solidFill>
          </a:ln>
        </p:spPr>
      </p:sp>
      <p:sp>
        <p:nvSpPr>
          <p:cNvPr id="16" name="Pesan beneran masuk">
            <a:extLst xmlns:a="http://schemas.openxmlformats.org/drawingml/2006/main">
              <a:ext uri="{FF2B5EF4-FFF2-40B4-BE49-F238E27FC236}">
                <a16:creationId xmlns:a16="http://schemas.microsoft.com/office/drawing/2014/main" id="{8BF31642-F517-4DA4-9DCA-D0415589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958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Pesan beneran masuk</a:t>
            </a:r>
          </a:p>
        </p:txBody>
      </p:sp>
      <p:sp>
        <p:nvSpPr>
          <p:cNvPr id="17" name="Qualified&#10;opportunity">
            <a:extLst xmlns:a="http://schemas.openxmlformats.org/drawingml/2006/main">
              <a:ext uri="{FF2B5EF4-FFF2-40B4-BE49-F238E27FC236}">
                <a16:creationId xmlns:a16="http://schemas.microsoft.com/office/drawing/2014/main" id="{5737B3DD-1D31-4F13-B839-79D8325A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09900"/>
            <a:ext cx="2190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Qualified</a:t>
            </a:r>
          </a:p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opportunity</a:t>
            </a:r>
          </a:p>
        </p:txBody>
      </p:sp>
      <p:sp>
        <p:nvSpPr>
          <p:cNvPr id="18" name="separator">
            <a:extLst xmlns:a="http://schemas.openxmlformats.org/drawingml/2006/main">
              <a:ext uri="{FF2B5EF4-FFF2-40B4-BE49-F238E27FC236}">
                <a16:creationId xmlns:a16="http://schemas.microsoft.com/office/drawing/2014/main" id="{53717D4C-6B1E-402D-9D63-EAED8584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576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D9FF"/>
            </a:solidFill>
          </a:ln>
        </p:spPr>
      </p:sp>
      <p:sp>
        <p:nvSpPr>
          <p:cNvPr id="19" name="Kecocokannya dicek">
            <a:extLst xmlns:a="http://schemas.openxmlformats.org/drawingml/2006/main">
              <a:ext uri="{FF2B5EF4-FFF2-40B4-BE49-F238E27FC236}">
                <a16:creationId xmlns:a16="http://schemas.microsoft.com/office/drawing/2014/main" id="{541B3F64-AA18-43CC-A55A-9B2395AB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958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Kecocokannya dicek</a:t>
            </a:r>
          </a:p>
        </p:txBody>
      </p: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00350" y="3514725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D9FF"/>
            </a:solidFill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591175" y="3514725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D9FF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82000" y="3514725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D9FF"/>
            </a:solidFill>
            <a:tailEnd type="triangle" w="sm" len="sm"/>
          </a:ln>
        </p:spPr>
      </p:cxnSp>
      <p:sp>
        <p:nvSpPr>
          <p:cNvPr id="23" name="Tiap langkah perlu bukti">
            <a:extLst xmlns:a="http://schemas.openxmlformats.org/drawingml/2006/main">
              <a:ext uri="{FF2B5EF4-FFF2-40B4-BE49-F238E27FC236}">
                <a16:creationId xmlns:a16="http://schemas.microsoft.com/office/drawing/2014/main" id="{7B1EA002-B48A-4778-BA32-22663BE1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619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Tiap langkah perlu bukti</a:t>
            </a:r>
          </a:p>
        </p:txBody>
      </p:sp>
      <p:sp>
        <p:nvSpPr>
          <p:cNvPr id="24" name="Peluang yang cocok belum tentu jadi">
            <a:extLst xmlns:a="http://schemas.openxmlformats.org/drawingml/2006/main">
              <a:ext uri="{FF2B5EF4-FFF2-40B4-BE49-F238E27FC236}">
                <a16:creationId xmlns:a16="http://schemas.microsoft.com/office/drawing/2014/main" id="{68C0E5F6-4FC0-4EF3-B3B7-D0882E41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Peluang yang cocok belum tentu jadi penjualan</a:t>
            </a:r>
          </a:p>
        </p:txBody>
      </p:sp>
    </p:spTree>
    <p:extLst>
      <p:ext uri="{BB962C8B-B14F-4D97-AF65-F5344CB8AC3E}">
        <p14:creationId xmlns:p14="http://schemas.microsoft.com/office/powerpoint/2010/main" val="1198503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ULTIVATE LEARN">
            <a:extLst xmlns:a="http://schemas.openxmlformats.org/drawingml/2006/main">
              <a:ext uri="{FF2B5EF4-FFF2-40B4-BE49-F238E27FC236}">
                <a16:creationId xmlns:a16="http://schemas.microsoft.com/office/drawing/2014/main" id="{E3271AE5-F156-466E-9E62-7FDEFA16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D3DF"/>
                </a:solidFill>
                <a:latin typeface="Arial"/>
                <a:ea typeface="Arial"/>
                <a:cs typeface="Arial"/>
              </a:rPr>
              <a:t>KULTIVATE LEARN</a:t>
            </a:r>
          </a:p>
        </p:txBody>
      </p:sp>
      <p:sp>
        <p:nvSpPr>
          <p:cNvPr id="2" name="COURSE 01  /  LESSON 01">
            <a:extLst xmlns:a="http://schemas.openxmlformats.org/drawingml/2006/main">
              <a:ext uri="{FF2B5EF4-FFF2-40B4-BE49-F238E27FC236}">
                <a16:creationId xmlns:a16="http://schemas.microsoft.com/office/drawing/2014/main" id="{71E8F21E-B0AA-4A8E-8409-33053A8C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COURSE 01  /  LESSON 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7971EE-39BB-4FFC-BBCB-9C79444C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Klik kontak belum tentu jadi inquiry</a:t>
            </a:r>
          </a:p>
        </p:txBody>
      </p:sp>
      <p:sp>
        <p:nvSpPr>
          <p:cNvPr id="4" name="Contoh ilustratif">
            <a:extLst xmlns:a="http://schemas.openxmlformats.org/drawingml/2006/main">
              <a:ext uri="{FF2B5EF4-FFF2-40B4-BE49-F238E27FC236}">
                <a16:creationId xmlns:a16="http://schemas.microsoft.com/office/drawing/2014/main" id="{3FEC7403-1035-4BB8-A8CE-646ED787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Contoh ilustratif</a:t>
            </a:r>
          </a:p>
        </p:txBody>
      </p:sp>
      <p:sp>
        <p:nvSpPr>
          <p:cNvPr id="5" name="separator">
            <a:extLst xmlns:a="http://schemas.openxmlformats.org/drawingml/2006/main">
              <a:ext uri="{FF2B5EF4-FFF2-40B4-BE49-F238E27FC236}">
                <a16:creationId xmlns:a16="http://schemas.microsoft.com/office/drawing/2014/main" id="{9E912C3A-42B7-484B-9773-477D73A4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6" name="SEO for Business Growth: From Searc">
            <a:extLst xmlns:a="http://schemas.openxmlformats.org/drawingml/2006/main">
              <a:ext uri="{FF2B5EF4-FFF2-40B4-BE49-F238E27FC236}">
                <a16:creationId xmlns:a16="http://schemas.microsoft.com/office/drawing/2014/main" id="{2E88A999-991D-4EBE-BF40-6551A434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SEO for Business Growth: From Search to Sales</a:t>
            </a:r>
          </a:p>
        </p:txBody>
      </p:sp>
      <p:sp>
        <p:nvSpPr>
          <p:cNvPr id="7" name="07">
            <a:extLst xmlns:a="http://schemas.openxmlformats.org/drawingml/2006/main">
              <a:ext uri="{FF2B5EF4-FFF2-40B4-BE49-F238E27FC236}">
                <a16:creationId xmlns:a16="http://schemas.microsoft.com/office/drawing/2014/main" id="{BBAA0A92-E76D-4E1F-BF17-22AF61CB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8EA37637-2395-41D4-AB51-23B1656D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3845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Klik tombol&#10;kontak">
            <a:extLst xmlns:a="http://schemas.openxmlformats.org/drawingml/2006/main">
              <a:ext uri="{FF2B5EF4-FFF2-40B4-BE49-F238E27FC236}">
                <a16:creationId xmlns:a16="http://schemas.microsoft.com/office/drawing/2014/main" id="{98CCD3E1-01AE-42F7-9838-AB24FB3B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31623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Klik tombol</a:t>
            </a:r>
          </a:p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kontak</a:t>
            </a:r>
          </a:p>
        </p:txBody>
      </p:sp>
      <p:sp>
        <p:nvSpPr>
          <p:cNvPr id="10" name="2">
            <a:extLst xmlns:a="http://schemas.openxmlformats.org/drawingml/2006/main">
              <a:ext uri="{FF2B5EF4-FFF2-40B4-BE49-F238E27FC236}">
                <a16:creationId xmlns:a16="http://schemas.microsoft.com/office/drawing/2014/main" id="{AED77A4F-CB2A-40B7-9E89-551D0672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3845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Pesan beneran&#10;masuk">
            <a:extLst xmlns:a="http://schemas.openxmlformats.org/drawingml/2006/main">
              <a:ext uri="{FF2B5EF4-FFF2-40B4-BE49-F238E27FC236}">
                <a16:creationId xmlns:a16="http://schemas.microsoft.com/office/drawing/2014/main" id="{9DA00125-27EB-4B66-A924-F209DD35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31623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Pesan beneran</a:t>
            </a:r>
          </a:p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masuk</a:t>
            </a:r>
          </a:p>
        </p:txBody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0F013901-9DE3-4AC3-89FB-BD235109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3845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Tim cek&#10;kebutuhannya">
            <a:extLst xmlns:a="http://schemas.openxmlformats.org/drawingml/2006/main">
              <a:ext uri="{FF2B5EF4-FFF2-40B4-BE49-F238E27FC236}">
                <a16:creationId xmlns:a16="http://schemas.microsoft.com/office/drawing/2014/main" id="{12F3F32F-F707-4B47-B3D6-E01CD4E5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67125"/>
            <a:ext cx="31623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Tim cek</a:t>
            </a:r>
          </a:p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kebutuhannya</a:t>
            </a:r>
          </a:p>
        </p:txBody>
      </p: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781425" y="4243388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D9FF"/>
            </a:solidFill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43800" y="4243388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D9FF"/>
            </a:solidFill>
            <a:tailEnd type="triangle" w="sm" len="sm"/>
          </a:ln>
        </p:spPr>
      </p:cxnSp>
      <p:sp>
        <p:nvSpPr>
          <p:cNvPr id="16" name="Key event cuma nyatet tindakan pent">
            <a:extLst xmlns:a="http://schemas.openxmlformats.org/drawingml/2006/main">
              <a:ext uri="{FF2B5EF4-FFF2-40B4-BE49-F238E27FC236}">
                <a16:creationId xmlns:a16="http://schemas.microsoft.com/office/drawing/2014/main" id="{A83CAD4D-DDB1-4AAE-9C6A-96CFE273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91150"/>
            <a:ext cx="10953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Key event cuma nyatet tindakan penting,</a:t>
            </a:r>
          </a:p>
          <a:p xmlns:a="http://schemas.openxmlformats.org/drawingml/2006/main">
            <a:pPr algn="l">
              <a:defRPr sz="2325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belum otomatis jadi peluang yang cocok</a:t>
            </a:r>
          </a:p>
        </p:txBody>
      </p:sp>
    </p:spTree>
    <p:extLst>
      <p:ext uri="{BB962C8B-B14F-4D97-AF65-F5344CB8AC3E}">
        <p14:creationId xmlns:p14="http://schemas.microsoft.com/office/powerpoint/2010/main" val="651880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ULTIVATE LEARN">
            <a:extLst xmlns:a="http://schemas.openxmlformats.org/drawingml/2006/main">
              <a:ext uri="{FF2B5EF4-FFF2-40B4-BE49-F238E27FC236}">
                <a16:creationId xmlns:a16="http://schemas.microsoft.com/office/drawing/2014/main" id="{6F2FF4CE-1A3D-4FF1-89AF-0D2BFCF9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D3DF"/>
                </a:solidFill>
                <a:latin typeface="Arial"/>
                <a:ea typeface="Arial"/>
                <a:cs typeface="Arial"/>
              </a:rPr>
              <a:t>KULTIVATE LEARN</a:t>
            </a:r>
          </a:p>
        </p:txBody>
      </p:sp>
      <p:sp>
        <p:nvSpPr>
          <p:cNvPr id="2" name="COURSE 01  /  LESSON 01">
            <a:extLst xmlns:a="http://schemas.openxmlformats.org/drawingml/2006/main">
              <a:ext uri="{FF2B5EF4-FFF2-40B4-BE49-F238E27FC236}">
                <a16:creationId xmlns:a16="http://schemas.microsoft.com/office/drawing/2014/main" id="{2EBE594E-7582-42FD-9240-FFD054A0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COURSE 01  /  LESSON 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B00FA6-2111-4FDA-ACDC-88EC9C0D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Contoh perawatan AC kantor</a:t>
            </a:r>
          </a:p>
        </p:txBody>
      </p:sp>
      <p:sp>
        <p:nvSpPr>
          <p:cNvPr id="4" name="Contoh hipotetis  •  Bukan keyword ">
            <a:extLst xmlns:a="http://schemas.openxmlformats.org/drawingml/2006/main">
              <a:ext uri="{FF2B5EF4-FFF2-40B4-BE49-F238E27FC236}">
                <a16:creationId xmlns:a16="http://schemas.microsoft.com/office/drawing/2014/main" id="{EABB1E4C-631D-497F-B8C5-FFAA3CB5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Contoh hipotetis  •  Bukan keyword hasil riset</a:t>
            </a:r>
          </a:p>
        </p:txBody>
      </p:sp>
      <p:sp>
        <p:nvSpPr>
          <p:cNvPr id="5" name="separator">
            <a:extLst xmlns:a="http://schemas.openxmlformats.org/drawingml/2006/main">
              <a:ext uri="{FF2B5EF4-FFF2-40B4-BE49-F238E27FC236}">
                <a16:creationId xmlns:a16="http://schemas.microsoft.com/office/drawing/2014/main" id="{B2FC5A74-8DBB-4759-B99B-E2AC3800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6" name="SEO for Business Growth: From Searc">
            <a:extLst xmlns:a="http://schemas.openxmlformats.org/drawingml/2006/main">
              <a:ext uri="{FF2B5EF4-FFF2-40B4-BE49-F238E27FC236}">
                <a16:creationId xmlns:a16="http://schemas.microsoft.com/office/drawing/2014/main" id="{51941160-F452-4E09-9B35-54FDE9C9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SEO for Business Growth: From Search to Sales</a:t>
            </a:r>
          </a:p>
        </p:txBody>
      </p:sp>
      <p:sp>
        <p:nvSpPr>
          <p:cNvPr id="7" name="08">
            <a:extLst xmlns:a="http://schemas.openxmlformats.org/drawingml/2006/main">
              <a:ext uri="{FF2B5EF4-FFF2-40B4-BE49-F238E27FC236}">
                <a16:creationId xmlns:a16="http://schemas.microsoft.com/office/drawing/2014/main" id="{C6F17D1D-EF37-4748-AF6E-D248B74F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01  DISCOVER">
            <a:extLst xmlns:a="http://schemas.openxmlformats.org/drawingml/2006/main">
              <a:ext uri="{FF2B5EF4-FFF2-40B4-BE49-F238E27FC236}">
                <a16:creationId xmlns:a16="http://schemas.microsoft.com/office/drawing/2014/main" id="{5EEEA507-D9A4-4185-80FD-1C8BAE69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01  DISCOVER</a:t>
            </a:r>
          </a:p>
        </p:txBody>
      </p:sp>
      <p:sp>
        <p:nvSpPr>
          <p:cNvPr id="9" name="AC kantor&#10;sering bermasalah">
            <a:extLst xmlns:a="http://schemas.openxmlformats.org/drawingml/2006/main">
              <a:ext uri="{FF2B5EF4-FFF2-40B4-BE49-F238E27FC236}">
                <a16:creationId xmlns:a16="http://schemas.microsoft.com/office/drawing/2014/main" id="{AFC60352-9E06-43B5-A147-DE99E938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8050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AC kantor</a:t>
            </a:r>
          </a:p>
          <a:p xmlns:a="http://schemas.openxmlformats.org/drawingml/2006/main">
            <a:pPr algn="l">
              <a:defRPr sz="32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sering bermasalah</a:t>
            </a:r>
          </a:p>
        </p:txBody>
      </p:sp>
      <p:sp>
        <p:nvSpPr>
          <p:cNvPr id="10" name="Perlu paham masalahnya">
            <a:extLst xmlns:a="http://schemas.openxmlformats.org/drawingml/2006/main">
              <a:ext uri="{FF2B5EF4-FFF2-40B4-BE49-F238E27FC236}">
                <a16:creationId xmlns:a16="http://schemas.microsoft.com/office/drawing/2014/main" id="{89A9C9D0-7040-472F-B7BE-1E8C269D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96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Perlu paham masalahnya</a:t>
            </a:r>
          </a:p>
        </p:txBody>
      </p:sp>
      <p:sp>
        <p:nvSpPr>
          <p:cNvPr id="11" name="02  LEARN">
            <a:extLst xmlns:a="http://schemas.openxmlformats.org/drawingml/2006/main">
              <a:ext uri="{FF2B5EF4-FFF2-40B4-BE49-F238E27FC236}">
                <a16:creationId xmlns:a16="http://schemas.microsoft.com/office/drawing/2014/main" id="{BB9EC96F-15DF-4426-BE57-C5B9FD77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02  LEARN</a:t>
            </a:r>
          </a:p>
        </p:txBody>
      </p:sp>
      <p:sp>
        <p:nvSpPr>
          <p:cNvPr id="12" name="Perawatan berkala&#10;termasuk apa aja">
            <a:extLst xmlns:a="http://schemas.openxmlformats.org/drawingml/2006/main">
              <a:ext uri="{FF2B5EF4-FFF2-40B4-BE49-F238E27FC236}">
                <a16:creationId xmlns:a16="http://schemas.microsoft.com/office/drawing/2014/main" id="{81553E3C-7545-4F62-B9D6-6B323EEE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Perawatan berkala</a:t>
            </a:r>
          </a:p>
          <a:p xmlns:a="http://schemas.openxmlformats.org/drawingml/2006/main">
            <a:pPr algn="l">
              <a:defRPr sz="32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termasuk apa aja</a:t>
            </a:r>
          </a:p>
        </p:txBody>
      </p:sp>
      <p:sp>
        <p:nvSpPr>
          <p:cNvPr id="13" name="Perlu tahu apa aja yang dikerjain">
            <a:extLst xmlns:a="http://schemas.openxmlformats.org/drawingml/2006/main">
              <a:ext uri="{FF2B5EF4-FFF2-40B4-BE49-F238E27FC236}">
                <a16:creationId xmlns:a16="http://schemas.microsoft.com/office/drawing/2014/main" id="{D79F8388-7D36-45B5-B01C-F05054B0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9675"/>
            <a:ext cx="4857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Perlu tahu apa aja yang dikerjain</a:t>
            </a:r>
          </a:p>
        </p:txBody>
      </p:sp>
    </p:spTree>
    <p:extLst>
      <p:ext uri="{BB962C8B-B14F-4D97-AF65-F5344CB8AC3E}">
        <p14:creationId xmlns:p14="http://schemas.microsoft.com/office/powerpoint/2010/main" val="16001416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ULTIVATE LEARN">
            <a:extLst xmlns:a="http://schemas.openxmlformats.org/drawingml/2006/main">
              <a:ext uri="{FF2B5EF4-FFF2-40B4-BE49-F238E27FC236}">
                <a16:creationId xmlns:a16="http://schemas.microsoft.com/office/drawing/2014/main" id="{8145004F-26D3-4575-8B21-73FF3B17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D3DF"/>
                </a:solidFill>
                <a:latin typeface="Arial"/>
                <a:ea typeface="Arial"/>
                <a:cs typeface="Arial"/>
              </a:rPr>
              <a:t>KULTIVATE LEARN</a:t>
            </a:r>
          </a:p>
        </p:txBody>
      </p:sp>
      <p:sp>
        <p:nvSpPr>
          <p:cNvPr id="2" name="COURSE 01  /  LESSON 01">
            <a:extLst xmlns:a="http://schemas.openxmlformats.org/drawingml/2006/main">
              <a:ext uri="{FF2B5EF4-FFF2-40B4-BE49-F238E27FC236}">
                <a16:creationId xmlns:a16="http://schemas.microsoft.com/office/drawing/2014/main" id="{03783A0D-C6C0-48DA-B1A9-DB5ADC72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COURSE 01  /  LESSON 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8103FD-7877-4737-A5FF-F4EA214D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Inquiry masuk, cocoknya tetap perlu dicek</a:t>
            </a:r>
          </a:p>
        </p:txBody>
      </p:sp>
      <p:sp>
        <p:nvSpPr>
          <p:cNvPr id="4" name="Contoh hipotetis">
            <a:extLst xmlns:a="http://schemas.openxmlformats.org/drawingml/2006/main">
              <a:ext uri="{FF2B5EF4-FFF2-40B4-BE49-F238E27FC236}">
                <a16:creationId xmlns:a16="http://schemas.microsoft.com/office/drawing/2014/main" id="{62CB8A29-A2DD-42FE-A643-99D480F2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Contoh hipotetis</a:t>
            </a:r>
          </a:p>
        </p:txBody>
      </p:sp>
      <p:sp>
        <p:nvSpPr>
          <p:cNvPr id="5" name="separator">
            <a:extLst xmlns:a="http://schemas.openxmlformats.org/drawingml/2006/main">
              <a:ext uri="{FF2B5EF4-FFF2-40B4-BE49-F238E27FC236}">
                <a16:creationId xmlns:a16="http://schemas.microsoft.com/office/drawing/2014/main" id="{FDEFC886-DC3E-4E4A-8F7D-CAC25F92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6" name="SEO for Business Growth: From Searc">
            <a:extLst xmlns:a="http://schemas.openxmlformats.org/drawingml/2006/main">
              <a:ext uri="{FF2B5EF4-FFF2-40B4-BE49-F238E27FC236}">
                <a16:creationId xmlns:a16="http://schemas.microsoft.com/office/drawing/2014/main" id="{F18304A7-7891-4A17-8EA2-8910AC4D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SEO for Business Growth: From Search to Sales</a:t>
            </a:r>
          </a:p>
        </p:txBody>
      </p:sp>
      <p:sp>
        <p:nvSpPr>
          <p:cNvPr id="7" name="09">
            <a:extLst xmlns:a="http://schemas.openxmlformats.org/drawingml/2006/main">
              <a:ext uri="{FF2B5EF4-FFF2-40B4-BE49-F238E27FC236}">
                <a16:creationId xmlns:a16="http://schemas.microsoft.com/office/drawing/2014/main" id="{4693DFB8-E9C7-405D-8B82-B7EE9A9E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03  COMPARE / VALIDATE">
            <a:extLst xmlns:a="http://schemas.openxmlformats.org/drawingml/2006/main">
              <a:ext uri="{FF2B5EF4-FFF2-40B4-BE49-F238E27FC236}">
                <a16:creationId xmlns:a16="http://schemas.microsoft.com/office/drawing/2014/main" id="{230D991F-74D1-45CE-927D-0BF65DC7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03  COMPARE / VALIDATE</a:t>
            </a:r>
          </a:p>
        </p:txBody>
      </p:sp>
      <p:sp>
        <p:nvSpPr>
          <p:cNvPr id="9" name="Area yang dilayani&#10;Pekerjaan yang t">
            <a:extLst xmlns:a="http://schemas.openxmlformats.org/drawingml/2006/main">
              <a:ext uri="{FF2B5EF4-FFF2-40B4-BE49-F238E27FC236}">
                <a16:creationId xmlns:a16="http://schemas.microsoft.com/office/drawing/2014/main" id="{273B1125-BDB8-4FD1-A3F9-52ECA321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5619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Area yang dilayani</a:t>
            </a:r>
          </a:p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Pekerjaan yang termasuk</a:t>
            </a:r>
          </a:p>
          <a:p xmlns:a="http://schemas.openxmlformats.org/drawingml/2006/main">
            <a: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Bukti yang bisa dicek</a:t>
            </a:r>
          </a:p>
        </p:txBody>
      </p:sp>
      <p:sp>
        <p:nvSpPr>
          <p:cNvPr id="10" name="04  ACT">
            <a:extLst xmlns:a="http://schemas.openxmlformats.org/drawingml/2006/main">
              <a:ext uri="{FF2B5EF4-FFF2-40B4-BE49-F238E27FC236}">
                <a16:creationId xmlns:a16="http://schemas.microsoft.com/office/drawing/2014/main" id="{32D8AE27-6933-48C2-988E-29296A80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95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04  ACT</a:t>
            </a:r>
          </a:p>
        </p:txBody>
      </p:sp>
      <p:sp>
        <p:nvSpPr>
          <p:cNvPr id="11" name="Kirim kebutuhan&#10;Tahu proses setelah">
            <a:extLst xmlns:a="http://schemas.openxmlformats.org/drawingml/2006/main">
              <a:ext uri="{FF2B5EF4-FFF2-40B4-BE49-F238E27FC236}">
                <a16:creationId xmlns:a16="http://schemas.microsoft.com/office/drawing/2014/main" id="{29DFEFA2-A465-4F43-9B57-BD67668E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14725"/>
            <a:ext cx="447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Kirim kebutuhan</a:t>
            </a:r>
          </a:p>
          <a:p xmlns:a="http://schemas.openxmlformats.org/drawingml/2006/main">
            <a:pPr algn="l">
              <a:defRPr sz="24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Tahu proses setelahnya</a:t>
            </a:r>
          </a:p>
        </p:txBody>
      </p:sp>
      <p:sp>
        <p:nvSpPr>
          <p:cNvPr id="12" name="separator">
            <a:extLst xmlns:a="http://schemas.openxmlformats.org/drawingml/2006/main">
              <a:ext uri="{FF2B5EF4-FFF2-40B4-BE49-F238E27FC236}">
                <a16:creationId xmlns:a16="http://schemas.microsoft.com/office/drawing/2014/main" id="{D8C32DC0-A7E1-46E6-AAB5-51AFB80F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3244"/>
            </a:solidFill>
          </a:ln>
        </p:spPr>
      </p:sp>
      <p:sp>
        <p:nvSpPr>
          <p:cNvPr id="13" name="Permintaan masuk tetap perlu dicek ">
            <a:extLst xmlns:a="http://schemas.openxmlformats.org/drawingml/2006/main">
              <a:ext uri="{FF2B5EF4-FFF2-40B4-BE49-F238E27FC236}">
                <a16:creationId xmlns:a16="http://schemas.microsoft.com/office/drawing/2014/main" id="{3D3CAF2A-B3B2-489B-8E0E-19F398DD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29275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Permintaan masuk tetap perlu dicek cocoknya</a:t>
            </a:r>
          </a:p>
        </p:txBody>
      </p:sp>
    </p:spTree>
    <p:extLst>
      <p:ext uri="{BB962C8B-B14F-4D97-AF65-F5344CB8AC3E}">
        <p14:creationId xmlns:p14="http://schemas.microsoft.com/office/powerpoint/2010/main" val="18679690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ULTIVATE LEARN">
            <a:extLst xmlns:a="http://schemas.openxmlformats.org/drawingml/2006/main">
              <a:ext uri="{FF2B5EF4-FFF2-40B4-BE49-F238E27FC236}">
                <a16:creationId xmlns:a16="http://schemas.microsoft.com/office/drawing/2014/main" id="{54604550-68B3-4988-9E11-F673B850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D3DF"/>
                </a:solidFill>
                <a:latin typeface="Arial"/>
                <a:ea typeface="Arial"/>
                <a:cs typeface="Arial"/>
              </a:rPr>
              <a:t>KULTIVATE LEARN</a:t>
            </a:r>
          </a:p>
        </p:txBody>
      </p:sp>
      <p:sp>
        <p:nvSpPr>
          <p:cNvPr id="2" name="COURSE 01  /  LESSON 01">
            <a:extLst xmlns:a="http://schemas.openxmlformats.org/drawingml/2006/main">
              <a:ext uri="{FF2B5EF4-FFF2-40B4-BE49-F238E27FC236}">
                <a16:creationId xmlns:a16="http://schemas.microsoft.com/office/drawing/2014/main" id="{251F1311-E2BC-4F42-A464-8364B21A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COURSE 01  /  LESSON 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A2606D-EF39-4094-8BE7-49C4FE77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Yang kita lihat dan yang masih kita duga</a:t>
            </a:r>
          </a:p>
        </p:txBody>
      </p:sp>
      <p:sp>
        <p:nvSpPr>
          <p:cNvPr id="4" name="Contoh hipotetis">
            <a:extLst xmlns:a="http://schemas.openxmlformats.org/drawingml/2006/main">
              <a:ext uri="{FF2B5EF4-FFF2-40B4-BE49-F238E27FC236}">
                <a16:creationId xmlns:a16="http://schemas.microsoft.com/office/drawing/2014/main" id="{29EB0949-B739-4BDA-A15D-5766C77D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Contoh hipotetis</a:t>
            </a:r>
          </a:p>
        </p:txBody>
      </p:sp>
      <p:sp>
        <p:nvSpPr>
          <p:cNvPr id="5" name="separator">
            <a:extLst xmlns:a="http://schemas.openxmlformats.org/drawingml/2006/main">
              <a:ext uri="{FF2B5EF4-FFF2-40B4-BE49-F238E27FC236}">
                <a16:creationId xmlns:a16="http://schemas.microsoft.com/office/drawing/2014/main" id="{126B816A-7409-4B0B-970F-E900E6F7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6" name="SEO for Business Growth: From Searc">
            <a:extLst xmlns:a="http://schemas.openxmlformats.org/drawingml/2006/main">
              <a:ext uri="{FF2B5EF4-FFF2-40B4-BE49-F238E27FC236}">
                <a16:creationId xmlns:a16="http://schemas.microsoft.com/office/drawing/2014/main" id="{5098F6C8-64D4-495D-AA8D-2A093B83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SEO for Business Growth: From Search to Sales</a:t>
            </a:r>
          </a:p>
        </p:txBody>
      </p:sp>
      <p:sp>
        <p:nvSpPr>
          <p:cNvPr id="7" name="10">
            <a:extLst xmlns:a="http://schemas.openxmlformats.org/drawingml/2006/main">
              <a:ext uri="{FF2B5EF4-FFF2-40B4-BE49-F238E27FC236}">
                <a16:creationId xmlns:a16="http://schemas.microsoft.com/office/drawing/2014/main" id="{853315B7-7761-48FA-B72B-85511C5A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OBSERVASI">
            <a:extLst xmlns:a="http://schemas.openxmlformats.org/drawingml/2006/main">
              <a:ext uri="{FF2B5EF4-FFF2-40B4-BE49-F238E27FC236}">
                <a16:creationId xmlns:a16="http://schemas.microsoft.com/office/drawing/2014/main" id="{26C91A08-A83E-42F0-9762-AC76F3E4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294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OBSERVASI</a:t>
            </a:r>
          </a:p>
        </p:txBody>
      </p:sp>
      <p:sp>
        <p:nvSpPr>
          <p:cNvPr id="9" name="Info area layanan belum ada di hala">
            <a:extLst xmlns:a="http://schemas.openxmlformats.org/drawingml/2006/main">
              <a:ext uri="{FF2B5EF4-FFF2-40B4-BE49-F238E27FC236}">
                <a16:creationId xmlns:a16="http://schemas.microsoft.com/office/drawing/2014/main" id="{44E89811-F2A7-450E-851E-E21F8B8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7762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Info area layanan belum ada di halaman</a:t>
            </a:r>
          </a:p>
        </p:txBody>
      </p:sp>
      <p:sp>
        <p:nvSpPr>
          <p:cNvPr id="10" name="separator">
            <a:extLst xmlns:a="http://schemas.openxmlformats.org/drawingml/2006/main">
              <a:ext uri="{FF2B5EF4-FFF2-40B4-BE49-F238E27FC236}">
                <a16:creationId xmlns:a16="http://schemas.microsoft.com/office/drawing/2014/main" id="{0FE78FC8-B2C3-4341-9F6C-9CE0221B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11" name="HIPOTESIS">
            <a:extLst xmlns:a="http://schemas.openxmlformats.org/drawingml/2006/main">
              <a:ext uri="{FF2B5EF4-FFF2-40B4-BE49-F238E27FC236}">
                <a16:creationId xmlns:a16="http://schemas.microsoft.com/office/drawing/2014/main" id="{E486DDED-6FE3-4310-BC73-5D742CE5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24300"/>
            <a:ext cx="294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HIPOTESIS</a:t>
            </a:r>
          </a:p>
        </p:txBody>
      </p:sp>
      <p:sp>
        <p:nvSpPr>
          <p:cNvPr id="12" name="Calon pembeli ragu lalu batal hubun">
            <a:extLst xmlns:a="http://schemas.openxmlformats.org/drawingml/2006/main">
              <a:ext uri="{FF2B5EF4-FFF2-40B4-BE49-F238E27FC236}">
                <a16:creationId xmlns:a16="http://schemas.microsoft.com/office/drawing/2014/main" id="{AEDAC8BB-ABA2-4F3F-BD56-A3E3C0E3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95725"/>
            <a:ext cx="7762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Calon pembeli ragu lalu batal hubungi bisnis</a:t>
            </a:r>
          </a:p>
        </p:txBody>
      </p:sp>
      <p:sp>
        <p:nvSpPr>
          <p:cNvPr id="13" name="separator">
            <a:extLst xmlns:a="http://schemas.openxmlformats.org/drawingml/2006/main">
              <a:ext uri="{FF2B5EF4-FFF2-40B4-BE49-F238E27FC236}">
                <a16:creationId xmlns:a16="http://schemas.microsoft.com/office/drawing/2014/main" id="{1FA61713-1540-4466-96D1-F0D99C3A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05350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14" name="LANGKAH CEK">
            <a:extLst xmlns:a="http://schemas.openxmlformats.org/drawingml/2006/main">
              <a:ext uri="{FF2B5EF4-FFF2-40B4-BE49-F238E27FC236}">
                <a16:creationId xmlns:a16="http://schemas.microsoft.com/office/drawing/2014/main" id="{6B7E2C4C-9EC0-4DF8-9790-73B1B7B5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43475"/>
            <a:ext cx="2943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7D9FF"/>
                </a:solidFill>
                <a:latin typeface="Arial"/>
                <a:ea typeface="Arial"/>
                <a:cs typeface="Arial"/>
              </a:rPr>
              <a:t>LANGKAH CEK</a:t>
            </a:r>
          </a:p>
        </p:txBody>
      </p:sp>
      <p:sp>
        <p:nvSpPr>
          <p:cNvPr id="15" name="Cek pertanyaan soal lokasi di inqui">
            <a:extLst xmlns:a="http://schemas.openxmlformats.org/drawingml/2006/main">
              <a:ext uri="{FF2B5EF4-FFF2-40B4-BE49-F238E27FC236}">
                <a16:creationId xmlns:a16="http://schemas.microsoft.com/office/drawing/2014/main" id="{97A880D3-E344-4A4F-B8B9-C63E70AB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7762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Cek pertanyaan soal lokasi di inquiry yang masuk</a:t>
            </a:r>
          </a:p>
        </p:txBody>
      </p:sp>
    </p:spTree>
    <p:extLst>
      <p:ext uri="{BB962C8B-B14F-4D97-AF65-F5344CB8AC3E}">
        <p14:creationId xmlns:p14="http://schemas.microsoft.com/office/powerpoint/2010/main" val="20610464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ULTIVATE LEARN">
            <a:extLst xmlns:a="http://schemas.openxmlformats.org/drawingml/2006/main">
              <a:ext uri="{FF2B5EF4-FFF2-40B4-BE49-F238E27FC236}">
                <a16:creationId xmlns:a16="http://schemas.microsoft.com/office/drawing/2014/main" id="{06DCBA73-9540-407B-AE68-1CDBC337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D3DF"/>
                </a:solidFill>
                <a:latin typeface="Arial"/>
                <a:ea typeface="Arial"/>
                <a:cs typeface="Arial"/>
              </a:rPr>
              <a:t>KULTIVATE LEARN</a:t>
            </a:r>
          </a:p>
        </p:txBody>
      </p:sp>
      <p:sp>
        <p:nvSpPr>
          <p:cNvPr id="2" name="COURSE 01  /  LESSON 01">
            <a:extLst xmlns:a="http://schemas.openxmlformats.org/drawingml/2006/main">
              <a:ext uri="{FF2B5EF4-FFF2-40B4-BE49-F238E27FC236}">
                <a16:creationId xmlns:a16="http://schemas.microsoft.com/office/drawing/2014/main" id="{9C8A8CC2-5E57-407E-AC9F-DF9EE97A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COURSE 01  /  LESSON 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BB939D-0C9B-41B8-93CF-DBD7FE5B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Sekarang coba di layanan Anda</a:t>
            </a:r>
          </a:p>
        </p:txBody>
      </p:sp>
      <p:sp>
        <p:nvSpPr>
          <p:cNvPr id="4" name="Search-to-Sales Mapping Worksheet  ">
            <a:extLst xmlns:a="http://schemas.openxmlformats.org/drawingml/2006/main">
              <a:ext uri="{FF2B5EF4-FFF2-40B4-BE49-F238E27FC236}">
                <a16:creationId xmlns:a16="http://schemas.microsoft.com/office/drawing/2014/main" id="{9E5594A8-AB66-4EBF-B1DD-342F8F54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Search-to-Sales Mapping Worksheet  •  Bagian C01L01</a:t>
            </a:r>
          </a:p>
        </p:txBody>
      </p:sp>
      <p:sp>
        <p:nvSpPr>
          <p:cNvPr id="5" name="separator">
            <a:extLst xmlns:a="http://schemas.openxmlformats.org/drawingml/2006/main">
              <a:ext uri="{FF2B5EF4-FFF2-40B4-BE49-F238E27FC236}">
                <a16:creationId xmlns:a16="http://schemas.microsoft.com/office/drawing/2014/main" id="{A5022E68-A19C-4DEE-9736-7A4055CF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6" name="SEO for Business Growth: From Searc">
            <a:extLst xmlns:a="http://schemas.openxmlformats.org/drawingml/2006/main">
              <a:ext uri="{FF2B5EF4-FFF2-40B4-BE49-F238E27FC236}">
                <a16:creationId xmlns:a16="http://schemas.microsoft.com/office/drawing/2014/main" id="{B6F873C1-4783-4FC8-A2E6-A460EC65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SEO for Business Growth: From Search to Sales</a:t>
            </a:r>
          </a:p>
        </p:txBody>
      </p:sp>
      <p:sp>
        <p:nvSpPr>
          <p:cNvPr id="7" name="11">
            <a:extLst xmlns:a="http://schemas.openxmlformats.org/drawingml/2006/main">
              <a:ext uri="{FF2B5EF4-FFF2-40B4-BE49-F238E27FC236}">
                <a16:creationId xmlns:a16="http://schemas.microsoft.com/office/drawing/2014/main" id="{FAFDB241-EEA5-4715-8FD2-55FC4A18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382B5224-B022-4561-B19D-CE3F37DB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58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Pilih satu layanan">
            <a:extLst xmlns:a="http://schemas.openxmlformats.org/drawingml/2006/main">
              <a:ext uri="{FF2B5EF4-FFF2-40B4-BE49-F238E27FC236}">
                <a16:creationId xmlns:a16="http://schemas.microsoft.com/office/drawing/2014/main" id="{994359AD-9FA5-42CA-82EC-833F3340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76550"/>
            <a:ext cx="574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Pilih satu layanan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3CB11068-7CE1-4F3F-9FA5-FC0A6379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9975"/>
            <a:ext cx="58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Jawab empat pertanyaan pembeli">
            <a:extLst xmlns:a="http://schemas.openxmlformats.org/drawingml/2006/main">
              <a:ext uri="{FF2B5EF4-FFF2-40B4-BE49-F238E27FC236}">
                <a16:creationId xmlns:a16="http://schemas.microsoft.com/office/drawing/2014/main" id="{9CC64DD6-1CC0-4E88-B2D4-959DFBC1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574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Jawab empat pertanyaan pembeli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45E1FAE0-0C5C-47A0-BB45-064A48AC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58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Catat yang masih kurang jelas">
            <a:extLst xmlns:a="http://schemas.openxmlformats.org/drawingml/2006/main">
              <a:ext uri="{FF2B5EF4-FFF2-40B4-BE49-F238E27FC236}">
                <a16:creationId xmlns:a16="http://schemas.microsoft.com/office/drawing/2014/main" id="{A282548F-183B-4F5F-978D-CE526ECC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324350"/>
            <a:ext cx="574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Catat yang masih kurang jelas</a:t>
            </a:r>
          </a:p>
        </p:txBody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F29AFC22-2295-4161-BAB1-FD1AFB26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57775"/>
            <a:ext cx="58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Pilih bukti yang mau kita cek">
            <a:extLst xmlns:a="http://schemas.openxmlformats.org/drawingml/2006/main">
              <a:ext uri="{FF2B5EF4-FFF2-40B4-BE49-F238E27FC236}">
                <a16:creationId xmlns:a16="http://schemas.microsoft.com/office/drawing/2014/main" id="{1A772C04-CD86-45BB-81E8-40F3CBCF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048250"/>
            <a:ext cx="574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Pilih bukti yang mau kita cek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29FA2-AED8-4276-A2A5-04C697F4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62250"/>
            <a:ext cx="0" cy="3124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73244"/>
            </a:solidFill>
          </a:ln>
        </p:spPr>
      </p:sp>
      <p:sp>
        <p:nvSpPr>
          <p:cNvPr id="17" name="Belum tahu cara&#10;pelanggan pakai sea">
            <a:extLst xmlns:a="http://schemas.openxmlformats.org/drawingml/2006/main">
              <a:ext uri="{FF2B5EF4-FFF2-40B4-BE49-F238E27FC236}">
                <a16:creationId xmlns:a16="http://schemas.microsoft.com/office/drawing/2014/main" id="{D22FF15B-43BC-4DE2-943E-67A85F06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14650"/>
            <a:ext cx="33623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Belum tahu cara</a:t>
            </a:r>
          </a:p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pelanggan pakai search?</a:t>
            </a:r>
          </a:p>
        </p:txBody>
      </p:sp>
      <p:sp>
        <p:nvSpPr>
          <p:cNvPr id="18" name="Cari tahu dulu.">
            <a:extLst xmlns:a="http://schemas.openxmlformats.org/drawingml/2006/main">
              <a:ext uri="{FF2B5EF4-FFF2-40B4-BE49-F238E27FC236}">
                <a16:creationId xmlns:a16="http://schemas.microsoft.com/office/drawing/2014/main" id="{8036EA65-7F7E-44A6-BFAD-57FEC8A2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48100"/>
            <a:ext cx="3362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Cari tahu dulu.</a:t>
            </a:r>
          </a:p>
        </p:txBody>
      </p:sp>
      <p:sp>
        <p:nvSpPr>
          <p:cNvPr id="19" name="Inquiry yang cocok&#10;lama dibalas?">
            <a:extLst xmlns:a="http://schemas.openxmlformats.org/drawingml/2006/main">
              <a:ext uri="{FF2B5EF4-FFF2-40B4-BE49-F238E27FC236}">
                <a16:creationId xmlns:a16="http://schemas.microsoft.com/office/drawing/2014/main" id="{4FB09ECD-2820-48B8-835D-E0942BB5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62475"/>
            <a:ext cx="3362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Inquiry yang cocok</a:t>
            </a:r>
          </a:p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lama dibalas?</a:t>
            </a:r>
          </a:p>
        </p:txBody>
      </p:sp>
      <p:sp>
        <p:nvSpPr>
          <p:cNvPr id="20" name="Cek tindak lanjutnya.">
            <a:extLst xmlns:a="http://schemas.openxmlformats.org/drawingml/2006/main">
              <a:ext uri="{FF2B5EF4-FFF2-40B4-BE49-F238E27FC236}">
                <a16:creationId xmlns:a16="http://schemas.microsoft.com/office/drawing/2014/main" id="{BF07E420-05B6-40F1-8A1E-CC117B6D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43550"/>
            <a:ext cx="3362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Cek tindak lanjutnya.</a:t>
            </a:r>
          </a:p>
        </p:txBody>
      </p:sp>
    </p:spTree>
    <p:extLst>
      <p:ext uri="{BB962C8B-B14F-4D97-AF65-F5344CB8AC3E}">
        <p14:creationId xmlns:p14="http://schemas.microsoft.com/office/powerpoint/2010/main" val="19169320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ULTIVATE LEARN">
            <a:extLst xmlns:a="http://schemas.openxmlformats.org/drawingml/2006/main">
              <a:ext uri="{FF2B5EF4-FFF2-40B4-BE49-F238E27FC236}">
                <a16:creationId xmlns:a16="http://schemas.microsoft.com/office/drawing/2014/main" id="{52C0C571-D675-47AC-A5B3-47325A13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D3DF"/>
                </a:solidFill>
                <a:latin typeface="Arial"/>
                <a:ea typeface="Arial"/>
                <a:cs typeface="Arial"/>
              </a:rPr>
              <a:t>KULTIVATE LEARN</a:t>
            </a:r>
          </a:p>
        </p:txBody>
      </p:sp>
      <p:sp>
        <p:nvSpPr>
          <p:cNvPr id="2" name="COURSE 01  /  LESSON 01">
            <a:extLst xmlns:a="http://schemas.openxmlformats.org/drawingml/2006/main">
              <a:ext uri="{FF2B5EF4-FFF2-40B4-BE49-F238E27FC236}">
                <a16:creationId xmlns:a16="http://schemas.microsoft.com/office/drawing/2014/main" id="{E99C9090-0B66-491D-9B76-63252CDD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COURSE 01  /  LESSON 01</a:t>
            </a:r>
          </a:p>
        </p:txBody>
      </p:sp>
      <p:sp>
        <p:nvSpPr>
          <p:cNvPr id="3" name="separator">
            <a:extLst xmlns:a="http://schemas.openxmlformats.org/drawingml/2006/main">
              <a:ext uri="{FF2B5EF4-FFF2-40B4-BE49-F238E27FC236}">
                <a16:creationId xmlns:a16="http://schemas.microsoft.com/office/drawing/2014/main" id="{5CB4B11B-6682-4819-A839-E3D2D2BB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4" name="SEO for Business Growth: From Searc">
            <a:extLst xmlns:a="http://schemas.openxmlformats.org/drawingml/2006/main">
              <a:ext uri="{FF2B5EF4-FFF2-40B4-BE49-F238E27FC236}">
                <a16:creationId xmlns:a16="http://schemas.microsoft.com/office/drawing/2014/main" id="{DFC8C3D0-49A0-4A5E-B691-1D87201E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SEO for Business Growth: From Search to Sales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642F0024-5215-4332-ABF5-BEDB855F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2DBCBC-856B-4B4D-A5BE-331DBCB7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Search bisa bantu orang</a:t>
            </a:r>
          </a:p>
          <a:p xmlns:a="http://schemas.openxmlformats.org/drawingml/2006/main">
            <a:pPr algn="l">
              <a:defRPr sz="4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ambil keputusan</a:t>
            </a:r>
          </a:p>
        </p:txBody>
      </p:sp>
      <p:sp>
        <p:nvSpPr>
          <p:cNvPr id="7" name="Cek apakah inquiry-nya cocok sama b">
            <a:extLst xmlns:a="http://schemas.openxmlformats.org/drawingml/2006/main">
              <a:ext uri="{FF2B5EF4-FFF2-40B4-BE49-F238E27FC236}">
                <a16:creationId xmlns:a16="http://schemas.microsoft.com/office/drawing/2014/main" id="{A7CEB5BE-9C2F-4050-84B5-FDECAB53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67D9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67D9FF"/>
                </a:solidFill>
                <a:latin typeface="Arial"/>
                <a:ea typeface="Arial"/>
                <a:cs typeface="Arial"/>
              </a:rPr>
              <a:t>Cek apakah inquiry-nya cocok sama bisnis kita.</a:t>
            </a:r>
          </a:p>
        </p:txBody>
      </p:sp>
      <p:sp>
        <p:nvSpPr>
          <p:cNvPr id="8" name="Traffic aja belum cukup buat bilang">
            <a:extLst xmlns:a="http://schemas.openxmlformats.org/drawingml/2006/main">
              <a:ext uri="{FF2B5EF4-FFF2-40B4-BE49-F238E27FC236}">
                <a16:creationId xmlns:a16="http://schemas.microsoft.com/office/drawing/2014/main" id="{D2377C99-D0F4-4627-B10E-658BDE57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Traffic aja belum cukup buat bilang ada peluang bisnis.</a:t>
            </a:r>
          </a:p>
        </p:txBody>
      </p:sp>
      <p:sp>
        <p:nvSpPr>
          <p:cNvPr id="9" name="separator">
            <a:extLst xmlns:a="http://schemas.openxmlformats.org/drawingml/2006/main">
              <a:ext uri="{FF2B5EF4-FFF2-40B4-BE49-F238E27FC236}">
                <a16:creationId xmlns:a16="http://schemas.microsoft.com/office/drawing/2014/main" id="{454B410A-183A-411F-AAFB-EC9515B0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10" name="BERIKUTNYA  /  LESSON 02">
            <a:extLst xmlns:a="http://schemas.openxmlformats.org/drawingml/2006/main">
              <a:ext uri="{FF2B5EF4-FFF2-40B4-BE49-F238E27FC236}">
                <a16:creationId xmlns:a16="http://schemas.microsoft.com/office/drawing/2014/main" id="{6472E384-0F1B-4BA0-953F-9C36148A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D3DF"/>
                </a:solidFill>
                <a:latin typeface="Arial"/>
                <a:ea typeface="Arial"/>
                <a:cs typeface="Arial"/>
              </a:rPr>
              <a:t>BERIKUTNYA  /  LESSON 02</a:t>
            </a:r>
          </a:p>
        </p:txBody>
      </p:sp>
      <p:sp>
        <p:nvSpPr>
          <p:cNvPr id="11" name="Map Customer Demand Before Choosing">
            <a:extLst xmlns:a="http://schemas.openxmlformats.org/drawingml/2006/main">
              <a:ext uri="{FF2B5EF4-FFF2-40B4-BE49-F238E27FC236}">
                <a16:creationId xmlns:a16="http://schemas.microsoft.com/office/drawing/2014/main" id="{8D214767-E18F-467E-A45B-2E20F840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Map Customer Demand Before Choosing Keywords</a:t>
            </a:r>
          </a:p>
        </p:txBody>
      </p:sp>
      <p:sp>
        <p:nvSpPr>
          <p:cNvPr id="12" name="Worksheet boleh dicoba, belajar tet">
            <a:extLst xmlns:a="http://schemas.openxmlformats.org/drawingml/2006/main">
              <a:ext uri="{FF2B5EF4-FFF2-40B4-BE49-F238E27FC236}">
                <a16:creationId xmlns:a16="http://schemas.microsoft.com/office/drawing/2014/main" id="{71AF97B9-50E5-4C05-97F0-A3CD9741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3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3DF"/>
                </a:solidFill>
                <a:latin typeface="Arial"/>
                <a:ea typeface="Arial"/>
                <a:cs typeface="Arial"/>
              </a:rPr>
              <a:t>Worksheet boleh dicoba, belajar tetap bisa lanjut</a:t>
            </a:r>
          </a:p>
        </p:txBody>
      </p:sp>
    </p:spTree>
    <p:extLst>
      <p:ext uri="{BB962C8B-B14F-4D97-AF65-F5344CB8AC3E}">
        <p14:creationId xmlns:p14="http://schemas.microsoft.com/office/powerpoint/2010/main" val="790650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2026-09-14T10:33:50.4100000Z</dcterms:created>
  <dcterms:modified xsi:type="dcterms:W3CDTF">2026-09-14T10:33:50.4100000Z</dcterms:modified>
</coreProperties>
</file>